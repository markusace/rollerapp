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6" r:id="rId2"/>
    <p:sldMasterId id="2147483658" r:id="rId3"/>
    <p:sldMasterId id="2147483659" r:id="rId4"/>
    <p:sldMasterId id="2147483660" r:id="rId5"/>
    <p:sldMasterId id="2147483661" r:id="rId6"/>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7" r:id="rId16"/>
    <p:sldId id="265"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jRgScG3zpPtZIO5k/vOfJwPm2D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slideMaster" Target="slideMasters/slideMaster3.xml"/><Relationship Id="rId21" Type="http://customschemas.google.com/relationships/presentationmetadata" Target="metadata"/><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 name="Google Shape;40;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Buenas tardes. Presentamos RollerApp, una plataforma para mejorar la gestión comercial y operativa de Roller SpA. Explicaremos lo que desarrollamos en la segunda fase, las pruebas pendientes, los costos estimados y los próximos pasos.</a:t>
            </a:r>
          </a:p>
        </p:txBody>
      </p:sp>
      <p:sp>
        <p:nvSpPr>
          <p:cNvPr id="41" name="Google Shape;41;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 name="Google Shape;55;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RollerApp busca reunir en un solo lugar operaciones que normalmente podrían gestionarse por separado. Por ejemplo, un cliente consulta productos, solicita una cotización y gestiona un pedido o una reserva. La empresa consulta esa información desde su administración. La página web y la app comparten los mismos datos. Para mantener un alcance alcanzable, no incluimos facturación electrónica del SII, contabilidad avanzada ni otras tecnologías que aparecen como excluidas.</a:t>
            </a:r>
          </a:p>
        </p:txBody>
      </p:sp>
      <p:sp>
        <p:nvSpPr>
          <p:cNvPr id="56" name="Google Shape;56;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página web y la aplicación son las partes que usa cada persona. El servidor, desarrollado con Spring Boot, procesa solicitudes y aplica reglas. MySQL guarda la información y JPA permite trabajar con esos registros. Por ejemplo, cuando un cliente solicita una cotización, el servidor calcula una respuesta y la devuelve. La app móvil usa los mismos servicios. Priorizamos las reservas y los pagos para completar el recorrido comercial antes de las pruebas integrales.</a:t>
            </a:r>
          </a:p>
        </p:txBody>
      </p:sp>
      <p:sp>
        <p:nvSpPr>
          <p:cNvPr id="80" name="Google Shape;80;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Webpay Plus se utiliza para gestionar los pagos electrónicos. Se implementaron servicios para comenzar un pago y procesar su resultado, pero falta verificar formalmente los distintos escenarios. Si el pago se aprueba, RollerApp debería actualizar el pedido y la reserva como corresponda. Si se rechaza o vence, no debe quedar registrado como pagado. También comprobaremos que una misma respuesta no genere dos registros. Por eso diferenciamos integración implementada de integración validada.</a:t>
            </a:r>
          </a:p>
        </p:txBody>
      </p:sp>
      <p:sp>
        <p:nvSpPr>
          <p:cNvPr id="103" name="Google Shape;103;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 sistema tiene cinco grupos de funcionalidades. Las cotizaciones usan información de productos, materiales y servicios, pero necesitan revisar cálculos y medidas. La seguridad diferencia permisos: un cliente no debería acceder a funciones administrativas. Los pedidos y la agenda permiten organizar las solicitudes, aunque debemos evitar reservas duplicadas. El panel ayuda a administrar productos, pedidos y usuarios. La aplicación móvil contempla recorridos de clientes y técnicos; aún falta probarla en un teléfono y documentar los resultados. Implementado no significa validado.</a:t>
            </a:r>
          </a:p>
        </p:txBody>
      </p:sp>
      <p:sp>
        <p:nvSpPr>
          <p:cNvPr id="127" name="Google Shape;127;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Además del pago electrónico, consideramos tres herramientas complementarias. Las comisiones permiten calcular lo que corresponde a un vendedor o técnico, cuidando que el registro ocurra una sola vez. La postventa facilita solicitudes de asistencia y opiniones de clientes. Los correos y el historial ayudan a comunicar información y consultar acciones del sistema. Estas funcionalidades requieren pruebas de exactitud, permisos, seguimiento y envío efectivo.</a:t>
            </a:r>
          </a:p>
        </p:txBody>
      </p:sp>
      <p:sp>
        <p:nvSpPr>
          <p:cNvPr id="172" name="Google Shape;172;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6" name="Google Shape;206;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Esta diapositiva presenta cuatro pruebas de funcionamiento. Primero compararemos una cotización con un cálculo manual usando las mismas tarifas. Después ingresaremos medidas imposibles, como números negativos, para confirmar que la plataforma las rechaza. También revisaremos los permisos intentando ingresar como cliente a una opción administrativa. Por último, simularemos dos solicitudes para un mismo horario: el sistema no debería aceptar dos reservas incompatibles. En cada caso debemos guardar las entradas y el resultado obtenido.</a:t>
            </a:r>
          </a:p>
        </p:txBody>
      </p:sp>
      <p:sp>
        <p:nvSpPr>
          <p:cNvPr id="207" name="Google Shape;207;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Otras cuatro pruebas revisan situaciones críticas. Una reserva que no se confirma dentro del plazo debería liberar el horario. Los pagos deben actualizar el pedido según la respuesta de Webpay. Las comisiones deben calcularse correctamente, sin duplicarse al repetir una operación. Y la app móvil debe probarse en un dispositivo real con los recorridos de cliente y técnico. Son casos definidos, no resultados verificados: falta ejecutarlos y guardar capturas y registros.</a:t>
            </a:r>
          </a:p>
        </p:txBody>
      </p:sp>
      <p:sp>
        <p:nvSpPr>
          <p:cNvPr id="246" name="Google Shape;246;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5" name="Google Shape;285;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trazabilidad conecta cada función del sistema con el componente técnico responsable y una prueba. Por ejemplo, el servicio de cotizaciones se relaciona con las pruebas de precios y medidas; el módulo de agenda, con reservas duplicadas y vencidas. Este orden nos permite saber qué revisar si una prueba falla y demostrar con evidencias cuáles requisitos se cumplieron. Los códigos CP01 a CP08 identifican los ocho casos que acabamos de presentar.</a:t>
            </a:r>
          </a:p>
        </p:txBody>
      </p:sp>
      <p:sp>
        <p:nvSpPr>
          <p:cNvPr id="286" name="Google Shape;286;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Estimamos un costo total de 19 millones y medio de pesos: incluye principalmente personal y también operación, tecnología, inversión inicial e imprevistos. La propuesta de venta considera 23 millones netos, es decir, 3 millones y medio de utilidad proyectada por encima del costo estimado. Sumado el IVA del 19 por ciento, el total facturado sería 27 millones 370 mil pesos. Planteamos seis cobros, repartidos en 20, 15, 20, 20, 15 y 10 por ciento, para financiar las actividades mensuales sin depender exclusivamente del pago final. Estas cifras son estimaciones del proyecto.</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8" name="Google Shape;338;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tercera fase estará dedicada a comprobar y preparar la solución. En la semana 17 validaremos los resultados de Webpay. Entre las semanas 17 y 18 ejecutaremos los casos críticos y corregiremos errores. Entre las semanas 18 y 19 revisaremos la conexión de web, servidor y base de datos, además de generar e instalar la aplicación Android. Finalmente, relacionaremos requisitos y resultados de pruebas y completaremos manuales y evidencias. Nuestro objetivo es entregar una solución comprobada, no solo construida.</a:t>
            </a:r>
          </a:p>
        </p:txBody>
      </p:sp>
      <p:sp>
        <p:nvSpPr>
          <p:cNvPr id="339" name="Google Shape;339;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8" name="Google Shape;378;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En esta segunda fase avanzamos en las funciones principales de RollerApp y en la conexión entre la web, el servidor, la base de datos y la aplicación móvil. Sin embargo, aún debemos verificar el comportamiento real de funciones críticas como pagos, reservas y permisos y registrar evidencia de esas pruebas. En la fase siguiente corregiremos lo necesario y prepararemos la entrega final. Para cerrar mostraremos una demostración de la versión disponible de RollerApp. Gracias por su atención.</a:t>
            </a:r>
          </a:p>
        </p:txBody>
      </p:sp>
      <p:sp>
        <p:nvSpPr>
          <p:cNvPr id="379" name="Google Shape;379;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p:cSld name="Custom">
    <p:spTree>
      <p:nvGrpSpPr>
        <p:cNvPr id="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15"/>
          <p:cNvSpPr/>
          <p:nvPr/>
        </p:nvSpPr>
        <p:spPr>
          <a:xfrm>
            <a:off x="5791200" y="2209800"/>
            <a:ext cx="609600" cy="38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15"/>
          <p:cNvSpPr txBox="1">
            <a:spLocks noGrp="1"/>
          </p:cNvSpPr>
          <p:nvPr>
            <p:ph type="title"/>
          </p:nvPr>
        </p:nvSpPr>
        <p:spPr>
          <a:xfrm>
            <a:off x="1219200" y="2590800"/>
            <a:ext cx="9753600" cy="990600"/>
          </a:xfrm>
          <a:prstGeom prst="rect">
            <a:avLst/>
          </a:prstGeom>
          <a:noFill/>
          <a:ln>
            <a:noFill/>
          </a:ln>
        </p:spPr>
        <p:txBody>
          <a:bodyPr spcFirstLastPara="1" wrap="square" lIns="0" tIns="0" rIns="0" bIns="0" anchor="ctr" anchorCtr="0">
            <a:norm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15"/>
          <p:cNvSpPr txBox="1">
            <a:spLocks noGrp="1"/>
          </p:cNvSpPr>
          <p:nvPr>
            <p:ph type="subTitle" idx="1"/>
          </p:nvPr>
        </p:nvSpPr>
        <p:spPr>
          <a:xfrm>
            <a:off x="1828800" y="3771900"/>
            <a:ext cx="8534400" cy="762000"/>
          </a:xfrm>
          <a:prstGeom prst="rect">
            <a:avLst/>
          </a:prstGeom>
          <a:noFill/>
          <a:ln>
            <a:noFill/>
          </a:ln>
        </p:spPr>
        <p:txBody>
          <a:bodyPr spcFirstLastPara="1" wrap="square" lIns="0" tIns="0" rIns="0" bIns="0" anchor="ctr" anchorCtr="0">
            <a:normAutofit/>
          </a:bodyPr>
          <a:lstStyle>
            <a:lvl1pPr marR="0" lvl="0" algn="l" rtl="0">
              <a:lnSpc>
                <a:spcPct val="11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1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1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R="0" lvl="3" algn="l" rtl="0">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6"/>
        <p:cNvGrpSpPr/>
        <p:nvPr/>
      </p:nvGrpSpPr>
      <p:grpSpPr>
        <a:xfrm>
          <a:off x="0" y="0"/>
          <a:ext cx="0" cy="0"/>
          <a:chOff x="0" y="0"/>
          <a:chExt cx="0" cy="0"/>
        </a:xfrm>
      </p:grpSpPr>
      <p:sp>
        <p:nvSpPr>
          <p:cNvPr id="17" name="Google Shape;17;p16"/>
          <p:cNvSpPr/>
          <p:nvPr/>
        </p:nvSpPr>
        <p:spPr>
          <a:xfrm>
            <a:off x="5791200" y="2476500"/>
            <a:ext cx="609600" cy="38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16"/>
          <p:cNvSpPr txBox="1">
            <a:spLocks noGrp="1"/>
          </p:cNvSpPr>
          <p:nvPr>
            <p:ph type="title"/>
          </p:nvPr>
        </p:nvSpPr>
        <p:spPr>
          <a:xfrm>
            <a:off x="1219200" y="2857500"/>
            <a:ext cx="9753600" cy="1143000"/>
          </a:xfrm>
          <a:prstGeom prst="rect">
            <a:avLst/>
          </a:prstGeom>
          <a:noFill/>
          <a:ln>
            <a:noFill/>
          </a:ln>
        </p:spPr>
        <p:txBody>
          <a:bodyPr spcFirstLastPara="1" wrap="square" lIns="0" tIns="0" rIns="0" bIns="0" anchor="ctr" anchorCtr="0">
            <a:norm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9"/>
        <p:cNvGrpSpPr/>
        <p:nvPr/>
      </p:nvGrpSpPr>
      <p:grpSpPr>
        <a:xfrm>
          <a:off x="0" y="0"/>
          <a:ext cx="0" cy="0"/>
          <a:chOff x="0" y="0"/>
          <a:chExt cx="0" cy="0"/>
        </a:xfrm>
      </p:grpSpPr>
      <p:sp>
        <p:nvSpPr>
          <p:cNvPr id="20" name="Google Shape;20;p17"/>
          <p:cNvSpPr/>
          <p:nvPr/>
        </p:nvSpPr>
        <p:spPr>
          <a:xfrm>
            <a:off x="685800" y="1524000"/>
            <a:ext cx="609600" cy="38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17"/>
          <p:cNvSpPr txBox="1">
            <a:spLocks noGrp="1"/>
          </p:cNvSpPr>
          <p:nvPr>
            <p:ph type="title"/>
          </p:nvPr>
        </p:nvSpPr>
        <p:spPr>
          <a:xfrm>
            <a:off x="685800" y="533400"/>
            <a:ext cx="10820400" cy="838200"/>
          </a:xfrm>
          <a:prstGeom prst="rect">
            <a:avLst/>
          </a:prstGeom>
          <a:noFill/>
          <a:ln>
            <a:noFill/>
          </a:ln>
        </p:spPr>
        <p:txBody>
          <a:bodyPr spcFirstLastPara="1" wrap="square" lIns="0" tIns="0" rIns="0" bIns="0" anchor="t" anchorCtr="0">
            <a:norm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22" name="Google Shape;22;p17"/>
          <p:cNvSpPr txBox="1">
            <a:spLocks noGrp="1"/>
          </p:cNvSpPr>
          <p:nvPr>
            <p:ph type="body" idx="1"/>
          </p:nvPr>
        </p:nvSpPr>
        <p:spPr>
          <a:xfrm>
            <a:off x="685800" y="1905000"/>
            <a:ext cx="10820400" cy="4267200"/>
          </a:xfrm>
          <a:prstGeom prst="rect">
            <a:avLst/>
          </a:prstGeom>
          <a:noFill/>
          <a:ln>
            <a:noFill/>
          </a:ln>
        </p:spPr>
        <p:txBody>
          <a:bodyPr spcFirstLastPara="1" wrap="square" lIns="0" tIns="0" rIns="0" bIns="0" anchor="t" anchorCtr="0">
            <a:normAutofit/>
          </a:bodyPr>
          <a:lstStyle>
            <a:lvl1pPr marL="457200" marR="0" lvl="0" indent="-406400" algn="l" rtl="0">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
  <p:cSld name="Title and Two Column">
    <p:spTree>
      <p:nvGrpSpPr>
        <p:cNvPr id="1" name="Shape 23"/>
        <p:cNvGrpSpPr/>
        <p:nvPr/>
      </p:nvGrpSpPr>
      <p:grpSpPr>
        <a:xfrm>
          <a:off x="0" y="0"/>
          <a:ext cx="0" cy="0"/>
          <a:chOff x="0" y="0"/>
          <a:chExt cx="0" cy="0"/>
        </a:xfrm>
      </p:grpSpPr>
      <p:sp>
        <p:nvSpPr>
          <p:cNvPr id="24" name="Google Shape;24;p18"/>
          <p:cNvSpPr/>
          <p:nvPr/>
        </p:nvSpPr>
        <p:spPr>
          <a:xfrm>
            <a:off x="685800" y="1524000"/>
            <a:ext cx="609600" cy="38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18"/>
          <p:cNvSpPr txBox="1">
            <a:spLocks noGrp="1"/>
          </p:cNvSpPr>
          <p:nvPr>
            <p:ph type="title"/>
          </p:nvPr>
        </p:nvSpPr>
        <p:spPr>
          <a:xfrm>
            <a:off x="685800" y="533400"/>
            <a:ext cx="10820400" cy="838200"/>
          </a:xfrm>
          <a:prstGeom prst="rect">
            <a:avLst/>
          </a:prstGeom>
          <a:noFill/>
          <a:ln>
            <a:noFill/>
          </a:ln>
        </p:spPr>
        <p:txBody>
          <a:bodyPr spcFirstLastPara="1" wrap="square" lIns="0" tIns="0" rIns="0" bIns="0" anchor="t" anchorCtr="0">
            <a:norm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18"/>
          <p:cNvSpPr txBox="1">
            <a:spLocks noGrp="1"/>
          </p:cNvSpPr>
          <p:nvPr>
            <p:ph type="body" idx="1"/>
          </p:nvPr>
        </p:nvSpPr>
        <p:spPr>
          <a:xfrm>
            <a:off x="685800" y="1905000"/>
            <a:ext cx="5029200" cy="4267200"/>
          </a:xfrm>
          <a:prstGeom prst="rect">
            <a:avLst/>
          </a:prstGeom>
          <a:noFill/>
          <a:ln>
            <a:noFill/>
          </a:ln>
        </p:spPr>
        <p:txBody>
          <a:bodyPr spcFirstLastPara="1" wrap="square" lIns="0" tIns="0" rIns="0" bIns="0" anchor="t" anchorCtr="0">
            <a:normAutofit/>
          </a:bodyPr>
          <a:lstStyle>
            <a:lvl1pPr marL="457200" marR="0" lvl="0" indent="-406400" algn="l" rtl="0">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18"/>
          <p:cNvSpPr txBox="1">
            <a:spLocks noGrp="1"/>
          </p:cNvSpPr>
          <p:nvPr>
            <p:ph type="body" idx="2"/>
          </p:nvPr>
        </p:nvSpPr>
        <p:spPr>
          <a:xfrm>
            <a:off x="6477000" y="1905000"/>
            <a:ext cx="5029200" cy="4267200"/>
          </a:xfrm>
          <a:prstGeom prst="rect">
            <a:avLst/>
          </a:prstGeom>
          <a:noFill/>
          <a:ln>
            <a:noFill/>
          </a:ln>
        </p:spPr>
        <p:txBody>
          <a:bodyPr spcFirstLastPara="1" wrap="square" lIns="0" tIns="0" rIns="0" bIns="0" anchor="t" anchorCtr="0">
            <a:normAutofit/>
          </a:bodyPr>
          <a:lstStyle>
            <a:lvl1pPr marL="457200" marR="0" lvl="0" indent="-406400" algn="l" rtl="0">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One Column">
  <p:cSld name="Title and One Column">
    <p:spTree>
      <p:nvGrpSpPr>
        <p:cNvPr id="1" name="Shape 28"/>
        <p:cNvGrpSpPr/>
        <p:nvPr/>
      </p:nvGrpSpPr>
      <p:grpSpPr>
        <a:xfrm>
          <a:off x="0" y="0"/>
          <a:ext cx="0" cy="0"/>
          <a:chOff x="0" y="0"/>
          <a:chExt cx="0" cy="0"/>
        </a:xfrm>
      </p:grpSpPr>
      <p:sp>
        <p:nvSpPr>
          <p:cNvPr id="29" name="Google Shape;29;p19"/>
          <p:cNvSpPr/>
          <p:nvPr/>
        </p:nvSpPr>
        <p:spPr>
          <a:xfrm>
            <a:off x="685800" y="1524000"/>
            <a:ext cx="609600" cy="38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19"/>
          <p:cNvSpPr txBox="1">
            <a:spLocks noGrp="1"/>
          </p:cNvSpPr>
          <p:nvPr>
            <p:ph type="title"/>
          </p:nvPr>
        </p:nvSpPr>
        <p:spPr>
          <a:xfrm>
            <a:off x="685800" y="533400"/>
            <a:ext cx="10820400" cy="838200"/>
          </a:xfrm>
          <a:prstGeom prst="rect">
            <a:avLst/>
          </a:prstGeom>
          <a:noFill/>
          <a:ln>
            <a:noFill/>
          </a:ln>
        </p:spPr>
        <p:txBody>
          <a:bodyPr spcFirstLastPara="1" wrap="square" lIns="0" tIns="0" rIns="0" bIns="0" anchor="t" anchorCtr="0">
            <a:norm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 name="Google Shape;31;p19"/>
          <p:cNvSpPr txBox="1">
            <a:spLocks noGrp="1"/>
          </p:cNvSpPr>
          <p:nvPr>
            <p:ph type="body" idx="1"/>
          </p:nvPr>
        </p:nvSpPr>
        <p:spPr>
          <a:xfrm>
            <a:off x="685800" y="1905000"/>
            <a:ext cx="5029200" cy="4267200"/>
          </a:xfrm>
          <a:prstGeom prst="rect">
            <a:avLst/>
          </a:prstGeom>
          <a:noFill/>
          <a:ln>
            <a:noFill/>
          </a:ln>
        </p:spPr>
        <p:txBody>
          <a:bodyPr spcFirstLastPara="1" wrap="square" lIns="0" tIns="0" rIns="0" bIns="0" anchor="t" anchorCtr="0">
            <a:normAutofit/>
          </a:bodyPr>
          <a:lstStyle>
            <a:lvl1pPr marL="457200" marR="0" lvl="0" indent="-406400" algn="l" rtl="0">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p:cSld name="Custom">
    <p:spTree>
      <p:nvGrpSpPr>
        <p:cNvPr id="1" name="Shape 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roller-app-gamma.vercel.app/catalogo"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EE7"/>
        </a:solidFill>
        <a:effectLst/>
      </p:bgPr>
    </p:bg>
    <p:spTree>
      <p:nvGrpSpPr>
        <p:cNvPr id="1" name="Shape 42"/>
        <p:cNvGrpSpPr/>
        <p:nvPr/>
      </p:nvGrpSpPr>
      <p:grpSpPr>
        <a:xfrm>
          <a:off x="0" y="0"/>
          <a:ext cx="0" cy="0"/>
          <a:chOff x="0" y="0"/>
          <a:chExt cx="0" cy="0"/>
        </a:xfrm>
      </p:grpSpPr>
      <p:sp>
        <p:nvSpPr>
          <p:cNvPr id="43" name="Google Shape;43;p1"/>
          <p:cNvSpPr/>
          <p:nvPr/>
        </p:nvSpPr>
        <p:spPr>
          <a:xfrm>
            <a:off x="381000" y="381000"/>
            <a:ext cx="11430000" cy="6096000"/>
          </a:xfrm>
          <a:prstGeom prst="rect">
            <a:avLst/>
          </a:prstGeom>
          <a:noFill/>
          <a:ln w="11425" cap="flat" cmpd="sng">
            <a:solidFill>
              <a:srgbClr val="BBA58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44" name="Google Shape;44;p1"/>
          <p:cNvSpPr/>
          <p:nvPr/>
        </p:nvSpPr>
        <p:spPr>
          <a:xfrm>
            <a:off x="723900" y="633412"/>
            <a:ext cx="5676900" cy="10572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7F6F2"/>
              </a:buClr>
              <a:buSzPts val="6000"/>
              <a:buFont typeface="Arial"/>
              <a:buNone/>
            </a:pPr>
            <a:r>
              <a:rPr lang="en-US" sz="6000" b="1" i="0" u="none" strike="noStrike" cap="none">
                <a:solidFill>
                  <a:schemeClr val="dk1"/>
                </a:solidFill>
                <a:latin typeface="Arial"/>
                <a:ea typeface="Arial"/>
                <a:cs typeface="Arial"/>
                <a:sym typeface="Arial"/>
              </a:rPr>
              <a:t>RollerApp</a:t>
            </a:r>
            <a:endParaRPr sz="1400" b="0" i="0" u="none" strike="noStrike" cap="none">
              <a:solidFill>
                <a:schemeClr val="dk1"/>
              </a:solidFill>
              <a:latin typeface="Arial"/>
              <a:ea typeface="Arial"/>
              <a:cs typeface="Arial"/>
              <a:sym typeface="Arial"/>
            </a:endParaRPr>
          </a:p>
        </p:txBody>
      </p:sp>
      <p:sp>
        <p:nvSpPr>
          <p:cNvPr id="45" name="Google Shape;45;p1"/>
          <p:cNvSpPr/>
          <p:nvPr/>
        </p:nvSpPr>
        <p:spPr>
          <a:xfrm>
            <a:off x="723900" y="1749170"/>
            <a:ext cx="5181600" cy="774574"/>
          </a:xfrm>
          <a:prstGeom prst="roundRect">
            <a:avLst>
              <a:gd name="adj" fmla="val 18519"/>
            </a:avLst>
          </a:prstGeom>
          <a:solidFill>
            <a:srgbClr val="F0EEE7"/>
          </a:solidFill>
          <a:ln w="9525" cap="flat" cmpd="sng">
            <a:solidFill>
              <a:srgbClr val="647368"/>
            </a:solidFill>
            <a:prstDash val="solid"/>
            <a:round/>
            <a:headEnd type="none" w="sm" len="sm"/>
            <a:tailEnd type="none" w="sm" len="sm"/>
          </a:ln>
        </p:spPr>
        <p:txBody>
          <a:bodyPr spcFirstLastPara="1" wrap="square" lIns="171450" tIns="85725" rIns="133350" bIns="85725" anchor="ctr" anchorCtr="0">
            <a:noAutofit/>
          </a:bodyPr>
          <a:lstStyle/>
          <a:p>
            <a:pPr marL="0" marR="0" lvl="0" indent="0" algn="l" rtl="0">
              <a:lnSpc>
                <a:spcPct val="100000"/>
              </a:lnSpc>
              <a:spcBef>
                <a:spcPts val="0"/>
              </a:spcBef>
              <a:spcAft>
                <a:spcPts val="0"/>
              </a:spcAft>
              <a:buClr>
                <a:srgbClr val="D1B58A"/>
              </a:buClr>
              <a:buSzPts val="1800"/>
              <a:buFont typeface="Arial"/>
              <a:buNone/>
            </a:pPr>
            <a:r>
              <a:rPr lang="en-US" sz="1800" b="0" i="0" u="none" strike="noStrike" cap="none" dirty="0">
                <a:solidFill>
                  <a:schemeClr val="dk1"/>
                </a:solidFill>
                <a:latin typeface="Arial"/>
                <a:ea typeface="Arial"/>
                <a:cs typeface="Arial"/>
                <a:sym typeface="Arial"/>
              </a:rPr>
              <a:t>Fase 2: </a:t>
            </a:r>
            <a:r>
              <a:rPr lang="en-US" sz="1800" b="0" i="0" u="none" strike="noStrike" cap="none" dirty="0" err="1">
                <a:solidFill>
                  <a:schemeClr val="dk1"/>
                </a:solidFill>
                <a:latin typeface="Arial"/>
                <a:ea typeface="Arial"/>
                <a:cs typeface="Arial"/>
                <a:sym typeface="Arial"/>
              </a:rPr>
              <a:t>avances</a:t>
            </a:r>
            <a:r>
              <a:rPr lang="en-US" sz="1800" b="0" i="0" u="none" strike="noStrike" cap="none" dirty="0">
                <a:solidFill>
                  <a:schemeClr val="dk1"/>
                </a:solidFill>
                <a:latin typeface="Arial"/>
                <a:ea typeface="Arial"/>
                <a:cs typeface="Arial"/>
                <a:sym typeface="Arial"/>
              </a:rPr>
              <a:t> y </a:t>
            </a:r>
            <a:r>
              <a:rPr lang="en-US" sz="1800" b="0" i="0" u="none" strike="noStrike" cap="none" dirty="0" err="1">
                <a:solidFill>
                  <a:schemeClr val="dk1"/>
                </a:solidFill>
                <a:latin typeface="Arial"/>
                <a:ea typeface="Arial"/>
                <a:cs typeface="Arial"/>
                <a:sym typeface="Arial"/>
              </a:rPr>
              <a:t>cierre</a:t>
            </a:r>
            <a:r>
              <a:rPr lang="en-US" sz="1800" b="0" i="0" u="none" strike="noStrike" cap="none" dirty="0">
                <a:solidFill>
                  <a:schemeClr val="dk1"/>
                </a:solidFill>
                <a:latin typeface="Arial"/>
                <a:ea typeface="Arial"/>
                <a:cs typeface="Arial"/>
                <a:sym typeface="Arial"/>
              </a:rPr>
              <a:t> de la </a:t>
            </a:r>
            <a:r>
              <a:rPr lang="en-US" sz="1800" b="0" i="0" u="none" strike="noStrike" cap="none" dirty="0" err="1">
                <a:solidFill>
                  <a:schemeClr val="dk1"/>
                </a:solidFill>
                <a:latin typeface="Arial"/>
                <a:ea typeface="Arial"/>
                <a:cs typeface="Arial"/>
                <a:sym typeface="Arial"/>
              </a:rPr>
              <a:t>semana</a:t>
            </a:r>
            <a:r>
              <a:rPr lang="en-US" sz="1800" b="0" i="0" u="none" strike="noStrike" cap="none" dirty="0">
                <a:solidFill>
                  <a:schemeClr val="dk1"/>
                </a:solidFill>
                <a:latin typeface="Arial"/>
                <a:ea typeface="Arial"/>
                <a:cs typeface="Arial"/>
                <a:sym typeface="Arial"/>
              </a:rPr>
              <a:t> 16</a:t>
            </a:r>
            <a:endParaRPr sz="1800" b="0" i="0" u="none" strike="noStrike" cap="none" dirty="0">
              <a:solidFill>
                <a:schemeClr val="dk1"/>
              </a:solidFill>
              <a:latin typeface="Arial"/>
              <a:ea typeface="Arial"/>
              <a:cs typeface="Arial"/>
              <a:sym typeface="Arial"/>
            </a:endParaRPr>
          </a:p>
        </p:txBody>
      </p:sp>
      <p:sp>
        <p:nvSpPr>
          <p:cNvPr id="46" name="Google Shape;46;p1"/>
          <p:cNvSpPr/>
          <p:nvPr/>
        </p:nvSpPr>
        <p:spPr>
          <a:xfrm>
            <a:off x="723900" y="5391150"/>
            <a:ext cx="10725150" cy="9525"/>
          </a:xfrm>
          <a:prstGeom prst="rect">
            <a:avLst/>
          </a:prstGeom>
          <a:solidFill>
            <a:srgbClr val="73847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47" name="Google Shape;47;p1"/>
          <p:cNvSpPr/>
          <p:nvPr/>
        </p:nvSpPr>
        <p:spPr>
          <a:xfrm>
            <a:off x="723900" y="5600700"/>
            <a:ext cx="2857500" cy="2762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1B58A"/>
              </a:buClr>
              <a:buSzPts val="1200"/>
              <a:buFont typeface="Arial"/>
              <a:buNone/>
            </a:pPr>
            <a:r>
              <a:rPr lang="en-US" sz="1200" b="1" i="0" u="none" strike="noStrike" cap="none">
                <a:solidFill>
                  <a:srgbClr val="D1B58A"/>
                </a:solidFill>
                <a:latin typeface="Arial"/>
                <a:ea typeface="Arial"/>
                <a:cs typeface="Arial"/>
                <a:sym typeface="Arial"/>
              </a:rPr>
              <a:t>EQUIPO</a:t>
            </a:r>
            <a:endParaRPr sz="1400" b="0" i="0" u="none" strike="noStrike" cap="none">
              <a:solidFill>
                <a:srgbClr val="000000"/>
              </a:solidFill>
              <a:latin typeface="Arial"/>
              <a:ea typeface="Arial"/>
              <a:cs typeface="Arial"/>
              <a:sym typeface="Arial"/>
            </a:endParaRPr>
          </a:p>
        </p:txBody>
      </p:sp>
      <p:sp>
        <p:nvSpPr>
          <p:cNvPr id="48" name="Google Shape;48;p1"/>
          <p:cNvSpPr/>
          <p:nvPr/>
        </p:nvSpPr>
        <p:spPr>
          <a:xfrm>
            <a:off x="723900" y="5972175"/>
            <a:ext cx="2381250" cy="3524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7F6F2"/>
              </a:buClr>
              <a:buSzPts val="1725"/>
              <a:buFont typeface="Arial"/>
              <a:buNone/>
            </a:pPr>
            <a:r>
              <a:rPr lang="en-US" sz="1725" b="0" i="0" u="none" strike="noStrike" cap="none">
                <a:solidFill>
                  <a:schemeClr val="dk1"/>
                </a:solidFill>
                <a:latin typeface="Arial"/>
                <a:ea typeface="Arial"/>
                <a:cs typeface="Arial"/>
                <a:sym typeface="Arial"/>
              </a:rPr>
              <a:t>Lucas Olea</a:t>
            </a:r>
            <a:endParaRPr sz="1400" b="0" i="0" u="none" strike="noStrike" cap="none">
              <a:solidFill>
                <a:schemeClr val="dk1"/>
              </a:solidFill>
              <a:latin typeface="Arial"/>
              <a:ea typeface="Arial"/>
              <a:cs typeface="Arial"/>
              <a:sym typeface="Arial"/>
            </a:endParaRPr>
          </a:p>
        </p:txBody>
      </p:sp>
      <p:sp>
        <p:nvSpPr>
          <p:cNvPr id="49" name="Google Shape;49;p1"/>
          <p:cNvSpPr/>
          <p:nvPr/>
        </p:nvSpPr>
        <p:spPr>
          <a:xfrm>
            <a:off x="3333750" y="5972175"/>
            <a:ext cx="2381250" cy="3524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7F6F2"/>
              </a:buClr>
              <a:buSzPts val="1725"/>
              <a:buFont typeface="Arial"/>
              <a:buNone/>
            </a:pPr>
            <a:r>
              <a:rPr lang="en-US" sz="1725" b="0" i="0" u="none" strike="noStrike" cap="none">
                <a:solidFill>
                  <a:schemeClr val="dk1"/>
                </a:solidFill>
                <a:latin typeface="Arial"/>
                <a:ea typeface="Arial"/>
                <a:cs typeface="Arial"/>
                <a:sym typeface="Arial"/>
              </a:rPr>
              <a:t>Marco Robles</a:t>
            </a:r>
            <a:endParaRPr sz="1400" b="0" i="0" u="none" strike="noStrike" cap="none">
              <a:solidFill>
                <a:schemeClr val="dk1"/>
              </a:solidFill>
              <a:latin typeface="Arial"/>
              <a:ea typeface="Arial"/>
              <a:cs typeface="Arial"/>
              <a:sym typeface="Arial"/>
            </a:endParaRPr>
          </a:p>
        </p:txBody>
      </p:sp>
      <p:sp>
        <p:nvSpPr>
          <p:cNvPr id="50" name="Google Shape;50;p1"/>
          <p:cNvSpPr/>
          <p:nvPr/>
        </p:nvSpPr>
        <p:spPr>
          <a:xfrm>
            <a:off x="6057900" y="5972175"/>
            <a:ext cx="2381250" cy="3524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7F6F2"/>
              </a:buClr>
              <a:buSzPts val="1725"/>
              <a:buFont typeface="Arial"/>
              <a:buNone/>
            </a:pPr>
            <a:r>
              <a:rPr lang="en-US" sz="1725" b="0" i="0" u="none" strike="noStrike" cap="none">
                <a:solidFill>
                  <a:schemeClr val="dk1"/>
                </a:solidFill>
                <a:latin typeface="Arial"/>
                <a:ea typeface="Arial"/>
                <a:cs typeface="Arial"/>
                <a:sym typeface="Arial"/>
              </a:rPr>
              <a:t>Rodrigo Riquelme</a:t>
            </a:r>
            <a:endParaRPr sz="1400" b="0" i="0" u="none" strike="noStrike" cap="none">
              <a:solidFill>
                <a:schemeClr val="dk1"/>
              </a:solidFill>
              <a:latin typeface="Arial"/>
              <a:ea typeface="Arial"/>
              <a:cs typeface="Arial"/>
              <a:sym typeface="Arial"/>
            </a:endParaRPr>
          </a:p>
        </p:txBody>
      </p:sp>
      <p:sp>
        <p:nvSpPr>
          <p:cNvPr id="51" name="Google Shape;51;p1"/>
          <p:cNvSpPr/>
          <p:nvPr/>
        </p:nvSpPr>
        <p:spPr>
          <a:xfrm>
            <a:off x="9048750" y="5972175"/>
            <a:ext cx="2381250" cy="3524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7F6F2"/>
              </a:buClr>
              <a:buSzPts val="1725"/>
              <a:buFont typeface="Arial"/>
              <a:buNone/>
            </a:pPr>
            <a:r>
              <a:rPr lang="en-US" sz="1725" b="0" i="0" u="none" strike="noStrike" cap="none">
                <a:solidFill>
                  <a:schemeClr val="dk1"/>
                </a:solidFill>
                <a:latin typeface="Arial"/>
                <a:ea typeface="Arial"/>
                <a:cs typeface="Arial"/>
                <a:sym typeface="Arial"/>
              </a:rPr>
              <a:t>Rodrigo Soto</a:t>
            </a:r>
            <a:endParaRPr sz="1400" b="0" i="0" u="none" strike="noStrike" cap="none">
              <a:solidFill>
                <a:schemeClr val="dk1"/>
              </a:solidFill>
              <a:latin typeface="Arial"/>
              <a:ea typeface="Arial"/>
              <a:cs typeface="Arial"/>
              <a:sym typeface="Arial"/>
            </a:endParaRPr>
          </a:p>
        </p:txBody>
      </p:sp>
      <p:sp>
        <p:nvSpPr>
          <p:cNvPr id="52" name="Google Shape;52;p1"/>
          <p:cNvSpPr/>
          <p:nvPr/>
        </p:nvSpPr>
        <p:spPr>
          <a:xfrm>
            <a:off x="11210925" y="6191250"/>
            <a:ext cx="381000" cy="238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6C1BA"/>
              </a:buClr>
              <a:buSzPts val="1275"/>
              <a:buFont typeface="Arial"/>
              <a:buNone/>
            </a:pPr>
            <a:r>
              <a:rPr lang="en-US" sz="1275" b="0" i="0" u="none" strike="noStrike" cap="none">
                <a:solidFill>
                  <a:srgbClr val="B6C1BA"/>
                </a:solidFill>
                <a:latin typeface="Arial"/>
                <a:ea typeface="Arial"/>
                <a:cs typeface="Arial"/>
                <a:sym typeface="Arial"/>
              </a:rPr>
              <a:t>01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57"/>
        <p:cNvGrpSpPr/>
        <p:nvPr/>
      </p:nvGrpSpPr>
      <p:grpSpPr>
        <a:xfrm>
          <a:off x="0" y="0"/>
          <a:ext cx="0" cy="0"/>
          <a:chOff x="0" y="0"/>
          <a:chExt cx="0" cy="0"/>
        </a:xfrm>
      </p:grpSpPr>
      <p:sp>
        <p:nvSpPr>
          <p:cNvPr id="58" name="Google Shape;58;p2"/>
          <p:cNvSpPr/>
          <p:nvPr/>
        </p:nvSpPr>
        <p:spPr>
          <a:xfrm>
            <a:off x="628650" y="428625"/>
            <a:ext cx="10934700" cy="76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3300"/>
              <a:buFont typeface="Arial"/>
              <a:buNone/>
            </a:pPr>
            <a:r>
              <a:rPr lang="en-US" sz="3300" b="1" i="0" u="none" strike="noStrike" cap="none">
                <a:solidFill>
                  <a:srgbClr val="293B35"/>
                </a:solidFill>
                <a:latin typeface="Arial"/>
                <a:ea typeface="Arial"/>
                <a:cs typeface="Arial"/>
                <a:sym typeface="Arial"/>
              </a:rPr>
              <a:t>Objetivo y alcance de RollerApp</a:t>
            </a:r>
            <a:endParaRPr sz="1400" b="0" i="0" u="none" strike="noStrike" cap="none">
              <a:solidFill>
                <a:srgbClr val="000000"/>
              </a:solidFill>
              <a:latin typeface="Arial"/>
              <a:ea typeface="Arial"/>
              <a:cs typeface="Arial"/>
              <a:sym typeface="Arial"/>
            </a:endParaRPr>
          </a:p>
        </p:txBody>
      </p:sp>
      <p:sp>
        <p:nvSpPr>
          <p:cNvPr id="59" name="Google Shape;59;p2"/>
          <p:cNvSpPr/>
          <p:nvPr/>
        </p:nvSpPr>
        <p:spPr>
          <a:xfrm>
            <a:off x="11210925" y="6419850"/>
            <a:ext cx="381000" cy="238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E8780"/>
              </a:buClr>
              <a:buSzPts val="1275"/>
              <a:buFont typeface="Arial"/>
              <a:buNone/>
            </a:pPr>
            <a:r>
              <a:rPr lang="en-US" sz="1275" b="0" i="0" u="none" strike="noStrike" cap="none">
                <a:solidFill>
                  <a:srgbClr val="7E8780"/>
                </a:solidFill>
                <a:latin typeface="Arial"/>
                <a:ea typeface="Arial"/>
                <a:cs typeface="Arial"/>
                <a:sym typeface="Arial"/>
              </a:rPr>
              <a:t>02</a:t>
            </a:r>
            <a:endParaRPr sz="1400" b="0" i="0" u="none" strike="noStrike" cap="none">
              <a:solidFill>
                <a:srgbClr val="000000"/>
              </a:solidFill>
              <a:latin typeface="Arial"/>
              <a:ea typeface="Arial"/>
              <a:cs typeface="Arial"/>
              <a:sym typeface="Arial"/>
            </a:endParaRPr>
          </a:p>
        </p:txBody>
      </p:sp>
      <p:sp>
        <p:nvSpPr>
          <p:cNvPr id="60" name="Google Shape;60;p2"/>
          <p:cNvSpPr/>
          <p:nvPr/>
        </p:nvSpPr>
        <p:spPr>
          <a:xfrm>
            <a:off x="628650" y="2381250"/>
            <a:ext cx="3486150" cy="3486150"/>
          </a:xfrm>
          <a:prstGeom prst="roundRect">
            <a:avLst>
              <a:gd name="adj" fmla="val 3825"/>
            </a:avLst>
          </a:prstGeom>
          <a:solidFill>
            <a:srgbClr val="FFFDFC"/>
          </a:solidFill>
          <a:ln w="11425" cap="flat" cmpd="sng">
            <a:solidFill>
              <a:srgbClr val="C8D1C7"/>
            </a:solidFill>
            <a:prstDash val="solid"/>
            <a:round/>
            <a:headEnd type="none" w="sm" len="sm"/>
            <a:tailEnd type="none" w="sm" len="sm"/>
          </a:ln>
          <a:effectLst>
            <a:outerShdw blurRad="266700" dist="95250" dir="5400000">
              <a:srgbClr val="000000">
                <a:alpha val="23922"/>
              </a:srgbClr>
            </a:outerShdw>
          </a:effectLst>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293B35"/>
              </a:buClr>
              <a:buSzPts val="2250"/>
              <a:buFont typeface="Arial"/>
              <a:buNone/>
            </a:pPr>
            <a:endParaRPr sz="2250" b="1" i="0" u="none" strike="noStrike" cap="none">
              <a:solidFill>
                <a:srgbClr val="52D4E8"/>
              </a:solidFill>
              <a:latin typeface="Arial"/>
              <a:ea typeface="Arial"/>
              <a:cs typeface="Arial"/>
              <a:sym typeface="Arial"/>
            </a:endParaRPr>
          </a:p>
        </p:txBody>
      </p:sp>
      <p:sp>
        <p:nvSpPr>
          <p:cNvPr id="61" name="Google Shape;61;p2"/>
          <p:cNvSpPr/>
          <p:nvPr/>
        </p:nvSpPr>
        <p:spPr>
          <a:xfrm>
            <a:off x="895350" y="3943350"/>
            <a:ext cx="2952750" cy="1695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C5750"/>
              </a:buClr>
              <a:buSzPts val="1725"/>
              <a:buFont typeface="Arial"/>
              <a:buNone/>
            </a:pPr>
            <a:r>
              <a:rPr lang="en-US" sz="1725" b="0" i="0" u="none" strike="noStrike" cap="none">
                <a:solidFill>
                  <a:srgbClr val="4C5750"/>
                </a:solidFill>
                <a:latin typeface="Arial"/>
                <a:ea typeface="Arial"/>
                <a:cs typeface="Arial"/>
                <a:sym typeface="Arial"/>
              </a:rPr>
              <a:t>Productos, cotizaciones personalizadas, pedidos, reservas, pagos y administración.</a:t>
            </a:r>
            <a:endParaRPr sz="1950" b="0" i="0" u="none" strike="noStrike" cap="none">
              <a:solidFill>
                <a:srgbClr val="D6E1EE"/>
              </a:solidFill>
              <a:latin typeface="Arial"/>
              <a:ea typeface="Arial"/>
              <a:cs typeface="Arial"/>
              <a:sym typeface="Arial"/>
            </a:endParaRPr>
          </a:p>
        </p:txBody>
      </p:sp>
      <p:sp>
        <p:nvSpPr>
          <p:cNvPr id="62" name="Google Shape;62;p2"/>
          <p:cNvSpPr/>
          <p:nvPr/>
        </p:nvSpPr>
        <p:spPr>
          <a:xfrm>
            <a:off x="4343400" y="2381250"/>
            <a:ext cx="3486150" cy="3486150"/>
          </a:xfrm>
          <a:prstGeom prst="roundRect">
            <a:avLst>
              <a:gd name="adj" fmla="val 3825"/>
            </a:avLst>
          </a:prstGeom>
          <a:solidFill>
            <a:srgbClr val="FFFDFC"/>
          </a:solidFill>
          <a:ln w="11425" cap="flat" cmpd="sng">
            <a:solidFill>
              <a:srgbClr val="C8D1C7"/>
            </a:solidFill>
            <a:prstDash val="solid"/>
            <a:round/>
            <a:headEnd type="none" w="sm" len="sm"/>
            <a:tailEnd type="none" w="sm" len="sm"/>
          </a:ln>
          <a:effectLst>
            <a:outerShdw blurRad="266700" dist="95250" dir="5400000">
              <a:srgbClr val="000000">
                <a:alpha val="23922"/>
              </a:srgbClr>
            </a:outerShdw>
          </a:effectLst>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293B35"/>
              </a:buClr>
              <a:buSzPts val="2250"/>
              <a:buFont typeface="Arial"/>
              <a:buNone/>
            </a:pPr>
            <a:endParaRPr sz="2250" b="1" i="0" u="none" strike="noStrike" cap="none">
              <a:solidFill>
                <a:srgbClr val="52D4E8"/>
              </a:solidFill>
              <a:latin typeface="Arial"/>
              <a:ea typeface="Arial"/>
              <a:cs typeface="Arial"/>
              <a:sym typeface="Arial"/>
            </a:endParaRPr>
          </a:p>
        </p:txBody>
      </p:sp>
      <p:sp>
        <p:nvSpPr>
          <p:cNvPr id="63" name="Google Shape;63;p2"/>
          <p:cNvSpPr/>
          <p:nvPr/>
        </p:nvSpPr>
        <p:spPr>
          <a:xfrm>
            <a:off x="4610100" y="3943350"/>
            <a:ext cx="2952750" cy="1695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C5750"/>
              </a:buClr>
              <a:buSzPts val="1725"/>
              <a:buFont typeface="Arial"/>
              <a:buNone/>
            </a:pPr>
            <a:r>
              <a:rPr lang="en-US" sz="1725" b="0" i="0" u="none" strike="noStrike" cap="none">
                <a:solidFill>
                  <a:srgbClr val="4C5750"/>
                </a:solidFill>
                <a:latin typeface="Arial"/>
                <a:ea typeface="Arial"/>
                <a:cs typeface="Arial"/>
                <a:sym typeface="Arial"/>
              </a:rPr>
              <a:t>La web y la app móvil comparten un servidor y una base de datos MySQL.</a:t>
            </a:r>
            <a:endParaRPr sz="1950" b="0" i="0" u="none" strike="noStrike" cap="none">
              <a:solidFill>
                <a:srgbClr val="D6E1EE"/>
              </a:solidFill>
              <a:latin typeface="Arial"/>
              <a:ea typeface="Arial"/>
              <a:cs typeface="Arial"/>
              <a:sym typeface="Arial"/>
            </a:endParaRPr>
          </a:p>
        </p:txBody>
      </p:sp>
      <p:sp>
        <p:nvSpPr>
          <p:cNvPr id="64" name="Google Shape;64;p2"/>
          <p:cNvSpPr/>
          <p:nvPr/>
        </p:nvSpPr>
        <p:spPr>
          <a:xfrm>
            <a:off x="8058150" y="2381250"/>
            <a:ext cx="3486150" cy="3486150"/>
          </a:xfrm>
          <a:prstGeom prst="roundRect">
            <a:avLst>
              <a:gd name="adj" fmla="val 3825"/>
            </a:avLst>
          </a:prstGeom>
          <a:solidFill>
            <a:srgbClr val="FFFDFC"/>
          </a:solidFill>
          <a:ln w="11425" cap="flat" cmpd="sng">
            <a:solidFill>
              <a:srgbClr val="C8D1C7"/>
            </a:solidFill>
            <a:prstDash val="solid"/>
            <a:round/>
            <a:headEnd type="none" w="sm" len="sm"/>
            <a:tailEnd type="none" w="sm" len="sm"/>
          </a:ln>
          <a:effectLst>
            <a:outerShdw blurRad="266700" dist="95250" dir="5400000">
              <a:srgbClr val="000000">
                <a:alpha val="23922"/>
              </a:srgbClr>
            </a:outerShdw>
          </a:effectLst>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293B35"/>
              </a:buClr>
              <a:buSzPts val="2250"/>
              <a:buFont typeface="Arial"/>
              <a:buNone/>
            </a:pPr>
            <a:endParaRPr sz="2250" b="1" i="0" u="none" strike="noStrike" cap="none">
              <a:solidFill>
                <a:srgbClr val="52D4E8"/>
              </a:solidFill>
              <a:latin typeface="Arial"/>
              <a:ea typeface="Arial"/>
              <a:cs typeface="Arial"/>
              <a:sym typeface="Arial"/>
            </a:endParaRPr>
          </a:p>
        </p:txBody>
      </p:sp>
      <p:sp>
        <p:nvSpPr>
          <p:cNvPr id="65" name="Google Shape;65;p2"/>
          <p:cNvSpPr/>
          <p:nvPr/>
        </p:nvSpPr>
        <p:spPr>
          <a:xfrm>
            <a:off x="8324850" y="3943350"/>
            <a:ext cx="2952750" cy="1695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C5750"/>
              </a:buClr>
              <a:buSzPts val="1725"/>
              <a:buFont typeface="Arial"/>
              <a:buNone/>
            </a:pPr>
            <a:r>
              <a:rPr lang="en-US" sz="1725" b="0" i="0" u="none" strike="noStrike" cap="none">
                <a:solidFill>
                  <a:srgbClr val="4C5750"/>
                </a:solidFill>
                <a:latin typeface="Arial"/>
                <a:ea typeface="Arial"/>
                <a:cs typeface="Arial"/>
                <a:sym typeface="Arial"/>
              </a:rPr>
              <a:t>No incluye facturación SII, contabilidad avanzada, GPS permanente, IA ni control de dispositivos.</a:t>
            </a:r>
            <a:endParaRPr sz="1950" b="0" i="0" u="none" strike="noStrike" cap="none">
              <a:solidFill>
                <a:srgbClr val="D6E1EE"/>
              </a:solidFill>
              <a:latin typeface="Arial"/>
              <a:ea typeface="Arial"/>
              <a:cs typeface="Arial"/>
              <a:sym typeface="Arial"/>
            </a:endParaRPr>
          </a:p>
        </p:txBody>
      </p:sp>
      <p:sp>
        <p:nvSpPr>
          <p:cNvPr id="66" name="Google Shape;66;p2"/>
          <p:cNvSpPr/>
          <p:nvPr/>
        </p:nvSpPr>
        <p:spPr>
          <a:xfrm>
            <a:off x="628650" y="1278404"/>
            <a:ext cx="8357616"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14B45"/>
              </a:buClr>
              <a:buSzPts val="1800"/>
              <a:buFont typeface="Arial"/>
              <a:buNone/>
            </a:pPr>
            <a:r>
              <a:rPr lang="en-US" sz="1800" b="0" i="0" u="none" strike="noStrike" cap="none">
                <a:solidFill>
                  <a:srgbClr val="414B45"/>
                </a:solidFill>
                <a:latin typeface="Arial"/>
                <a:ea typeface="Arial"/>
                <a:cs typeface="Arial"/>
                <a:sym typeface="Arial"/>
              </a:rPr>
              <a:t>Digitalizar los procesos de Roller SpA para que clientes y empresa gestionen sus operaciones desde una misma plataforma.</a:t>
            </a:r>
            <a:endParaRPr sz="1400" b="0" i="0" u="none" strike="noStrike" cap="none">
              <a:solidFill>
                <a:srgbClr val="000000"/>
              </a:solidFill>
              <a:latin typeface="Arial"/>
              <a:ea typeface="Arial"/>
              <a:cs typeface="Arial"/>
              <a:sym typeface="Arial"/>
            </a:endParaRPr>
          </a:p>
        </p:txBody>
      </p:sp>
      <p:sp>
        <p:nvSpPr>
          <p:cNvPr id="67" name="Google Shape;67;p2"/>
          <p:cNvSpPr/>
          <p:nvPr/>
        </p:nvSpPr>
        <p:spPr>
          <a:xfrm>
            <a:off x="895350" y="2590800"/>
            <a:ext cx="590550" cy="3619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2966D"/>
              </a:buClr>
              <a:buSzPts val="2100"/>
              <a:buFont typeface="Arial"/>
              <a:buNone/>
            </a:pPr>
            <a:r>
              <a:rPr lang="en-US" sz="2100" b="1" i="0" u="none" strike="noStrike" cap="none">
                <a:solidFill>
                  <a:srgbClr val="B2966D"/>
                </a:solidFill>
                <a:latin typeface="Arial"/>
                <a:ea typeface="Arial"/>
                <a:cs typeface="Arial"/>
                <a:sym typeface="Arial"/>
              </a:rPr>
              <a:t>01</a:t>
            </a:r>
            <a:endParaRPr sz="1400" b="0" i="0" u="none" strike="noStrike" cap="none">
              <a:solidFill>
                <a:srgbClr val="000000"/>
              </a:solidFill>
              <a:latin typeface="Arial"/>
              <a:ea typeface="Arial"/>
              <a:cs typeface="Arial"/>
              <a:sym typeface="Arial"/>
            </a:endParaRPr>
          </a:p>
        </p:txBody>
      </p:sp>
      <p:sp>
        <p:nvSpPr>
          <p:cNvPr id="68" name="Google Shape;68;p2"/>
          <p:cNvSpPr/>
          <p:nvPr/>
        </p:nvSpPr>
        <p:spPr>
          <a:xfrm>
            <a:off x="895350" y="3000375"/>
            <a:ext cx="2952750" cy="9525"/>
          </a:xfrm>
          <a:prstGeom prst="rect">
            <a:avLst/>
          </a:prstGeom>
          <a:solidFill>
            <a:srgbClr val="D8DD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9" name="Google Shape;69;p2"/>
          <p:cNvSpPr/>
          <p:nvPr/>
        </p:nvSpPr>
        <p:spPr>
          <a:xfrm>
            <a:off x="895350" y="3200400"/>
            <a:ext cx="295275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1950"/>
              <a:buFont typeface="Arial"/>
              <a:buNone/>
            </a:pPr>
            <a:r>
              <a:rPr lang="en-US" sz="1950" b="1" i="0" u="none" strike="noStrike" cap="none">
                <a:solidFill>
                  <a:srgbClr val="293B35"/>
                </a:solidFill>
                <a:latin typeface="Arial"/>
                <a:ea typeface="Arial"/>
                <a:cs typeface="Arial"/>
                <a:sym typeface="Arial"/>
              </a:rPr>
              <a:t>¿Qué podrá hacer?</a:t>
            </a:r>
            <a:endParaRPr sz="1950" b="1" i="0" u="none" strike="noStrike" cap="none">
              <a:solidFill>
                <a:srgbClr val="293B35"/>
              </a:solidFill>
              <a:latin typeface="Arial"/>
              <a:ea typeface="Arial"/>
              <a:cs typeface="Arial"/>
              <a:sym typeface="Arial"/>
            </a:endParaRPr>
          </a:p>
        </p:txBody>
      </p:sp>
      <p:sp>
        <p:nvSpPr>
          <p:cNvPr id="70" name="Google Shape;70;p2"/>
          <p:cNvSpPr/>
          <p:nvPr/>
        </p:nvSpPr>
        <p:spPr>
          <a:xfrm>
            <a:off x="4610100" y="2590800"/>
            <a:ext cx="590550" cy="3619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2966D"/>
              </a:buClr>
              <a:buSzPts val="2100"/>
              <a:buFont typeface="Arial"/>
              <a:buNone/>
            </a:pPr>
            <a:r>
              <a:rPr lang="en-US" sz="2100" b="1" i="0" u="none" strike="noStrike" cap="none">
                <a:solidFill>
                  <a:srgbClr val="B2966D"/>
                </a:solidFill>
                <a:latin typeface="Arial"/>
                <a:ea typeface="Arial"/>
                <a:cs typeface="Arial"/>
                <a:sym typeface="Arial"/>
              </a:rPr>
              <a:t>02</a:t>
            </a:r>
            <a:endParaRPr sz="1400" b="0" i="0" u="none" strike="noStrike" cap="none">
              <a:solidFill>
                <a:srgbClr val="000000"/>
              </a:solidFill>
              <a:latin typeface="Arial"/>
              <a:ea typeface="Arial"/>
              <a:cs typeface="Arial"/>
              <a:sym typeface="Arial"/>
            </a:endParaRPr>
          </a:p>
        </p:txBody>
      </p:sp>
      <p:sp>
        <p:nvSpPr>
          <p:cNvPr id="71" name="Google Shape;71;p2"/>
          <p:cNvSpPr/>
          <p:nvPr/>
        </p:nvSpPr>
        <p:spPr>
          <a:xfrm>
            <a:off x="4610100" y="3000375"/>
            <a:ext cx="2952750" cy="9525"/>
          </a:xfrm>
          <a:prstGeom prst="rect">
            <a:avLst/>
          </a:prstGeom>
          <a:solidFill>
            <a:srgbClr val="D8DD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2" name="Google Shape;72;p2"/>
          <p:cNvSpPr/>
          <p:nvPr/>
        </p:nvSpPr>
        <p:spPr>
          <a:xfrm>
            <a:off x="4610100" y="3200400"/>
            <a:ext cx="295275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1950"/>
              <a:buFont typeface="Arial"/>
              <a:buNone/>
            </a:pPr>
            <a:r>
              <a:rPr lang="en-US" sz="1950" b="1" i="0" u="none" strike="noStrike" cap="none">
                <a:solidFill>
                  <a:srgbClr val="293B35"/>
                </a:solidFill>
                <a:latin typeface="Arial"/>
                <a:ea typeface="Arial"/>
                <a:cs typeface="Arial"/>
                <a:sym typeface="Arial"/>
              </a:rPr>
              <a:t>¿Cómo funcionará?</a:t>
            </a:r>
            <a:endParaRPr sz="1400" b="0" i="0" u="none" strike="noStrike" cap="none">
              <a:solidFill>
                <a:srgbClr val="000000"/>
              </a:solidFill>
              <a:latin typeface="Arial"/>
              <a:ea typeface="Arial"/>
              <a:cs typeface="Arial"/>
              <a:sym typeface="Arial"/>
            </a:endParaRPr>
          </a:p>
        </p:txBody>
      </p:sp>
      <p:sp>
        <p:nvSpPr>
          <p:cNvPr id="73" name="Google Shape;73;p2"/>
          <p:cNvSpPr/>
          <p:nvPr/>
        </p:nvSpPr>
        <p:spPr>
          <a:xfrm>
            <a:off x="8324850" y="2590800"/>
            <a:ext cx="590550" cy="3619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2966D"/>
              </a:buClr>
              <a:buSzPts val="2100"/>
              <a:buFont typeface="Arial"/>
              <a:buNone/>
            </a:pPr>
            <a:r>
              <a:rPr lang="en-US" sz="2100" b="1" i="0" u="none" strike="noStrike" cap="none">
                <a:solidFill>
                  <a:srgbClr val="B2966D"/>
                </a:solidFill>
                <a:latin typeface="Arial"/>
                <a:ea typeface="Arial"/>
                <a:cs typeface="Arial"/>
                <a:sym typeface="Arial"/>
              </a:rPr>
              <a:t>03</a:t>
            </a:r>
            <a:endParaRPr sz="1400" b="0" i="0" u="none" strike="noStrike" cap="none">
              <a:solidFill>
                <a:srgbClr val="000000"/>
              </a:solidFill>
              <a:latin typeface="Arial"/>
              <a:ea typeface="Arial"/>
              <a:cs typeface="Arial"/>
              <a:sym typeface="Arial"/>
            </a:endParaRPr>
          </a:p>
        </p:txBody>
      </p:sp>
      <p:sp>
        <p:nvSpPr>
          <p:cNvPr id="74" name="Google Shape;74;p2"/>
          <p:cNvSpPr/>
          <p:nvPr/>
        </p:nvSpPr>
        <p:spPr>
          <a:xfrm>
            <a:off x="8324850" y="3000375"/>
            <a:ext cx="2952750" cy="9525"/>
          </a:xfrm>
          <a:prstGeom prst="rect">
            <a:avLst/>
          </a:prstGeom>
          <a:solidFill>
            <a:srgbClr val="D8DD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 name="Google Shape;75;p2"/>
          <p:cNvSpPr/>
          <p:nvPr/>
        </p:nvSpPr>
        <p:spPr>
          <a:xfrm>
            <a:off x="8324850" y="3200400"/>
            <a:ext cx="295275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1950"/>
              <a:buFont typeface="Arial"/>
              <a:buNone/>
            </a:pPr>
            <a:r>
              <a:rPr lang="en-US" sz="1950" b="1" i="0" u="none" strike="noStrike" cap="none">
                <a:solidFill>
                  <a:srgbClr val="293B35"/>
                </a:solidFill>
                <a:latin typeface="Arial"/>
                <a:ea typeface="Arial"/>
                <a:cs typeface="Arial"/>
                <a:sym typeface="Arial"/>
              </a:rPr>
              <a:t>¿Qué queda fuera?</a:t>
            </a:r>
            <a:endParaRPr sz="1400" b="0" i="0" u="none" strike="noStrike" cap="none">
              <a:solidFill>
                <a:srgbClr val="000000"/>
              </a:solidFill>
              <a:latin typeface="Arial"/>
              <a:ea typeface="Arial"/>
              <a:cs typeface="Arial"/>
              <a:sym typeface="Arial"/>
            </a:endParaRPr>
          </a:p>
        </p:txBody>
      </p:sp>
      <p:sp>
        <p:nvSpPr>
          <p:cNvPr id="76" name="Google Shape;76;p2"/>
          <p:cNvSpPr/>
          <p:nvPr/>
        </p:nvSpPr>
        <p:spPr>
          <a:xfrm>
            <a:off x="628650" y="1209675"/>
            <a:ext cx="609600" cy="28575"/>
          </a:xfrm>
          <a:prstGeom prst="rect">
            <a:avLst/>
          </a:prstGeom>
          <a:solidFill>
            <a:srgbClr val="B2966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81"/>
        <p:cNvGrpSpPr/>
        <p:nvPr/>
      </p:nvGrpSpPr>
      <p:grpSpPr>
        <a:xfrm>
          <a:off x="0" y="0"/>
          <a:ext cx="0" cy="0"/>
          <a:chOff x="0" y="0"/>
          <a:chExt cx="0" cy="0"/>
        </a:xfrm>
      </p:grpSpPr>
      <p:sp>
        <p:nvSpPr>
          <p:cNvPr id="82" name="Google Shape;82;p3"/>
          <p:cNvSpPr/>
          <p:nvPr/>
        </p:nvSpPr>
        <p:spPr>
          <a:xfrm>
            <a:off x="628650" y="428625"/>
            <a:ext cx="10934700" cy="76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3300"/>
              <a:buFont typeface="Arial"/>
              <a:buNone/>
            </a:pPr>
            <a:r>
              <a:rPr lang="en-US" sz="3300" b="1" i="0" u="none" strike="noStrike" cap="none">
                <a:solidFill>
                  <a:srgbClr val="293B35"/>
                </a:solidFill>
                <a:latin typeface="Arial"/>
                <a:ea typeface="Arial"/>
                <a:cs typeface="Arial"/>
                <a:sym typeface="Arial"/>
              </a:rPr>
              <a:t>¿Cómo está construido RollerApp?</a:t>
            </a:r>
            <a:endParaRPr sz="1400" b="0" i="0" u="none" strike="noStrike" cap="none">
              <a:solidFill>
                <a:srgbClr val="000000"/>
              </a:solidFill>
              <a:latin typeface="Arial"/>
              <a:ea typeface="Arial"/>
              <a:cs typeface="Arial"/>
              <a:sym typeface="Arial"/>
            </a:endParaRPr>
          </a:p>
        </p:txBody>
      </p:sp>
      <p:sp>
        <p:nvSpPr>
          <p:cNvPr id="83" name="Google Shape;83;p3"/>
          <p:cNvSpPr/>
          <p:nvPr/>
        </p:nvSpPr>
        <p:spPr>
          <a:xfrm>
            <a:off x="11210925" y="6419850"/>
            <a:ext cx="381000" cy="238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E8780"/>
              </a:buClr>
              <a:buSzPts val="1275"/>
              <a:buFont typeface="Arial"/>
              <a:buNone/>
            </a:pPr>
            <a:r>
              <a:rPr lang="en-US" sz="1275" b="0" i="0" u="none" strike="noStrike" cap="none">
                <a:solidFill>
                  <a:srgbClr val="7E8780"/>
                </a:solidFill>
                <a:latin typeface="Arial"/>
                <a:ea typeface="Arial"/>
                <a:cs typeface="Arial"/>
                <a:sym typeface="Arial"/>
              </a:rPr>
              <a:t>03</a:t>
            </a:r>
            <a:endParaRPr sz="1400" b="0" i="0" u="none" strike="noStrike" cap="none">
              <a:solidFill>
                <a:srgbClr val="000000"/>
              </a:solidFill>
              <a:latin typeface="Arial"/>
              <a:ea typeface="Arial"/>
              <a:cs typeface="Arial"/>
              <a:sym typeface="Arial"/>
            </a:endParaRPr>
          </a:p>
        </p:txBody>
      </p:sp>
      <p:sp>
        <p:nvSpPr>
          <p:cNvPr id="84" name="Google Shape;84;p3"/>
          <p:cNvSpPr/>
          <p:nvPr/>
        </p:nvSpPr>
        <p:spPr>
          <a:xfrm>
            <a:off x="628650" y="2190750"/>
            <a:ext cx="3486150" cy="3238500"/>
          </a:xfrm>
          <a:prstGeom prst="roundRect">
            <a:avLst>
              <a:gd name="adj" fmla="val 4118"/>
            </a:avLst>
          </a:prstGeom>
          <a:solidFill>
            <a:srgbClr val="FFFDFC"/>
          </a:solidFill>
          <a:ln w="11425" cap="flat" cmpd="sng">
            <a:solidFill>
              <a:srgbClr val="C8D1C7"/>
            </a:solidFill>
            <a:prstDash val="solid"/>
            <a:round/>
            <a:headEnd type="none" w="sm" len="sm"/>
            <a:tailEnd type="none" w="sm" len="sm"/>
          </a:ln>
          <a:effectLst>
            <a:outerShdw blurRad="266700" dist="95250" dir="5400000">
              <a:srgbClr val="000000">
                <a:alpha val="23922"/>
              </a:srgbClr>
            </a:outerShdw>
          </a:effectLst>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293B35"/>
              </a:buClr>
              <a:buSzPts val="2250"/>
              <a:buFont typeface="Arial"/>
              <a:buNone/>
            </a:pPr>
            <a:endParaRPr sz="2250" b="1" i="0" u="none" strike="noStrike" cap="none">
              <a:solidFill>
                <a:srgbClr val="52D4E8"/>
              </a:solidFill>
              <a:latin typeface="Arial"/>
              <a:ea typeface="Arial"/>
              <a:cs typeface="Arial"/>
              <a:sym typeface="Arial"/>
            </a:endParaRPr>
          </a:p>
        </p:txBody>
      </p:sp>
      <p:sp>
        <p:nvSpPr>
          <p:cNvPr id="85" name="Google Shape;85;p3"/>
          <p:cNvSpPr/>
          <p:nvPr/>
        </p:nvSpPr>
        <p:spPr>
          <a:xfrm>
            <a:off x="895350" y="3752850"/>
            <a:ext cx="2952750" cy="144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C5750"/>
              </a:buClr>
              <a:buSzPts val="1725"/>
              <a:buFont typeface="Arial"/>
              <a:buNone/>
            </a:pPr>
            <a:r>
              <a:rPr lang="en-US" sz="1725" b="0" i="0" u="none" strike="noStrike" cap="none">
                <a:solidFill>
                  <a:srgbClr val="4C5750"/>
                </a:solidFill>
                <a:latin typeface="Arial"/>
                <a:ea typeface="Arial"/>
                <a:cs typeface="Arial"/>
                <a:sym typeface="Arial"/>
              </a:rPr>
              <a:t>Spring Boot procesa solicitudes y reglas; MySQL almacena la información y JPA conecta ambos.</a:t>
            </a:r>
            <a:endParaRPr sz="1950" b="0" i="0" u="none" strike="noStrike" cap="none">
              <a:solidFill>
                <a:srgbClr val="D6E1EE"/>
              </a:solidFill>
              <a:latin typeface="Arial"/>
              <a:ea typeface="Arial"/>
              <a:cs typeface="Arial"/>
              <a:sym typeface="Arial"/>
            </a:endParaRPr>
          </a:p>
        </p:txBody>
      </p:sp>
      <p:sp>
        <p:nvSpPr>
          <p:cNvPr id="86" name="Google Shape;86;p3"/>
          <p:cNvSpPr/>
          <p:nvPr/>
        </p:nvSpPr>
        <p:spPr>
          <a:xfrm>
            <a:off x="4343400" y="2190750"/>
            <a:ext cx="3486150" cy="3238500"/>
          </a:xfrm>
          <a:prstGeom prst="roundRect">
            <a:avLst>
              <a:gd name="adj" fmla="val 4118"/>
            </a:avLst>
          </a:prstGeom>
          <a:solidFill>
            <a:srgbClr val="FFFDFC"/>
          </a:solidFill>
          <a:ln w="11425" cap="flat" cmpd="sng">
            <a:solidFill>
              <a:srgbClr val="C8D1C7"/>
            </a:solidFill>
            <a:prstDash val="solid"/>
            <a:round/>
            <a:headEnd type="none" w="sm" len="sm"/>
            <a:tailEnd type="none" w="sm" len="sm"/>
          </a:ln>
          <a:effectLst>
            <a:outerShdw blurRad="266700" dist="95250" dir="5400000">
              <a:srgbClr val="000000">
                <a:alpha val="23922"/>
              </a:srgbClr>
            </a:outerShdw>
          </a:effectLst>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293B35"/>
              </a:buClr>
              <a:buSzPts val="2250"/>
              <a:buFont typeface="Arial"/>
              <a:buNone/>
            </a:pPr>
            <a:endParaRPr sz="2250" b="1" i="0" u="none" strike="noStrike" cap="none">
              <a:solidFill>
                <a:srgbClr val="52D4E8"/>
              </a:solidFill>
              <a:latin typeface="Arial"/>
              <a:ea typeface="Arial"/>
              <a:cs typeface="Arial"/>
              <a:sym typeface="Arial"/>
            </a:endParaRPr>
          </a:p>
        </p:txBody>
      </p:sp>
      <p:sp>
        <p:nvSpPr>
          <p:cNvPr id="87" name="Google Shape;87;p3"/>
          <p:cNvSpPr/>
          <p:nvPr/>
        </p:nvSpPr>
        <p:spPr>
          <a:xfrm>
            <a:off x="4610100" y="3752850"/>
            <a:ext cx="2952750" cy="144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C5750"/>
              </a:buClr>
              <a:buSzPts val="1725"/>
              <a:buFont typeface="Arial"/>
              <a:buNone/>
            </a:pPr>
            <a:r>
              <a:rPr lang="en-US" sz="1725" b="0" i="0" u="none" strike="noStrike" cap="none">
                <a:solidFill>
                  <a:srgbClr val="4C5750"/>
                </a:solidFill>
                <a:latin typeface="Arial"/>
                <a:ea typeface="Arial"/>
                <a:cs typeface="Arial"/>
                <a:sym typeface="Arial"/>
              </a:rPr>
              <a:t>Ionic y Angular permiten ofrecer funciones móviles distintas para clientes y técnicos.</a:t>
            </a:r>
            <a:endParaRPr sz="1950" b="0" i="0" u="none" strike="noStrike" cap="none">
              <a:solidFill>
                <a:srgbClr val="D6E1EE"/>
              </a:solidFill>
              <a:latin typeface="Arial"/>
              <a:ea typeface="Arial"/>
              <a:cs typeface="Arial"/>
              <a:sym typeface="Arial"/>
            </a:endParaRPr>
          </a:p>
        </p:txBody>
      </p:sp>
      <p:sp>
        <p:nvSpPr>
          <p:cNvPr id="88" name="Google Shape;88;p3"/>
          <p:cNvSpPr/>
          <p:nvPr/>
        </p:nvSpPr>
        <p:spPr>
          <a:xfrm>
            <a:off x="8058150" y="2190750"/>
            <a:ext cx="3486150" cy="3238500"/>
          </a:xfrm>
          <a:prstGeom prst="roundRect">
            <a:avLst>
              <a:gd name="adj" fmla="val 4118"/>
            </a:avLst>
          </a:prstGeom>
          <a:solidFill>
            <a:srgbClr val="FFFDFC"/>
          </a:solidFill>
          <a:ln w="11425" cap="flat" cmpd="sng">
            <a:solidFill>
              <a:srgbClr val="C8D1C7"/>
            </a:solidFill>
            <a:prstDash val="solid"/>
            <a:round/>
            <a:headEnd type="none" w="sm" len="sm"/>
            <a:tailEnd type="none" w="sm" len="sm"/>
          </a:ln>
          <a:effectLst>
            <a:outerShdw blurRad="266700" dist="95250" dir="5400000">
              <a:srgbClr val="000000">
                <a:alpha val="23922"/>
              </a:srgbClr>
            </a:outerShdw>
          </a:effectLst>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293B35"/>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 name="Google Shape;89;p3"/>
          <p:cNvSpPr/>
          <p:nvPr/>
        </p:nvSpPr>
        <p:spPr>
          <a:xfrm>
            <a:off x="8324850" y="3752850"/>
            <a:ext cx="2952750" cy="1447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C5750"/>
              </a:buClr>
              <a:buSzPts val="1725"/>
              <a:buFont typeface="Arial"/>
              <a:buNone/>
            </a:pPr>
            <a:r>
              <a:rPr lang="en-US" sz="1725" b="0" i="0" u="none" strike="noStrike" cap="none">
                <a:solidFill>
                  <a:srgbClr val="4C5750"/>
                </a:solidFill>
                <a:latin typeface="Arial"/>
                <a:ea typeface="Arial"/>
                <a:cs typeface="Arial"/>
                <a:sym typeface="Arial"/>
              </a:rPr>
              <a:t>Primero completamos reservas y pagos: son claves para atender una solicitud de principio a fin.</a:t>
            </a:r>
            <a:endParaRPr sz="1950" b="0" i="0" u="none" strike="noStrike" cap="none">
              <a:solidFill>
                <a:srgbClr val="D6E1EE"/>
              </a:solidFill>
              <a:latin typeface="Arial"/>
              <a:ea typeface="Arial"/>
              <a:cs typeface="Arial"/>
              <a:sym typeface="Arial"/>
            </a:endParaRPr>
          </a:p>
        </p:txBody>
      </p:sp>
      <p:sp>
        <p:nvSpPr>
          <p:cNvPr id="90" name="Google Shape;90;p3"/>
          <p:cNvSpPr/>
          <p:nvPr/>
        </p:nvSpPr>
        <p:spPr>
          <a:xfrm>
            <a:off x="895350" y="2400300"/>
            <a:ext cx="590550" cy="3619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2966D"/>
              </a:buClr>
              <a:buSzPts val="2100"/>
              <a:buFont typeface="Arial"/>
              <a:buNone/>
            </a:pPr>
            <a:r>
              <a:rPr lang="en-US" sz="2100" b="1" i="0" u="none" strike="noStrike" cap="none">
                <a:solidFill>
                  <a:srgbClr val="B2966D"/>
                </a:solidFill>
                <a:latin typeface="Arial"/>
                <a:ea typeface="Arial"/>
                <a:cs typeface="Arial"/>
                <a:sym typeface="Arial"/>
              </a:rPr>
              <a:t>01</a:t>
            </a:r>
            <a:endParaRPr sz="1400" b="0" i="0" u="none" strike="noStrike" cap="none">
              <a:solidFill>
                <a:srgbClr val="000000"/>
              </a:solidFill>
              <a:latin typeface="Arial"/>
              <a:ea typeface="Arial"/>
              <a:cs typeface="Arial"/>
              <a:sym typeface="Arial"/>
            </a:endParaRPr>
          </a:p>
        </p:txBody>
      </p:sp>
      <p:sp>
        <p:nvSpPr>
          <p:cNvPr id="91" name="Google Shape;91;p3"/>
          <p:cNvSpPr/>
          <p:nvPr/>
        </p:nvSpPr>
        <p:spPr>
          <a:xfrm>
            <a:off x="895350" y="2809875"/>
            <a:ext cx="2952750" cy="9525"/>
          </a:xfrm>
          <a:prstGeom prst="rect">
            <a:avLst/>
          </a:prstGeom>
          <a:solidFill>
            <a:srgbClr val="D8DD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 name="Google Shape;92;p3"/>
          <p:cNvSpPr/>
          <p:nvPr/>
        </p:nvSpPr>
        <p:spPr>
          <a:xfrm>
            <a:off x="895350" y="3009900"/>
            <a:ext cx="295275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1950"/>
              <a:buFont typeface="Arial"/>
              <a:buNone/>
            </a:pPr>
            <a:r>
              <a:rPr lang="en-US" sz="1950" b="1" i="0" u="none" strike="noStrike" cap="none">
                <a:solidFill>
                  <a:srgbClr val="293B35"/>
                </a:solidFill>
                <a:latin typeface="Arial"/>
                <a:ea typeface="Arial"/>
                <a:cs typeface="Arial"/>
                <a:sym typeface="Arial"/>
              </a:rPr>
              <a:t>Servidor y datos</a:t>
            </a:r>
            <a:endParaRPr sz="1400" b="0" i="0" u="none" strike="noStrike" cap="none">
              <a:solidFill>
                <a:srgbClr val="000000"/>
              </a:solidFill>
              <a:latin typeface="Arial"/>
              <a:ea typeface="Arial"/>
              <a:cs typeface="Arial"/>
              <a:sym typeface="Arial"/>
            </a:endParaRPr>
          </a:p>
        </p:txBody>
      </p:sp>
      <p:sp>
        <p:nvSpPr>
          <p:cNvPr id="93" name="Google Shape;93;p3"/>
          <p:cNvSpPr/>
          <p:nvPr/>
        </p:nvSpPr>
        <p:spPr>
          <a:xfrm>
            <a:off x="4610100" y="2400300"/>
            <a:ext cx="590550" cy="3619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2966D"/>
              </a:buClr>
              <a:buSzPts val="2100"/>
              <a:buFont typeface="Arial"/>
              <a:buNone/>
            </a:pPr>
            <a:r>
              <a:rPr lang="en-US" sz="2100" b="1" i="0" u="none" strike="noStrike" cap="none">
                <a:solidFill>
                  <a:srgbClr val="B2966D"/>
                </a:solidFill>
                <a:latin typeface="Arial"/>
                <a:ea typeface="Arial"/>
                <a:cs typeface="Arial"/>
                <a:sym typeface="Arial"/>
              </a:rPr>
              <a:t>02</a:t>
            </a:r>
            <a:endParaRPr sz="1400" b="0" i="0" u="none" strike="noStrike" cap="none">
              <a:solidFill>
                <a:srgbClr val="000000"/>
              </a:solidFill>
              <a:latin typeface="Arial"/>
              <a:ea typeface="Arial"/>
              <a:cs typeface="Arial"/>
              <a:sym typeface="Arial"/>
            </a:endParaRPr>
          </a:p>
        </p:txBody>
      </p:sp>
      <p:sp>
        <p:nvSpPr>
          <p:cNvPr id="94" name="Google Shape;94;p3"/>
          <p:cNvSpPr/>
          <p:nvPr/>
        </p:nvSpPr>
        <p:spPr>
          <a:xfrm>
            <a:off x="4610100" y="2809875"/>
            <a:ext cx="2952750" cy="9525"/>
          </a:xfrm>
          <a:prstGeom prst="rect">
            <a:avLst/>
          </a:prstGeom>
          <a:solidFill>
            <a:srgbClr val="D8DD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 name="Google Shape;95;p3"/>
          <p:cNvSpPr/>
          <p:nvPr/>
        </p:nvSpPr>
        <p:spPr>
          <a:xfrm>
            <a:off x="4610100" y="3009900"/>
            <a:ext cx="295275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1950"/>
              <a:buFont typeface="Arial"/>
              <a:buNone/>
            </a:pPr>
            <a:r>
              <a:rPr lang="en-US" sz="1950" b="1" i="0" u="none" strike="noStrike" cap="none">
                <a:solidFill>
                  <a:srgbClr val="293B35"/>
                </a:solidFill>
                <a:latin typeface="Arial"/>
                <a:ea typeface="Arial"/>
                <a:cs typeface="Arial"/>
                <a:sym typeface="Arial"/>
              </a:rPr>
              <a:t>Aplicación para celulares</a:t>
            </a:r>
            <a:endParaRPr sz="1400" b="0" i="0" u="none" strike="noStrike" cap="none">
              <a:solidFill>
                <a:srgbClr val="000000"/>
              </a:solidFill>
              <a:latin typeface="Arial"/>
              <a:ea typeface="Arial"/>
              <a:cs typeface="Arial"/>
              <a:sym typeface="Arial"/>
            </a:endParaRPr>
          </a:p>
        </p:txBody>
      </p:sp>
      <p:sp>
        <p:nvSpPr>
          <p:cNvPr id="96" name="Google Shape;96;p3"/>
          <p:cNvSpPr/>
          <p:nvPr/>
        </p:nvSpPr>
        <p:spPr>
          <a:xfrm>
            <a:off x="8324850" y="2400300"/>
            <a:ext cx="590550" cy="3619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2966D"/>
              </a:buClr>
              <a:buSzPts val="2100"/>
              <a:buFont typeface="Arial"/>
              <a:buNone/>
            </a:pPr>
            <a:r>
              <a:rPr lang="en-US" sz="2100" b="1" i="0" u="none" strike="noStrike" cap="none">
                <a:solidFill>
                  <a:srgbClr val="B2966D"/>
                </a:solidFill>
                <a:latin typeface="Arial"/>
                <a:ea typeface="Arial"/>
                <a:cs typeface="Arial"/>
                <a:sym typeface="Arial"/>
              </a:rPr>
              <a:t>03</a:t>
            </a:r>
            <a:endParaRPr sz="1400" b="0" i="0" u="none" strike="noStrike" cap="none">
              <a:solidFill>
                <a:srgbClr val="000000"/>
              </a:solidFill>
              <a:latin typeface="Arial"/>
              <a:ea typeface="Arial"/>
              <a:cs typeface="Arial"/>
              <a:sym typeface="Arial"/>
            </a:endParaRPr>
          </a:p>
        </p:txBody>
      </p:sp>
      <p:sp>
        <p:nvSpPr>
          <p:cNvPr id="97" name="Google Shape;97;p3"/>
          <p:cNvSpPr/>
          <p:nvPr/>
        </p:nvSpPr>
        <p:spPr>
          <a:xfrm>
            <a:off x="8324850" y="2809875"/>
            <a:ext cx="2952750" cy="9525"/>
          </a:xfrm>
          <a:prstGeom prst="rect">
            <a:avLst/>
          </a:prstGeom>
          <a:solidFill>
            <a:srgbClr val="D8DD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8" name="Google Shape;98;p3"/>
          <p:cNvSpPr/>
          <p:nvPr/>
        </p:nvSpPr>
        <p:spPr>
          <a:xfrm>
            <a:off x="8324850" y="3009900"/>
            <a:ext cx="295275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1950"/>
              <a:buFont typeface="Arial"/>
              <a:buNone/>
            </a:pPr>
            <a:r>
              <a:rPr lang="en-US" sz="1950" b="1" i="0" u="none" strike="noStrike" cap="none">
                <a:solidFill>
                  <a:srgbClr val="293B35"/>
                </a:solidFill>
                <a:latin typeface="Arial"/>
                <a:ea typeface="Arial"/>
                <a:cs typeface="Arial"/>
                <a:sym typeface="Arial"/>
              </a:rPr>
              <a:t>Prioridades del equipo</a:t>
            </a:r>
            <a:endParaRPr sz="1400" b="0" i="0" u="none" strike="noStrike" cap="none">
              <a:solidFill>
                <a:srgbClr val="000000"/>
              </a:solidFill>
              <a:latin typeface="Arial"/>
              <a:ea typeface="Arial"/>
              <a:cs typeface="Arial"/>
              <a:sym typeface="Arial"/>
            </a:endParaRPr>
          </a:p>
        </p:txBody>
      </p:sp>
      <p:sp>
        <p:nvSpPr>
          <p:cNvPr id="99" name="Google Shape;99;p3"/>
          <p:cNvSpPr/>
          <p:nvPr/>
        </p:nvSpPr>
        <p:spPr>
          <a:xfrm>
            <a:off x="628650" y="1209675"/>
            <a:ext cx="609600" cy="28575"/>
          </a:xfrm>
          <a:prstGeom prst="rect">
            <a:avLst/>
          </a:prstGeom>
          <a:solidFill>
            <a:srgbClr val="B2966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104"/>
        <p:cNvGrpSpPr/>
        <p:nvPr/>
      </p:nvGrpSpPr>
      <p:grpSpPr>
        <a:xfrm>
          <a:off x="0" y="0"/>
          <a:ext cx="0" cy="0"/>
          <a:chOff x="0" y="0"/>
          <a:chExt cx="0" cy="0"/>
        </a:xfrm>
      </p:grpSpPr>
      <p:sp>
        <p:nvSpPr>
          <p:cNvPr id="105" name="Google Shape;105;p4"/>
          <p:cNvSpPr/>
          <p:nvPr/>
        </p:nvSpPr>
        <p:spPr>
          <a:xfrm>
            <a:off x="628650" y="428625"/>
            <a:ext cx="10934700" cy="76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3300"/>
              <a:buFont typeface="Arial"/>
              <a:buNone/>
            </a:pPr>
            <a:r>
              <a:rPr lang="en-US" sz="3300" b="1" i="0" u="none" strike="noStrike" cap="none">
                <a:solidFill>
                  <a:srgbClr val="293B35"/>
                </a:solidFill>
                <a:latin typeface="Arial"/>
                <a:ea typeface="Arial"/>
                <a:cs typeface="Arial"/>
                <a:sym typeface="Arial"/>
              </a:rPr>
              <a:t>Webpay Plus: avances y pruebas pendientes</a:t>
            </a:r>
            <a:endParaRPr sz="1400" b="0" i="0" u="none" strike="noStrike" cap="none">
              <a:solidFill>
                <a:srgbClr val="000000"/>
              </a:solidFill>
              <a:latin typeface="Arial"/>
              <a:ea typeface="Arial"/>
              <a:cs typeface="Arial"/>
              <a:sym typeface="Arial"/>
            </a:endParaRPr>
          </a:p>
        </p:txBody>
      </p:sp>
      <p:sp>
        <p:nvSpPr>
          <p:cNvPr id="106" name="Google Shape;106;p4"/>
          <p:cNvSpPr/>
          <p:nvPr/>
        </p:nvSpPr>
        <p:spPr>
          <a:xfrm>
            <a:off x="11210925" y="6419850"/>
            <a:ext cx="381000" cy="238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E8780"/>
              </a:buClr>
              <a:buSzPts val="1275"/>
              <a:buFont typeface="Arial"/>
              <a:buNone/>
            </a:pPr>
            <a:r>
              <a:rPr lang="en-US" sz="1275" b="0" i="0" u="none" strike="noStrike" cap="none">
                <a:solidFill>
                  <a:srgbClr val="7E8780"/>
                </a:solidFill>
                <a:latin typeface="Arial"/>
                <a:ea typeface="Arial"/>
                <a:cs typeface="Arial"/>
                <a:sym typeface="Arial"/>
              </a:rPr>
              <a:t>04</a:t>
            </a:r>
            <a:endParaRPr sz="1400" b="0" i="0" u="none" strike="noStrike" cap="none">
              <a:solidFill>
                <a:srgbClr val="000000"/>
              </a:solidFill>
              <a:latin typeface="Arial"/>
              <a:ea typeface="Arial"/>
              <a:cs typeface="Arial"/>
              <a:sym typeface="Arial"/>
            </a:endParaRPr>
          </a:p>
        </p:txBody>
      </p:sp>
      <p:sp>
        <p:nvSpPr>
          <p:cNvPr id="107" name="Google Shape;107;p4"/>
          <p:cNvSpPr/>
          <p:nvPr/>
        </p:nvSpPr>
        <p:spPr>
          <a:xfrm>
            <a:off x="628650" y="2647950"/>
            <a:ext cx="3486150" cy="3390900"/>
          </a:xfrm>
          <a:prstGeom prst="roundRect">
            <a:avLst>
              <a:gd name="adj" fmla="val 3933"/>
            </a:avLst>
          </a:prstGeom>
          <a:solidFill>
            <a:srgbClr val="FFFDFC"/>
          </a:solidFill>
          <a:ln w="11425" cap="flat" cmpd="sng">
            <a:solidFill>
              <a:srgbClr val="C8D1C7"/>
            </a:solidFill>
            <a:prstDash val="solid"/>
            <a:round/>
            <a:headEnd type="none" w="sm" len="sm"/>
            <a:tailEnd type="none" w="sm" len="sm"/>
          </a:ln>
          <a:effectLst>
            <a:outerShdw blurRad="266700" dist="95250" dir="5400000">
              <a:srgbClr val="000000">
                <a:alpha val="23922"/>
              </a:srgbClr>
            </a:outerShdw>
          </a:effectLst>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293B35"/>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8" name="Google Shape;108;p4"/>
          <p:cNvSpPr/>
          <p:nvPr/>
        </p:nvSpPr>
        <p:spPr>
          <a:xfrm>
            <a:off x="895350" y="4210050"/>
            <a:ext cx="2952750" cy="16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C5750"/>
              </a:buClr>
              <a:buSzPts val="1725"/>
              <a:buFont typeface="Arial"/>
              <a:buNone/>
            </a:pPr>
            <a:r>
              <a:rPr lang="en-US" sz="1725" b="0" i="0" u="none" strike="noStrike" cap="none">
                <a:solidFill>
                  <a:srgbClr val="4C5750"/>
                </a:solidFill>
                <a:latin typeface="Arial"/>
                <a:ea typeface="Arial"/>
                <a:cs typeface="Arial"/>
                <a:sym typeface="Arial"/>
              </a:rPr>
              <a:t>Se implementaron los servicios para iniciar pagos y procesar las respuestas de Webpay.</a:t>
            </a:r>
            <a:endParaRPr sz="1400" b="0" i="0" u="none" strike="noStrike" cap="none">
              <a:solidFill>
                <a:srgbClr val="000000"/>
              </a:solidFill>
              <a:latin typeface="Arial"/>
              <a:ea typeface="Arial"/>
              <a:cs typeface="Arial"/>
              <a:sym typeface="Arial"/>
            </a:endParaRPr>
          </a:p>
        </p:txBody>
      </p:sp>
      <p:sp>
        <p:nvSpPr>
          <p:cNvPr id="109" name="Google Shape;109;p4"/>
          <p:cNvSpPr/>
          <p:nvPr/>
        </p:nvSpPr>
        <p:spPr>
          <a:xfrm>
            <a:off x="4343400" y="2647950"/>
            <a:ext cx="3486150" cy="3390900"/>
          </a:xfrm>
          <a:prstGeom prst="roundRect">
            <a:avLst>
              <a:gd name="adj" fmla="val 3933"/>
            </a:avLst>
          </a:prstGeom>
          <a:solidFill>
            <a:srgbClr val="FFFDFC"/>
          </a:solidFill>
          <a:ln w="11425" cap="flat" cmpd="sng">
            <a:solidFill>
              <a:srgbClr val="C8D1C7"/>
            </a:solidFill>
            <a:prstDash val="solid"/>
            <a:round/>
            <a:headEnd type="none" w="sm" len="sm"/>
            <a:tailEnd type="none" w="sm" len="sm"/>
          </a:ln>
          <a:effectLst>
            <a:outerShdw blurRad="266700" dist="95250" dir="5400000">
              <a:srgbClr val="000000">
                <a:alpha val="23922"/>
              </a:srgbClr>
            </a:outerShdw>
          </a:effectLst>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293B35"/>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 name="Google Shape;110;p4"/>
          <p:cNvSpPr/>
          <p:nvPr/>
        </p:nvSpPr>
        <p:spPr>
          <a:xfrm>
            <a:off x="4610100" y="4210050"/>
            <a:ext cx="2952750" cy="16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C5750"/>
              </a:buClr>
              <a:buSzPts val="1725"/>
              <a:buFont typeface="Arial"/>
              <a:buNone/>
            </a:pPr>
            <a:r>
              <a:rPr lang="en-US" sz="1725" b="0" i="0" u="none" strike="noStrike" cap="none">
                <a:solidFill>
                  <a:srgbClr val="4C5750"/>
                </a:solidFill>
                <a:latin typeface="Arial"/>
                <a:ea typeface="Arial"/>
                <a:cs typeface="Arial"/>
                <a:sym typeface="Arial"/>
              </a:rPr>
              <a:t>Probar pagos aprobados, rechazados, anulados y vencidos; verificar sus efectos.</a:t>
            </a:r>
            <a:endParaRPr sz="1400" b="0" i="0" u="none" strike="noStrike" cap="none">
              <a:solidFill>
                <a:srgbClr val="000000"/>
              </a:solidFill>
              <a:latin typeface="Arial"/>
              <a:ea typeface="Arial"/>
              <a:cs typeface="Arial"/>
              <a:sym typeface="Arial"/>
            </a:endParaRPr>
          </a:p>
        </p:txBody>
      </p:sp>
      <p:sp>
        <p:nvSpPr>
          <p:cNvPr id="111" name="Google Shape;111;p4"/>
          <p:cNvSpPr/>
          <p:nvPr/>
        </p:nvSpPr>
        <p:spPr>
          <a:xfrm>
            <a:off x="8058150" y="2647950"/>
            <a:ext cx="3486150" cy="3390900"/>
          </a:xfrm>
          <a:prstGeom prst="roundRect">
            <a:avLst>
              <a:gd name="adj" fmla="val 3933"/>
            </a:avLst>
          </a:prstGeom>
          <a:solidFill>
            <a:srgbClr val="FFFDFC"/>
          </a:solidFill>
          <a:ln w="11425" cap="flat" cmpd="sng">
            <a:solidFill>
              <a:srgbClr val="C8D1C7"/>
            </a:solidFill>
            <a:prstDash val="solid"/>
            <a:round/>
            <a:headEnd type="none" w="sm" len="sm"/>
            <a:tailEnd type="none" w="sm" len="sm"/>
          </a:ln>
          <a:effectLst>
            <a:outerShdw blurRad="266700" dist="95250" dir="5400000">
              <a:srgbClr val="000000">
                <a:alpha val="23922"/>
              </a:srgbClr>
            </a:outerShdw>
          </a:effectLst>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293B35"/>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 name="Google Shape;112;p4"/>
          <p:cNvSpPr/>
          <p:nvPr/>
        </p:nvSpPr>
        <p:spPr>
          <a:xfrm>
            <a:off x="8324850" y="4210050"/>
            <a:ext cx="2952750" cy="16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C5750"/>
              </a:buClr>
              <a:buSzPts val="1725"/>
              <a:buFont typeface="Arial"/>
              <a:buNone/>
            </a:pPr>
            <a:r>
              <a:rPr lang="en-US" sz="1725" b="0" i="0" u="none" strike="noStrike" cap="none">
                <a:solidFill>
                  <a:srgbClr val="4C5750"/>
                </a:solidFill>
                <a:latin typeface="Arial"/>
                <a:ea typeface="Arial"/>
                <a:cs typeface="Arial"/>
                <a:sym typeface="Arial"/>
              </a:rPr>
              <a:t>Registrar cada resultado y comprobar que el pedido y la reserva se actualicen sin duplicados.</a:t>
            </a:r>
            <a:endParaRPr sz="1400" b="0" i="0" u="none" strike="noStrike" cap="none">
              <a:solidFill>
                <a:srgbClr val="000000"/>
              </a:solidFill>
              <a:latin typeface="Arial"/>
              <a:ea typeface="Arial"/>
              <a:cs typeface="Arial"/>
              <a:sym typeface="Arial"/>
            </a:endParaRPr>
          </a:p>
        </p:txBody>
      </p:sp>
      <p:sp>
        <p:nvSpPr>
          <p:cNvPr id="113" name="Google Shape;113;p4"/>
          <p:cNvSpPr/>
          <p:nvPr/>
        </p:nvSpPr>
        <p:spPr>
          <a:xfrm>
            <a:off x="895350" y="2857500"/>
            <a:ext cx="590550" cy="3619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2966D"/>
              </a:buClr>
              <a:buSzPts val="2100"/>
              <a:buFont typeface="Arial"/>
              <a:buNone/>
            </a:pPr>
            <a:r>
              <a:rPr lang="en-US" sz="2100" b="1" i="0" u="none" strike="noStrike" cap="none">
                <a:solidFill>
                  <a:srgbClr val="B2966D"/>
                </a:solidFill>
                <a:latin typeface="Arial"/>
                <a:ea typeface="Arial"/>
                <a:cs typeface="Arial"/>
                <a:sym typeface="Arial"/>
              </a:rPr>
              <a:t>01</a:t>
            </a:r>
            <a:endParaRPr sz="1400" b="0" i="0" u="none" strike="noStrike" cap="none">
              <a:solidFill>
                <a:srgbClr val="000000"/>
              </a:solidFill>
              <a:latin typeface="Arial"/>
              <a:ea typeface="Arial"/>
              <a:cs typeface="Arial"/>
              <a:sym typeface="Arial"/>
            </a:endParaRPr>
          </a:p>
        </p:txBody>
      </p:sp>
      <p:sp>
        <p:nvSpPr>
          <p:cNvPr id="114" name="Google Shape;114;p4"/>
          <p:cNvSpPr/>
          <p:nvPr/>
        </p:nvSpPr>
        <p:spPr>
          <a:xfrm>
            <a:off x="895350" y="3267075"/>
            <a:ext cx="2952750" cy="9525"/>
          </a:xfrm>
          <a:prstGeom prst="rect">
            <a:avLst/>
          </a:prstGeom>
          <a:solidFill>
            <a:srgbClr val="D8DD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5" name="Google Shape;115;p4"/>
          <p:cNvSpPr/>
          <p:nvPr/>
        </p:nvSpPr>
        <p:spPr>
          <a:xfrm>
            <a:off x="895350" y="3467100"/>
            <a:ext cx="295275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1950"/>
              <a:buFont typeface="Arial"/>
              <a:buNone/>
            </a:pPr>
            <a:r>
              <a:rPr lang="en-US" sz="1950" b="1" i="0" u="none" strike="noStrike" cap="none">
                <a:solidFill>
                  <a:srgbClr val="293B35"/>
                </a:solidFill>
                <a:latin typeface="Arial"/>
                <a:ea typeface="Arial"/>
                <a:cs typeface="Arial"/>
                <a:sym typeface="Arial"/>
              </a:rPr>
              <a:t>¿Qué se desarrolló?</a:t>
            </a:r>
            <a:endParaRPr sz="1400" b="0" i="0" u="none" strike="noStrike" cap="none">
              <a:solidFill>
                <a:srgbClr val="000000"/>
              </a:solidFill>
              <a:latin typeface="Arial"/>
              <a:ea typeface="Arial"/>
              <a:cs typeface="Arial"/>
              <a:sym typeface="Arial"/>
            </a:endParaRPr>
          </a:p>
        </p:txBody>
      </p:sp>
      <p:sp>
        <p:nvSpPr>
          <p:cNvPr id="116" name="Google Shape;116;p4"/>
          <p:cNvSpPr/>
          <p:nvPr/>
        </p:nvSpPr>
        <p:spPr>
          <a:xfrm>
            <a:off x="4610100" y="2857500"/>
            <a:ext cx="590550" cy="3619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2966D"/>
              </a:buClr>
              <a:buSzPts val="2100"/>
              <a:buFont typeface="Arial"/>
              <a:buNone/>
            </a:pPr>
            <a:r>
              <a:rPr lang="en-US" sz="2100" b="1" i="0" u="none" strike="noStrike" cap="none">
                <a:solidFill>
                  <a:srgbClr val="B2966D"/>
                </a:solidFill>
                <a:latin typeface="Arial"/>
                <a:ea typeface="Arial"/>
                <a:cs typeface="Arial"/>
                <a:sym typeface="Arial"/>
              </a:rPr>
              <a:t>02</a:t>
            </a:r>
            <a:endParaRPr sz="1400" b="0" i="0" u="none" strike="noStrike" cap="none">
              <a:solidFill>
                <a:srgbClr val="000000"/>
              </a:solidFill>
              <a:latin typeface="Arial"/>
              <a:ea typeface="Arial"/>
              <a:cs typeface="Arial"/>
              <a:sym typeface="Arial"/>
            </a:endParaRPr>
          </a:p>
        </p:txBody>
      </p:sp>
      <p:sp>
        <p:nvSpPr>
          <p:cNvPr id="117" name="Google Shape;117;p4"/>
          <p:cNvSpPr/>
          <p:nvPr/>
        </p:nvSpPr>
        <p:spPr>
          <a:xfrm>
            <a:off x="4610100" y="3267075"/>
            <a:ext cx="2952750" cy="9525"/>
          </a:xfrm>
          <a:prstGeom prst="rect">
            <a:avLst/>
          </a:prstGeom>
          <a:solidFill>
            <a:srgbClr val="D8DD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8" name="Google Shape;118;p4"/>
          <p:cNvSpPr/>
          <p:nvPr/>
        </p:nvSpPr>
        <p:spPr>
          <a:xfrm>
            <a:off x="4610100" y="3467100"/>
            <a:ext cx="295275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1950"/>
              <a:buFont typeface="Arial"/>
              <a:buNone/>
            </a:pPr>
            <a:r>
              <a:rPr lang="en-US" sz="1950" b="1" i="0" u="none" strike="noStrike" cap="none">
                <a:solidFill>
                  <a:srgbClr val="293B35"/>
                </a:solidFill>
                <a:latin typeface="Arial"/>
                <a:ea typeface="Arial"/>
                <a:cs typeface="Arial"/>
                <a:sym typeface="Arial"/>
              </a:rPr>
              <a:t>¿Qué falta probar?</a:t>
            </a:r>
            <a:endParaRPr sz="1400" b="0" i="0" u="none" strike="noStrike" cap="none">
              <a:solidFill>
                <a:srgbClr val="000000"/>
              </a:solidFill>
              <a:latin typeface="Arial"/>
              <a:ea typeface="Arial"/>
              <a:cs typeface="Arial"/>
              <a:sym typeface="Arial"/>
            </a:endParaRPr>
          </a:p>
        </p:txBody>
      </p:sp>
      <p:sp>
        <p:nvSpPr>
          <p:cNvPr id="119" name="Google Shape;119;p4"/>
          <p:cNvSpPr/>
          <p:nvPr/>
        </p:nvSpPr>
        <p:spPr>
          <a:xfrm>
            <a:off x="8324850" y="2857500"/>
            <a:ext cx="590550" cy="3619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2966D"/>
              </a:buClr>
              <a:buSzPts val="2100"/>
              <a:buFont typeface="Arial"/>
              <a:buNone/>
            </a:pPr>
            <a:r>
              <a:rPr lang="en-US" sz="2100" b="1" i="0" u="none" strike="noStrike" cap="none">
                <a:solidFill>
                  <a:srgbClr val="B2966D"/>
                </a:solidFill>
                <a:latin typeface="Arial"/>
                <a:ea typeface="Arial"/>
                <a:cs typeface="Arial"/>
                <a:sym typeface="Arial"/>
              </a:rPr>
              <a:t>03</a:t>
            </a:r>
            <a:endParaRPr sz="1400" b="0" i="0" u="none" strike="noStrike" cap="none">
              <a:solidFill>
                <a:srgbClr val="000000"/>
              </a:solidFill>
              <a:latin typeface="Arial"/>
              <a:ea typeface="Arial"/>
              <a:cs typeface="Arial"/>
              <a:sym typeface="Arial"/>
            </a:endParaRPr>
          </a:p>
        </p:txBody>
      </p:sp>
      <p:sp>
        <p:nvSpPr>
          <p:cNvPr id="120" name="Google Shape;120;p4"/>
          <p:cNvSpPr/>
          <p:nvPr/>
        </p:nvSpPr>
        <p:spPr>
          <a:xfrm>
            <a:off x="8324850" y="3267075"/>
            <a:ext cx="2952750" cy="9525"/>
          </a:xfrm>
          <a:prstGeom prst="rect">
            <a:avLst/>
          </a:prstGeom>
          <a:solidFill>
            <a:srgbClr val="D8DD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1" name="Google Shape;121;p4"/>
          <p:cNvSpPr/>
          <p:nvPr/>
        </p:nvSpPr>
        <p:spPr>
          <a:xfrm>
            <a:off x="8324850" y="3467100"/>
            <a:ext cx="295275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1950"/>
              <a:buFont typeface="Arial"/>
              <a:buNone/>
            </a:pPr>
            <a:r>
              <a:rPr lang="en-US" sz="1950" b="1" i="0" u="none" strike="noStrike" cap="none">
                <a:solidFill>
                  <a:srgbClr val="293B35"/>
                </a:solidFill>
                <a:latin typeface="Arial"/>
                <a:ea typeface="Arial"/>
                <a:cs typeface="Arial"/>
                <a:sym typeface="Arial"/>
              </a:rPr>
              <a:t>¿Qué confirmará el cierre?</a:t>
            </a:r>
            <a:endParaRPr sz="1400" b="0" i="0" u="none" strike="noStrike" cap="none">
              <a:solidFill>
                <a:srgbClr val="000000"/>
              </a:solidFill>
              <a:latin typeface="Arial"/>
              <a:ea typeface="Arial"/>
              <a:cs typeface="Arial"/>
              <a:sym typeface="Arial"/>
            </a:endParaRPr>
          </a:p>
        </p:txBody>
      </p:sp>
      <p:sp>
        <p:nvSpPr>
          <p:cNvPr id="122" name="Google Shape;122;p4"/>
          <p:cNvSpPr/>
          <p:nvPr/>
        </p:nvSpPr>
        <p:spPr>
          <a:xfrm>
            <a:off x="628650" y="1209675"/>
            <a:ext cx="609600" cy="28575"/>
          </a:xfrm>
          <a:prstGeom prst="rect">
            <a:avLst/>
          </a:prstGeom>
          <a:solidFill>
            <a:srgbClr val="B2966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3" name="Google Shape;123;p4"/>
          <p:cNvSpPr/>
          <p:nvPr/>
        </p:nvSpPr>
        <p:spPr>
          <a:xfrm>
            <a:off x="628650" y="1496020"/>
            <a:ext cx="9628632" cy="6400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14B45"/>
              </a:buClr>
              <a:buSzPts val="1800"/>
              <a:buFont typeface="Arial"/>
              <a:buNone/>
            </a:pPr>
            <a:r>
              <a:rPr lang="en-US" sz="1650" b="0" i="0" u="none" strike="noStrike" cap="none">
                <a:solidFill>
                  <a:srgbClr val="414B45"/>
                </a:solidFill>
                <a:latin typeface="Arial"/>
                <a:ea typeface="Arial"/>
                <a:cs typeface="Arial"/>
                <a:sym typeface="Arial"/>
              </a:rPr>
              <a:t>El pago no está validado solo porque Webpay responda: RollerApp también debe actualizar correctamente el pedido y la reserva.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128"/>
        <p:cNvGrpSpPr/>
        <p:nvPr/>
      </p:nvGrpSpPr>
      <p:grpSpPr>
        <a:xfrm>
          <a:off x="0" y="0"/>
          <a:ext cx="0" cy="0"/>
          <a:chOff x="0" y="0"/>
          <a:chExt cx="0" cy="0"/>
        </a:xfrm>
      </p:grpSpPr>
      <p:sp>
        <p:nvSpPr>
          <p:cNvPr id="129" name="Google Shape;129;p5"/>
          <p:cNvSpPr/>
          <p:nvPr/>
        </p:nvSpPr>
        <p:spPr>
          <a:xfrm>
            <a:off x="0" y="0"/>
            <a:ext cx="12191695" cy="6858000"/>
          </a:xfrm>
          <a:prstGeom prst="rect">
            <a:avLst/>
          </a:prstGeom>
          <a:solidFill>
            <a:srgbClr val="F7F6F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0" name="Google Shape;130;p5"/>
          <p:cNvSpPr/>
          <p:nvPr/>
        </p:nvSpPr>
        <p:spPr>
          <a:xfrm>
            <a:off x="0" y="0"/>
            <a:ext cx="128016" cy="6858000"/>
          </a:xfrm>
          <a:prstGeom prst="rect">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1" name="Google Shape;131;p5"/>
          <p:cNvSpPr txBox="1"/>
          <p:nvPr/>
        </p:nvSpPr>
        <p:spPr>
          <a:xfrm>
            <a:off x="603504" y="329184"/>
            <a:ext cx="10972800" cy="5394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900" b="1" i="0" u="none" strike="noStrike" cap="none">
                <a:solidFill>
                  <a:srgbClr val="263B33"/>
                </a:solidFill>
                <a:latin typeface="Arial"/>
                <a:ea typeface="Arial"/>
                <a:cs typeface="Arial"/>
                <a:sym typeface="Arial"/>
              </a:rPr>
              <a:t>Módulos principales: avances y validaciones</a:t>
            </a:r>
            <a:endParaRPr/>
          </a:p>
        </p:txBody>
      </p:sp>
      <p:sp>
        <p:nvSpPr>
          <p:cNvPr id="132" name="Google Shape;132;p5"/>
          <p:cNvSpPr/>
          <p:nvPr/>
        </p:nvSpPr>
        <p:spPr>
          <a:xfrm>
            <a:off x="612648" y="1024128"/>
            <a:ext cx="603504" cy="32004"/>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3" name="Google Shape;133;p5"/>
          <p:cNvSpPr txBox="1"/>
          <p:nvPr/>
        </p:nvSpPr>
        <p:spPr>
          <a:xfrm>
            <a:off x="11301984" y="6483096"/>
            <a:ext cx="347472" cy="20116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1000" b="0" i="0" u="none" strike="noStrike" cap="none">
                <a:solidFill>
                  <a:srgbClr val="5A655F"/>
                </a:solidFill>
                <a:latin typeface="Arial"/>
                <a:ea typeface="Arial"/>
                <a:cs typeface="Arial"/>
                <a:sym typeface="Arial"/>
              </a:rPr>
              <a:t>05</a:t>
            </a:r>
            <a:endParaRPr/>
          </a:p>
        </p:txBody>
      </p:sp>
      <p:sp>
        <p:nvSpPr>
          <p:cNvPr id="134" name="Google Shape;134;p5"/>
          <p:cNvSpPr/>
          <p:nvPr/>
        </p:nvSpPr>
        <p:spPr>
          <a:xfrm>
            <a:off x="630936" y="1874519"/>
            <a:ext cx="3547872" cy="172821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5" name="Google Shape;135;p5"/>
          <p:cNvSpPr txBox="1"/>
          <p:nvPr/>
        </p:nvSpPr>
        <p:spPr>
          <a:xfrm>
            <a:off x="813815" y="2020824"/>
            <a:ext cx="3182112"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01 · CATÁLOGO</a:t>
            </a:r>
            <a:endParaRPr/>
          </a:p>
        </p:txBody>
      </p:sp>
      <p:sp>
        <p:nvSpPr>
          <p:cNvPr id="136" name="Google Shape;136;p5"/>
          <p:cNvSpPr txBox="1"/>
          <p:nvPr/>
        </p:nvSpPr>
        <p:spPr>
          <a:xfrm>
            <a:off x="813815" y="2304287"/>
            <a:ext cx="3182112"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Cotizaciones a medida</a:t>
            </a:r>
            <a:endParaRPr/>
          </a:p>
        </p:txBody>
      </p:sp>
      <p:sp>
        <p:nvSpPr>
          <p:cNvPr id="137" name="Google Shape;137;p5"/>
          <p:cNvSpPr txBox="1"/>
          <p:nvPr/>
        </p:nvSpPr>
        <p:spPr>
          <a:xfrm>
            <a:off x="813815" y="2743200"/>
            <a:ext cx="3182112" cy="1923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50" b="0" i="0" u="none" strike="noStrike" cap="none" dirty="0" err="1">
                <a:solidFill>
                  <a:srgbClr val="5A655F"/>
                </a:solidFill>
                <a:latin typeface="Arial"/>
                <a:ea typeface="Arial"/>
                <a:cs typeface="Arial"/>
                <a:sym typeface="Arial"/>
              </a:rPr>
              <a:t>Materiales</a:t>
            </a:r>
            <a:r>
              <a:rPr lang="en-US" sz="1250" b="0" i="0" u="none" strike="noStrike" cap="none" dirty="0">
                <a:solidFill>
                  <a:srgbClr val="5A655F"/>
                </a:solidFill>
                <a:latin typeface="Arial"/>
                <a:ea typeface="Arial"/>
                <a:cs typeface="Arial"/>
                <a:sym typeface="Arial"/>
              </a:rPr>
              <a:t> y </a:t>
            </a:r>
            <a:r>
              <a:rPr lang="en-US" sz="1250" b="0" i="0" u="none" strike="noStrike" cap="none" dirty="0" err="1">
                <a:solidFill>
                  <a:srgbClr val="5A655F"/>
                </a:solidFill>
                <a:latin typeface="Arial"/>
                <a:ea typeface="Arial"/>
                <a:cs typeface="Arial"/>
                <a:sym typeface="Arial"/>
              </a:rPr>
              <a:t>servicios</a:t>
            </a:r>
            <a:r>
              <a:rPr lang="en-US" sz="1250" b="0" i="0" u="none" strike="noStrike" cap="none" dirty="0">
                <a:solidFill>
                  <a:srgbClr val="5A655F"/>
                </a:solidFill>
                <a:latin typeface="Arial"/>
                <a:ea typeface="Arial"/>
                <a:cs typeface="Arial"/>
                <a:sym typeface="Arial"/>
              </a:rPr>
              <a:t> </a:t>
            </a:r>
            <a:r>
              <a:rPr lang="en-US" sz="1250" b="0" i="0" u="none" strike="noStrike" cap="none" dirty="0" err="1">
                <a:solidFill>
                  <a:srgbClr val="5A655F"/>
                </a:solidFill>
                <a:latin typeface="Arial"/>
                <a:ea typeface="Arial"/>
                <a:cs typeface="Arial"/>
                <a:sym typeface="Arial"/>
              </a:rPr>
              <a:t>disponibles</a:t>
            </a:r>
            <a:endParaRPr dirty="0"/>
          </a:p>
        </p:txBody>
      </p:sp>
      <p:sp>
        <p:nvSpPr>
          <p:cNvPr id="138" name="Google Shape;138;p5"/>
          <p:cNvSpPr/>
          <p:nvPr/>
        </p:nvSpPr>
        <p:spPr>
          <a:xfrm>
            <a:off x="813815" y="3182111"/>
            <a:ext cx="100584" cy="100584"/>
          </a:xfrm>
          <a:prstGeom prst="roundRect">
            <a:avLst>
              <a:gd name="adj" fmla="val 13000"/>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9" name="Google Shape;139;p5"/>
          <p:cNvSpPr txBox="1"/>
          <p:nvPr/>
        </p:nvSpPr>
        <p:spPr>
          <a:xfrm>
            <a:off x="987552" y="3145535"/>
            <a:ext cx="3026664"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263B33"/>
                </a:solidFill>
                <a:latin typeface="Arial"/>
                <a:ea typeface="Arial"/>
                <a:cs typeface="Arial"/>
                <a:sym typeface="Arial"/>
              </a:rPr>
              <a:t>Revisar</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precios</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medidas</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permitidas</a:t>
            </a:r>
            <a:r>
              <a:rPr lang="en-US" sz="1100" b="0" i="0" u="none" strike="noStrike" cap="none" dirty="0">
                <a:solidFill>
                  <a:srgbClr val="263B33"/>
                </a:solidFill>
                <a:latin typeface="Arial"/>
                <a:ea typeface="Arial"/>
                <a:cs typeface="Arial"/>
                <a:sym typeface="Arial"/>
              </a:rPr>
              <a:t> y </a:t>
            </a:r>
            <a:r>
              <a:rPr lang="en-US" sz="1100" b="0" i="0" u="none" strike="noStrike" cap="none" dirty="0" err="1">
                <a:solidFill>
                  <a:srgbClr val="263B33"/>
                </a:solidFill>
                <a:latin typeface="Arial"/>
                <a:ea typeface="Arial"/>
                <a:cs typeface="Arial"/>
                <a:sym typeface="Arial"/>
              </a:rPr>
              <a:t>guardado</a:t>
            </a:r>
            <a:endParaRPr dirty="0"/>
          </a:p>
        </p:txBody>
      </p:sp>
      <p:sp>
        <p:nvSpPr>
          <p:cNvPr id="140" name="Google Shape;140;p5"/>
          <p:cNvSpPr/>
          <p:nvPr/>
        </p:nvSpPr>
        <p:spPr>
          <a:xfrm>
            <a:off x="4407408" y="1874519"/>
            <a:ext cx="3547872" cy="172821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41" name="Google Shape;141;p5"/>
          <p:cNvSpPr txBox="1"/>
          <p:nvPr/>
        </p:nvSpPr>
        <p:spPr>
          <a:xfrm>
            <a:off x="4590288" y="2020824"/>
            <a:ext cx="3182112"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02 · SEGURIDAD</a:t>
            </a:r>
            <a:endParaRPr/>
          </a:p>
        </p:txBody>
      </p:sp>
      <p:sp>
        <p:nvSpPr>
          <p:cNvPr id="142" name="Google Shape;142;p5"/>
          <p:cNvSpPr txBox="1"/>
          <p:nvPr/>
        </p:nvSpPr>
        <p:spPr>
          <a:xfrm>
            <a:off x="4590288" y="2304287"/>
            <a:ext cx="3182112"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Acceso por tipo de usuario</a:t>
            </a:r>
            <a:endParaRPr/>
          </a:p>
        </p:txBody>
      </p:sp>
      <p:sp>
        <p:nvSpPr>
          <p:cNvPr id="143" name="Google Shape;143;p5"/>
          <p:cNvSpPr txBox="1"/>
          <p:nvPr/>
        </p:nvSpPr>
        <p:spPr>
          <a:xfrm>
            <a:off x="4590288" y="2743200"/>
            <a:ext cx="3182112" cy="1923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50" b="0" i="0" u="none" strike="noStrike" cap="none" dirty="0" err="1">
                <a:solidFill>
                  <a:srgbClr val="5A655F"/>
                </a:solidFill>
                <a:latin typeface="Arial"/>
                <a:ea typeface="Arial"/>
                <a:cs typeface="Arial"/>
                <a:sym typeface="Arial"/>
              </a:rPr>
              <a:t>Ingreso</a:t>
            </a:r>
            <a:r>
              <a:rPr lang="en-US" sz="1250" b="0" i="0" u="none" strike="noStrike" cap="none" dirty="0">
                <a:solidFill>
                  <a:srgbClr val="5A655F"/>
                </a:solidFill>
                <a:latin typeface="Arial"/>
                <a:ea typeface="Arial"/>
                <a:cs typeface="Arial"/>
                <a:sym typeface="Arial"/>
              </a:rPr>
              <a:t> </a:t>
            </a:r>
            <a:r>
              <a:rPr lang="en-US" sz="1250" b="0" i="0" u="none" strike="noStrike" cap="none" dirty="0" err="1">
                <a:solidFill>
                  <a:srgbClr val="5A655F"/>
                </a:solidFill>
                <a:latin typeface="Arial"/>
                <a:ea typeface="Arial"/>
                <a:cs typeface="Arial"/>
                <a:sym typeface="Arial"/>
              </a:rPr>
              <a:t>seguro</a:t>
            </a:r>
            <a:r>
              <a:rPr lang="en-US" sz="1250" b="0" i="0" u="none" strike="noStrike" cap="none" dirty="0">
                <a:solidFill>
                  <a:srgbClr val="5A655F"/>
                </a:solidFill>
                <a:latin typeface="Arial"/>
                <a:ea typeface="Arial"/>
                <a:cs typeface="Arial"/>
                <a:sym typeface="Arial"/>
              </a:rPr>
              <a:t> y </a:t>
            </a:r>
            <a:r>
              <a:rPr lang="en-US" sz="1250" b="0" i="0" u="none" strike="noStrike" cap="none" dirty="0" err="1">
                <a:solidFill>
                  <a:srgbClr val="5A655F"/>
                </a:solidFill>
                <a:latin typeface="Arial"/>
                <a:ea typeface="Arial"/>
                <a:cs typeface="Arial"/>
                <a:sym typeface="Arial"/>
              </a:rPr>
              <a:t>permisos</a:t>
            </a:r>
            <a:r>
              <a:rPr lang="en-US" sz="1250" b="0" i="0" u="none" strike="noStrike" cap="none" dirty="0">
                <a:solidFill>
                  <a:srgbClr val="5A655F"/>
                </a:solidFill>
                <a:latin typeface="Arial"/>
                <a:ea typeface="Arial"/>
                <a:cs typeface="Arial"/>
                <a:sym typeface="Arial"/>
              </a:rPr>
              <a:t> (JWT)</a:t>
            </a:r>
            <a:endParaRPr dirty="0"/>
          </a:p>
        </p:txBody>
      </p:sp>
      <p:sp>
        <p:nvSpPr>
          <p:cNvPr id="144" name="Google Shape;144;p5"/>
          <p:cNvSpPr/>
          <p:nvPr/>
        </p:nvSpPr>
        <p:spPr>
          <a:xfrm>
            <a:off x="4590288" y="3182111"/>
            <a:ext cx="100584" cy="100584"/>
          </a:xfrm>
          <a:prstGeom prst="roundRect">
            <a:avLst>
              <a:gd name="adj" fmla="val 13000"/>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45" name="Google Shape;145;p5"/>
          <p:cNvSpPr txBox="1"/>
          <p:nvPr/>
        </p:nvSpPr>
        <p:spPr>
          <a:xfrm>
            <a:off x="4764024" y="3145535"/>
            <a:ext cx="3026664"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263B33"/>
                </a:solidFill>
                <a:latin typeface="Arial"/>
                <a:ea typeface="Arial"/>
                <a:cs typeface="Arial"/>
                <a:sym typeface="Arial"/>
              </a:rPr>
              <a:t>Probar</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qué</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puede</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hacer</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cada</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usuario</a:t>
            </a:r>
            <a:endParaRPr dirty="0"/>
          </a:p>
        </p:txBody>
      </p:sp>
      <p:sp>
        <p:nvSpPr>
          <p:cNvPr id="146" name="Google Shape;146;p5"/>
          <p:cNvSpPr/>
          <p:nvPr/>
        </p:nvSpPr>
        <p:spPr>
          <a:xfrm>
            <a:off x="8183879" y="1874519"/>
            <a:ext cx="3547872" cy="172821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47" name="Google Shape;147;p5"/>
          <p:cNvSpPr txBox="1"/>
          <p:nvPr/>
        </p:nvSpPr>
        <p:spPr>
          <a:xfrm>
            <a:off x="8366759" y="2020824"/>
            <a:ext cx="3182112"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03 · OPERACIÓN</a:t>
            </a:r>
            <a:endParaRPr/>
          </a:p>
        </p:txBody>
      </p:sp>
      <p:sp>
        <p:nvSpPr>
          <p:cNvPr id="148" name="Google Shape;148;p5"/>
          <p:cNvSpPr txBox="1"/>
          <p:nvPr/>
        </p:nvSpPr>
        <p:spPr>
          <a:xfrm>
            <a:off x="8366759" y="2304287"/>
            <a:ext cx="3182112"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Pedidos y reservas</a:t>
            </a:r>
            <a:endParaRPr/>
          </a:p>
        </p:txBody>
      </p:sp>
      <p:sp>
        <p:nvSpPr>
          <p:cNvPr id="149" name="Google Shape;149;p5"/>
          <p:cNvSpPr txBox="1"/>
          <p:nvPr/>
        </p:nvSpPr>
        <p:spPr>
          <a:xfrm>
            <a:off x="8366759" y="2743200"/>
            <a:ext cx="3182112" cy="1923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50" b="0" i="0" u="none" strike="noStrike" cap="none" dirty="0" err="1">
                <a:solidFill>
                  <a:srgbClr val="5A655F"/>
                </a:solidFill>
                <a:latin typeface="Arial"/>
                <a:ea typeface="Arial"/>
                <a:cs typeface="Arial"/>
                <a:sym typeface="Arial"/>
              </a:rPr>
              <a:t>Estados</a:t>
            </a:r>
            <a:r>
              <a:rPr lang="en-US" sz="1250" b="0" i="0" u="none" strike="noStrike" cap="none" dirty="0">
                <a:solidFill>
                  <a:srgbClr val="5A655F"/>
                </a:solidFill>
                <a:latin typeface="Arial"/>
                <a:ea typeface="Arial"/>
                <a:cs typeface="Arial"/>
                <a:sym typeface="Arial"/>
              </a:rPr>
              <a:t>, </a:t>
            </a:r>
            <a:r>
              <a:rPr lang="en-US" sz="1250" b="0" i="0" u="none" strike="noStrike" cap="none" dirty="0" err="1">
                <a:solidFill>
                  <a:srgbClr val="5A655F"/>
                </a:solidFill>
                <a:latin typeface="Arial"/>
                <a:ea typeface="Arial"/>
                <a:cs typeface="Arial"/>
                <a:sym typeface="Arial"/>
              </a:rPr>
              <a:t>horarios</a:t>
            </a:r>
            <a:r>
              <a:rPr lang="en-US" sz="1250" b="0" i="0" u="none" strike="noStrike" cap="none" dirty="0">
                <a:solidFill>
                  <a:srgbClr val="5A655F"/>
                </a:solidFill>
                <a:latin typeface="Arial"/>
                <a:ea typeface="Arial"/>
                <a:cs typeface="Arial"/>
                <a:sym typeface="Arial"/>
              </a:rPr>
              <a:t> y </a:t>
            </a:r>
            <a:r>
              <a:rPr lang="en-US" sz="1250" b="0" i="0" u="none" strike="noStrike" cap="none" dirty="0" err="1">
                <a:solidFill>
                  <a:srgbClr val="5A655F"/>
                </a:solidFill>
                <a:latin typeface="Arial"/>
                <a:ea typeface="Arial"/>
                <a:cs typeface="Arial"/>
                <a:sym typeface="Arial"/>
              </a:rPr>
              <a:t>técnicos</a:t>
            </a:r>
            <a:endParaRPr dirty="0"/>
          </a:p>
        </p:txBody>
      </p:sp>
      <p:sp>
        <p:nvSpPr>
          <p:cNvPr id="150" name="Google Shape;150;p5"/>
          <p:cNvSpPr/>
          <p:nvPr/>
        </p:nvSpPr>
        <p:spPr>
          <a:xfrm>
            <a:off x="8366759" y="3182111"/>
            <a:ext cx="100584" cy="100584"/>
          </a:xfrm>
          <a:prstGeom prst="roundRect">
            <a:avLst>
              <a:gd name="adj" fmla="val 13000"/>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1" name="Google Shape;151;p5"/>
          <p:cNvSpPr txBox="1"/>
          <p:nvPr/>
        </p:nvSpPr>
        <p:spPr>
          <a:xfrm>
            <a:off x="8540496" y="3145535"/>
            <a:ext cx="3026664"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263B33"/>
                </a:solidFill>
                <a:latin typeface="Arial"/>
                <a:ea typeface="Arial"/>
                <a:cs typeface="Arial"/>
                <a:sym typeface="Arial"/>
              </a:rPr>
              <a:t>Evitar</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reservas</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repetidas</a:t>
            </a:r>
            <a:r>
              <a:rPr lang="en-US" sz="1100" b="0" i="0" u="none" strike="noStrike" cap="none" dirty="0">
                <a:solidFill>
                  <a:srgbClr val="263B33"/>
                </a:solidFill>
                <a:latin typeface="Arial"/>
                <a:ea typeface="Arial"/>
                <a:cs typeface="Arial"/>
                <a:sym typeface="Arial"/>
              </a:rPr>
              <a:t> y </a:t>
            </a:r>
            <a:r>
              <a:rPr lang="en-US" sz="1100" b="0" i="0" u="none" strike="noStrike" cap="none" dirty="0" err="1">
                <a:solidFill>
                  <a:srgbClr val="263B33"/>
                </a:solidFill>
                <a:latin typeface="Arial"/>
                <a:ea typeface="Arial"/>
                <a:cs typeface="Arial"/>
                <a:sym typeface="Arial"/>
              </a:rPr>
              <a:t>probar</a:t>
            </a:r>
            <a:r>
              <a:rPr lang="en-US" sz="1100" b="0" i="0" u="none" strike="noStrike" cap="none" dirty="0">
                <a:solidFill>
                  <a:srgbClr val="263B33"/>
                </a:solidFill>
                <a:latin typeface="Arial"/>
                <a:ea typeface="Arial"/>
                <a:cs typeface="Arial"/>
                <a:sym typeface="Arial"/>
              </a:rPr>
              <a:t> el </a:t>
            </a:r>
            <a:r>
              <a:rPr lang="en-US" sz="1100" b="0" i="0" u="none" strike="noStrike" cap="none" dirty="0" err="1">
                <a:solidFill>
                  <a:srgbClr val="263B33"/>
                </a:solidFill>
                <a:latin typeface="Arial"/>
                <a:ea typeface="Arial"/>
                <a:cs typeface="Arial"/>
                <a:sym typeface="Arial"/>
              </a:rPr>
              <a:t>flujo</a:t>
            </a:r>
            <a:endParaRPr dirty="0"/>
          </a:p>
        </p:txBody>
      </p:sp>
      <p:sp>
        <p:nvSpPr>
          <p:cNvPr id="152" name="Google Shape;152;p5"/>
          <p:cNvSpPr/>
          <p:nvPr/>
        </p:nvSpPr>
        <p:spPr>
          <a:xfrm>
            <a:off x="630936" y="3803904"/>
            <a:ext cx="3547872" cy="172821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3" name="Google Shape;153;p5"/>
          <p:cNvSpPr txBox="1"/>
          <p:nvPr/>
        </p:nvSpPr>
        <p:spPr>
          <a:xfrm>
            <a:off x="813815" y="3950208"/>
            <a:ext cx="3182112"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04 · GESTIÓN</a:t>
            </a:r>
            <a:endParaRPr/>
          </a:p>
        </p:txBody>
      </p:sp>
      <p:sp>
        <p:nvSpPr>
          <p:cNvPr id="154" name="Google Shape;154;p5"/>
          <p:cNvSpPr txBox="1"/>
          <p:nvPr/>
        </p:nvSpPr>
        <p:spPr>
          <a:xfrm>
            <a:off x="813815" y="4233672"/>
            <a:ext cx="3182112"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Panel de administración</a:t>
            </a:r>
            <a:endParaRPr/>
          </a:p>
        </p:txBody>
      </p:sp>
      <p:sp>
        <p:nvSpPr>
          <p:cNvPr id="155" name="Google Shape;155;p5"/>
          <p:cNvSpPr txBox="1"/>
          <p:nvPr/>
        </p:nvSpPr>
        <p:spPr>
          <a:xfrm>
            <a:off x="813815" y="4672584"/>
            <a:ext cx="3182112" cy="1923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50" b="0" i="0" u="none" strike="noStrike" cap="none" dirty="0" err="1">
                <a:solidFill>
                  <a:srgbClr val="5A655F"/>
                </a:solidFill>
                <a:latin typeface="Arial"/>
                <a:ea typeface="Arial"/>
                <a:cs typeface="Arial"/>
                <a:sym typeface="Arial"/>
              </a:rPr>
              <a:t>Usuarios</a:t>
            </a:r>
            <a:r>
              <a:rPr lang="en-US" sz="1250" b="0" i="0" u="none" strike="noStrike" cap="none" dirty="0">
                <a:solidFill>
                  <a:srgbClr val="5A655F"/>
                </a:solidFill>
                <a:latin typeface="Arial"/>
                <a:ea typeface="Arial"/>
                <a:cs typeface="Arial"/>
                <a:sym typeface="Arial"/>
              </a:rPr>
              <a:t>, </a:t>
            </a:r>
            <a:r>
              <a:rPr lang="en-US" sz="1250" b="0" i="0" u="none" strike="noStrike" cap="none" dirty="0" err="1">
                <a:solidFill>
                  <a:srgbClr val="5A655F"/>
                </a:solidFill>
                <a:latin typeface="Arial"/>
                <a:ea typeface="Arial"/>
                <a:cs typeface="Arial"/>
                <a:sym typeface="Arial"/>
              </a:rPr>
              <a:t>productos</a:t>
            </a:r>
            <a:r>
              <a:rPr lang="en-US" sz="1250" b="0" i="0" u="none" strike="noStrike" cap="none" dirty="0">
                <a:solidFill>
                  <a:srgbClr val="5A655F"/>
                </a:solidFill>
                <a:latin typeface="Arial"/>
                <a:ea typeface="Arial"/>
                <a:cs typeface="Arial"/>
                <a:sym typeface="Arial"/>
              </a:rPr>
              <a:t>, </a:t>
            </a:r>
            <a:r>
              <a:rPr lang="en-US" sz="1250" b="0" i="0" u="none" strike="noStrike" cap="none" dirty="0" err="1">
                <a:solidFill>
                  <a:srgbClr val="5A655F"/>
                </a:solidFill>
                <a:latin typeface="Arial"/>
                <a:ea typeface="Arial"/>
                <a:cs typeface="Arial"/>
                <a:sym typeface="Arial"/>
              </a:rPr>
              <a:t>pedidos</a:t>
            </a:r>
            <a:r>
              <a:rPr lang="en-US" sz="1250" b="0" i="0" u="none" strike="noStrike" cap="none" dirty="0">
                <a:solidFill>
                  <a:srgbClr val="5A655F"/>
                </a:solidFill>
                <a:latin typeface="Arial"/>
                <a:ea typeface="Arial"/>
                <a:cs typeface="Arial"/>
                <a:sym typeface="Arial"/>
              </a:rPr>
              <a:t> e </a:t>
            </a:r>
            <a:r>
              <a:rPr lang="en-US" sz="1250" b="0" i="0" u="none" strike="noStrike" cap="none" dirty="0" err="1">
                <a:solidFill>
                  <a:srgbClr val="5A655F"/>
                </a:solidFill>
                <a:latin typeface="Arial"/>
                <a:ea typeface="Arial"/>
                <a:cs typeface="Arial"/>
                <a:sym typeface="Arial"/>
              </a:rPr>
              <a:t>indicadores</a:t>
            </a:r>
            <a:endParaRPr dirty="0"/>
          </a:p>
        </p:txBody>
      </p:sp>
      <p:sp>
        <p:nvSpPr>
          <p:cNvPr id="156" name="Google Shape;156;p5"/>
          <p:cNvSpPr/>
          <p:nvPr/>
        </p:nvSpPr>
        <p:spPr>
          <a:xfrm>
            <a:off x="813815" y="5111496"/>
            <a:ext cx="100584" cy="100584"/>
          </a:xfrm>
          <a:prstGeom prst="roundRect">
            <a:avLst>
              <a:gd name="adj" fmla="val 13000"/>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7" name="Google Shape;157;p5"/>
          <p:cNvSpPr txBox="1"/>
          <p:nvPr/>
        </p:nvSpPr>
        <p:spPr>
          <a:xfrm>
            <a:off x="987552" y="5074920"/>
            <a:ext cx="3026664"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263B33"/>
                </a:solidFill>
                <a:latin typeface="Arial"/>
                <a:ea typeface="Arial"/>
                <a:cs typeface="Arial"/>
                <a:sym typeface="Arial"/>
              </a:rPr>
              <a:t>Verificar</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cambios</a:t>
            </a:r>
            <a:r>
              <a:rPr lang="en-US" sz="1100" b="0" i="0" u="none" strike="noStrike" cap="none" dirty="0">
                <a:solidFill>
                  <a:srgbClr val="263B33"/>
                </a:solidFill>
                <a:latin typeface="Arial"/>
                <a:ea typeface="Arial"/>
                <a:cs typeface="Arial"/>
                <a:sym typeface="Arial"/>
              </a:rPr>
              <a:t> y datos </a:t>
            </a:r>
            <a:r>
              <a:rPr lang="en-US" sz="1100" b="0" i="0" u="none" strike="noStrike" cap="none" dirty="0" err="1">
                <a:solidFill>
                  <a:srgbClr val="263B33"/>
                </a:solidFill>
                <a:latin typeface="Arial"/>
                <a:ea typeface="Arial"/>
                <a:cs typeface="Arial"/>
                <a:sym typeface="Arial"/>
              </a:rPr>
              <a:t>registrados</a:t>
            </a:r>
            <a:endParaRPr dirty="0"/>
          </a:p>
        </p:txBody>
      </p:sp>
      <p:sp>
        <p:nvSpPr>
          <p:cNvPr id="158" name="Google Shape;158;p5"/>
          <p:cNvSpPr/>
          <p:nvPr/>
        </p:nvSpPr>
        <p:spPr>
          <a:xfrm>
            <a:off x="4407408" y="3803904"/>
            <a:ext cx="3547872" cy="172821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9" name="Google Shape;159;p5"/>
          <p:cNvSpPr txBox="1"/>
          <p:nvPr/>
        </p:nvSpPr>
        <p:spPr>
          <a:xfrm>
            <a:off x="4590288" y="3950208"/>
            <a:ext cx="3182112"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05 · MÓVIL</a:t>
            </a:r>
            <a:endParaRPr/>
          </a:p>
        </p:txBody>
      </p:sp>
      <p:sp>
        <p:nvSpPr>
          <p:cNvPr id="160" name="Google Shape;160;p5"/>
          <p:cNvSpPr txBox="1"/>
          <p:nvPr/>
        </p:nvSpPr>
        <p:spPr>
          <a:xfrm>
            <a:off x="4590288" y="4233672"/>
            <a:ext cx="3182112"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Aplicación móvil</a:t>
            </a:r>
            <a:endParaRPr/>
          </a:p>
        </p:txBody>
      </p:sp>
      <p:sp>
        <p:nvSpPr>
          <p:cNvPr id="161" name="Google Shape;161;p5"/>
          <p:cNvSpPr txBox="1"/>
          <p:nvPr/>
        </p:nvSpPr>
        <p:spPr>
          <a:xfrm>
            <a:off x="4590288" y="4672584"/>
            <a:ext cx="3182112" cy="1923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50" b="0" i="0" u="none" strike="noStrike" cap="none" dirty="0" err="1">
                <a:solidFill>
                  <a:srgbClr val="5A655F"/>
                </a:solidFill>
                <a:latin typeface="Arial"/>
                <a:ea typeface="Arial"/>
                <a:cs typeface="Arial"/>
                <a:sym typeface="Arial"/>
              </a:rPr>
              <a:t>Desarrollada</a:t>
            </a:r>
            <a:r>
              <a:rPr lang="en-US" sz="1250" b="0" i="0" u="none" strike="noStrike" cap="none" dirty="0">
                <a:solidFill>
                  <a:srgbClr val="5A655F"/>
                </a:solidFill>
                <a:latin typeface="Arial"/>
                <a:ea typeface="Arial"/>
                <a:cs typeface="Arial"/>
                <a:sym typeface="Arial"/>
              </a:rPr>
              <a:t> con Ionic y Angular</a:t>
            </a:r>
            <a:endParaRPr dirty="0"/>
          </a:p>
        </p:txBody>
      </p:sp>
      <p:sp>
        <p:nvSpPr>
          <p:cNvPr id="162" name="Google Shape;162;p5"/>
          <p:cNvSpPr/>
          <p:nvPr/>
        </p:nvSpPr>
        <p:spPr>
          <a:xfrm>
            <a:off x="4590288" y="5111496"/>
            <a:ext cx="100584" cy="100584"/>
          </a:xfrm>
          <a:prstGeom prst="roundRect">
            <a:avLst>
              <a:gd name="adj" fmla="val 13000"/>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3" name="Google Shape;163;p5"/>
          <p:cNvSpPr txBox="1"/>
          <p:nvPr/>
        </p:nvSpPr>
        <p:spPr>
          <a:xfrm>
            <a:off x="4764024" y="5074920"/>
            <a:ext cx="3026664"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263B33"/>
                </a:solidFill>
                <a:latin typeface="Arial"/>
                <a:ea typeface="Arial"/>
                <a:cs typeface="Arial"/>
                <a:sym typeface="Arial"/>
              </a:rPr>
              <a:t>Instalarla</a:t>
            </a:r>
            <a:r>
              <a:rPr lang="en-US" sz="1100" b="0" i="0" u="none" strike="noStrike" cap="none" dirty="0">
                <a:solidFill>
                  <a:srgbClr val="263B33"/>
                </a:solidFill>
                <a:latin typeface="Arial"/>
                <a:ea typeface="Arial"/>
                <a:cs typeface="Arial"/>
                <a:sym typeface="Arial"/>
              </a:rPr>
              <a:t> y </a:t>
            </a:r>
            <a:r>
              <a:rPr lang="en-US" sz="1100" b="0" i="0" u="none" strike="noStrike" cap="none" dirty="0" err="1">
                <a:solidFill>
                  <a:srgbClr val="263B33"/>
                </a:solidFill>
                <a:latin typeface="Arial"/>
                <a:ea typeface="Arial"/>
                <a:cs typeface="Arial"/>
                <a:sym typeface="Arial"/>
              </a:rPr>
              <a:t>probarla</a:t>
            </a:r>
            <a:r>
              <a:rPr lang="en-US" sz="1100" b="0" i="0" u="none" strike="noStrike" cap="none" dirty="0">
                <a:solidFill>
                  <a:srgbClr val="263B33"/>
                </a:solidFill>
                <a:latin typeface="Arial"/>
                <a:ea typeface="Arial"/>
                <a:cs typeface="Arial"/>
                <a:sym typeface="Arial"/>
              </a:rPr>
              <a:t> </a:t>
            </a:r>
            <a:r>
              <a:rPr lang="en-US" sz="1100" b="0" i="0" u="none" strike="noStrike" cap="none" dirty="0" err="1">
                <a:solidFill>
                  <a:srgbClr val="263B33"/>
                </a:solidFill>
                <a:latin typeface="Arial"/>
                <a:ea typeface="Arial"/>
                <a:cs typeface="Arial"/>
                <a:sym typeface="Arial"/>
              </a:rPr>
              <a:t>en</a:t>
            </a:r>
            <a:r>
              <a:rPr lang="en-US" sz="1100" b="0" i="0" u="none" strike="noStrike" cap="none" dirty="0">
                <a:solidFill>
                  <a:srgbClr val="263B33"/>
                </a:solidFill>
                <a:latin typeface="Arial"/>
                <a:ea typeface="Arial"/>
                <a:cs typeface="Arial"/>
                <a:sym typeface="Arial"/>
              </a:rPr>
              <a:t> un </a:t>
            </a:r>
            <a:r>
              <a:rPr lang="en-US" sz="1100" b="0" i="0" u="none" strike="noStrike" cap="none" dirty="0" err="1">
                <a:solidFill>
                  <a:srgbClr val="263B33"/>
                </a:solidFill>
                <a:latin typeface="Arial"/>
                <a:ea typeface="Arial"/>
                <a:cs typeface="Arial"/>
                <a:sym typeface="Arial"/>
              </a:rPr>
              <a:t>celular</a:t>
            </a:r>
            <a:endParaRPr dirty="0"/>
          </a:p>
        </p:txBody>
      </p:sp>
      <p:sp>
        <p:nvSpPr>
          <p:cNvPr id="164" name="Google Shape;164;p5"/>
          <p:cNvSpPr/>
          <p:nvPr/>
        </p:nvSpPr>
        <p:spPr>
          <a:xfrm>
            <a:off x="8229600" y="3803904"/>
            <a:ext cx="3611880" cy="1664208"/>
          </a:xfrm>
          <a:prstGeom prst="roundRect">
            <a:avLst>
              <a:gd name="adj" fmla="val 13000"/>
            </a:avLst>
          </a:prstGeom>
          <a:solidFill>
            <a:srgbClr val="EBEFE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5" name="Google Shape;165;p5"/>
          <p:cNvSpPr txBox="1"/>
          <p:nvPr/>
        </p:nvSpPr>
        <p:spPr>
          <a:xfrm>
            <a:off x="8449056" y="4059936"/>
            <a:ext cx="3063240"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263B33"/>
                </a:solidFill>
                <a:latin typeface="Arial"/>
                <a:ea typeface="Arial"/>
                <a:cs typeface="Arial"/>
                <a:sym typeface="Arial"/>
              </a:rPr>
              <a:t>LECTURA DEL ESTADO</a:t>
            </a:r>
            <a:endParaRPr/>
          </a:p>
        </p:txBody>
      </p:sp>
      <p:sp>
        <p:nvSpPr>
          <p:cNvPr id="167" name="Google Shape;167;p5"/>
          <p:cNvSpPr txBox="1"/>
          <p:nvPr/>
        </p:nvSpPr>
        <p:spPr>
          <a:xfrm>
            <a:off x="8449056" y="4485132"/>
            <a:ext cx="3054096"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dirty="0" err="1">
                <a:solidFill>
                  <a:srgbClr val="5A655F"/>
                </a:solidFill>
                <a:latin typeface="Arial"/>
                <a:ea typeface="Arial"/>
                <a:cs typeface="Arial"/>
                <a:sym typeface="Arial"/>
              </a:rPr>
              <a:t>Aún</a:t>
            </a:r>
            <a:r>
              <a:rPr lang="en-US" sz="1800" b="0" i="0" u="none" strike="noStrike" cap="none" dirty="0">
                <a:solidFill>
                  <a:srgbClr val="5A655F"/>
                </a:solidFill>
                <a:latin typeface="Arial"/>
                <a:ea typeface="Arial"/>
                <a:cs typeface="Arial"/>
                <a:sym typeface="Arial"/>
              </a:rPr>
              <a:t> </a:t>
            </a:r>
            <a:r>
              <a:rPr lang="en-US" sz="1800" b="0" i="0" u="none" strike="noStrike" cap="none" dirty="0" err="1">
                <a:solidFill>
                  <a:srgbClr val="5A655F"/>
                </a:solidFill>
                <a:latin typeface="Arial"/>
                <a:ea typeface="Arial"/>
                <a:cs typeface="Arial"/>
                <a:sym typeface="Arial"/>
              </a:rPr>
              <a:t>deben</a:t>
            </a:r>
            <a:r>
              <a:rPr lang="en-US" sz="1800" b="0" i="0" u="none" strike="noStrike" cap="none" dirty="0">
                <a:solidFill>
                  <a:srgbClr val="5A655F"/>
                </a:solidFill>
                <a:latin typeface="Arial"/>
                <a:ea typeface="Arial"/>
                <a:cs typeface="Arial"/>
                <a:sym typeface="Arial"/>
              </a:rPr>
              <a:t> </a:t>
            </a:r>
            <a:r>
              <a:rPr lang="en-US" sz="1800" b="0" i="0" u="none" strike="noStrike" cap="none" dirty="0" err="1">
                <a:solidFill>
                  <a:srgbClr val="5A655F"/>
                </a:solidFill>
                <a:latin typeface="Arial"/>
                <a:ea typeface="Arial"/>
                <a:cs typeface="Arial"/>
                <a:sym typeface="Arial"/>
              </a:rPr>
              <a:t>registrarse</a:t>
            </a:r>
            <a:r>
              <a:rPr lang="en-US" sz="1800" b="0" i="0" u="none" strike="noStrike" cap="none" dirty="0">
                <a:solidFill>
                  <a:srgbClr val="5A655F"/>
                </a:solidFill>
                <a:latin typeface="Arial"/>
                <a:ea typeface="Arial"/>
                <a:cs typeface="Arial"/>
                <a:sym typeface="Arial"/>
              </a:rPr>
              <a:t> </a:t>
            </a:r>
            <a:r>
              <a:rPr lang="en-US" sz="1800" b="0" i="0" u="none" strike="noStrike" cap="none" dirty="0" err="1">
                <a:solidFill>
                  <a:srgbClr val="5A655F"/>
                </a:solidFill>
                <a:latin typeface="Arial"/>
                <a:ea typeface="Arial"/>
                <a:cs typeface="Arial"/>
                <a:sym typeface="Arial"/>
              </a:rPr>
              <a:t>pruebas</a:t>
            </a:r>
            <a:r>
              <a:rPr lang="en-US" sz="1800" b="0" i="0" u="none" strike="noStrike" cap="none" dirty="0">
                <a:solidFill>
                  <a:srgbClr val="5A655F"/>
                </a:solidFill>
                <a:latin typeface="Arial"/>
                <a:ea typeface="Arial"/>
                <a:cs typeface="Arial"/>
                <a:sym typeface="Arial"/>
              </a:rPr>
              <a:t> y </a:t>
            </a:r>
            <a:r>
              <a:rPr lang="en-US" sz="1800" b="0" i="0" u="none" strike="noStrike" cap="none" dirty="0" err="1">
                <a:solidFill>
                  <a:srgbClr val="5A655F"/>
                </a:solidFill>
                <a:latin typeface="Arial"/>
                <a:ea typeface="Arial"/>
                <a:cs typeface="Arial"/>
                <a:sym typeface="Arial"/>
              </a:rPr>
              <a:t>resultados</a:t>
            </a:r>
            <a:endParaRPr sz="2000" dirty="0"/>
          </a:p>
        </p:txBody>
      </p:sp>
      <p:sp>
        <p:nvSpPr>
          <p:cNvPr id="168" name="Google Shape;168;p5"/>
          <p:cNvSpPr/>
          <p:nvPr/>
        </p:nvSpPr>
        <p:spPr>
          <a:xfrm>
            <a:off x="621792" y="6245352"/>
            <a:ext cx="10936224" cy="13716"/>
          </a:xfrm>
          <a:prstGeom prst="rect">
            <a:avLst/>
          </a:prstGeom>
          <a:solidFill>
            <a:srgbClr val="E0E1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173"/>
        <p:cNvGrpSpPr/>
        <p:nvPr/>
      </p:nvGrpSpPr>
      <p:grpSpPr>
        <a:xfrm>
          <a:off x="0" y="0"/>
          <a:ext cx="0" cy="0"/>
          <a:chOff x="0" y="0"/>
          <a:chExt cx="0" cy="0"/>
        </a:xfrm>
      </p:grpSpPr>
      <p:sp>
        <p:nvSpPr>
          <p:cNvPr id="174" name="Google Shape;174;p6"/>
          <p:cNvSpPr/>
          <p:nvPr/>
        </p:nvSpPr>
        <p:spPr>
          <a:xfrm>
            <a:off x="0" y="0"/>
            <a:ext cx="12191695" cy="6858000"/>
          </a:xfrm>
          <a:prstGeom prst="rect">
            <a:avLst/>
          </a:prstGeom>
          <a:solidFill>
            <a:srgbClr val="F7F6F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5" name="Google Shape;175;p6"/>
          <p:cNvSpPr/>
          <p:nvPr/>
        </p:nvSpPr>
        <p:spPr>
          <a:xfrm>
            <a:off x="0" y="0"/>
            <a:ext cx="128016" cy="6858000"/>
          </a:xfrm>
          <a:prstGeom prst="rect">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6" name="Google Shape;176;p6"/>
          <p:cNvSpPr txBox="1"/>
          <p:nvPr/>
        </p:nvSpPr>
        <p:spPr>
          <a:xfrm>
            <a:off x="603504" y="329184"/>
            <a:ext cx="10972800" cy="5394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900" b="1" i="0" u="none" strike="noStrike" cap="none">
                <a:solidFill>
                  <a:srgbClr val="263B33"/>
                </a:solidFill>
                <a:latin typeface="Arial"/>
                <a:ea typeface="Arial"/>
                <a:cs typeface="Arial"/>
                <a:sym typeface="Arial"/>
              </a:rPr>
              <a:t>Pagos y herramientas de apoyo</a:t>
            </a:r>
            <a:endParaRPr/>
          </a:p>
        </p:txBody>
      </p:sp>
      <p:sp>
        <p:nvSpPr>
          <p:cNvPr id="177" name="Google Shape;177;p6"/>
          <p:cNvSpPr/>
          <p:nvPr/>
        </p:nvSpPr>
        <p:spPr>
          <a:xfrm>
            <a:off x="612648" y="1024128"/>
            <a:ext cx="603504" cy="32004"/>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8" name="Google Shape;178;p6"/>
          <p:cNvSpPr txBox="1"/>
          <p:nvPr/>
        </p:nvSpPr>
        <p:spPr>
          <a:xfrm>
            <a:off x="11301984" y="6483096"/>
            <a:ext cx="347472" cy="20116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1000" b="0" i="0" u="none" strike="noStrike" cap="none">
                <a:solidFill>
                  <a:srgbClr val="5A655F"/>
                </a:solidFill>
                <a:latin typeface="Arial"/>
                <a:ea typeface="Arial"/>
                <a:cs typeface="Arial"/>
                <a:sym typeface="Arial"/>
              </a:rPr>
              <a:t>06</a:t>
            </a:r>
            <a:endParaRPr/>
          </a:p>
        </p:txBody>
      </p:sp>
      <p:sp>
        <p:nvSpPr>
          <p:cNvPr id="179" name="Google Shape;179;p6"/>
          <p:cNvSpPr/>
          <p:nvPr/>
        </p:nvSpPr>
        <p:spPr>
          <a:xfrm>
            <a:off x="630936" y="1856231"/>
            <a:ext cx="10954512" cy="1170432"/>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0" name="Google Shape;180;p6"/>
          <p:cNvSpPr txBox="1"/>
          <p:nvPr/>
        </p:nvSpPr>
        <p:spPr>
          <a:xfrm>
            <a:off x="896112" y="2029968"/>
            <a:ext cx="6400800"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D8C3A2"/>
                </a:solidFill>
                <a:latin typeface="Arial"/>
                <a:ea typeface="Arial"/>
                <a:cs typeface="Arial"/>
                <a:sym typeface="Arial"/>
              </a:rPr>
              <a:t>PRIORIDAD 01 · WEBPAY PLUS</a:t>
            </a:r>
            <a:endParaRPr/>
          </a:p>
        </p:txBody>
      </p:sp>
      <p:sp>
        <p:nvSpPr>
          <p:cNvPr id="181" name="Google Shape;181;p6"/>
          <p:cNvSpPr txBox="1"/>
          <p:nvPr/>
        </p:nvSpPr>
        <p:spPr>
          <a:xfrm>
            <a:off x="896112" y="2368296"/>
            <a:ext cx="10058400" cy="35661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200" b="1" i="0" u="none" strike="noStrike" cap="none">
                <a:solidFill>
                  <a:srgbClr val="FFFFFF"/>
                </a:solidFill>
                <a:latin typeface="Arial"/>
                <a:ea typeface="Arial"/>
                <a:cs typeface="Arial"/>
                <a:sym typeface="Arial"/>
              </a:rPr>
              <a:t>Iniciar pago → consultar resultado → actualizar pedido</a:t>
            </a:r>
            <a:endParaRPr/>
          </a:p>
        </p:txBody>
      </p:sp>
      <p:sp>
        <p:nvSpPr>
          <p:cNvPr id="182" name="Google Shape;182;p6"/>
          <p:cNvSpPr/>
          <p:nvPr/>
        </p:nvSpPr>
        <p:spPr>
          <a:xfrm>
            <a:off x="630936" y="3255264"/>
            <a:ext cx="3456432" cy="2331720"/>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3" name="Google Shape;183;p6"/>
          <p:cNvSpPr/>
          <p:nvPr/>
        </p:nvSpPr>
        <p:spPr>
          <a:xfrm>
            <a:off x="630936" y="3255264"/>
            <a:ext cx="64008" cy="2331720"/>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4" name="Google Shape;184;p6"/>
          <p:cNvSpPr txBox="1"/>
          <p:nvPr/>
        </p:nvSpPr>
        <p:spPr>
          <a:xfrm>
            <a:off x="822959" y="3419856"/>
            <a:ext cx="3108960"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FUNCIÓN COMPLEMENTARIA</a:t>
            </a:r>
            <a:endParaRPr/>
          </a:p>
        </p:txBody>
      </p:sp>
      <p:sp>
        <p:nvSpPr>
          <p:cNvPr id="185" name="Google Shape;185;p6"/>
          <p:cNvSpPr txBox="1"/>
          <p:nvPr/>
        </p:nvSpPr>
        <p:spPr>
          <a:xfrm>
            <a:off x="832103" y="3749039"/>
            <a:ext cx="3063239" cy="5120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Cálculo de comisiones</a:t>
            </a:r>
            <a:endParaRPr/>
          </a:p>
        </p:txBody>
      </p:sp>
      <p:sp>
        <p:nvSpPr>
          <p:cNvPr id="186" name="Google Shape;186;p6"/>
          <p:cNvSpPr txBox="1"/>
          <p:nvPr/>
        </p:nvSpPr>
        <p:spPr>
          <a:xfrm>
            <a:off x="813815" y="4189622"/>
            <a:ext cx="3063239" cy="6001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00" b="0" i="0" u="none" strike="noStrike" cap="none" dirty="0" err="1">
                <a:solidFill>
                  <a:srgbClr val="5A655F"/>
                </a:solidFill>
                <a:latin typeface="Arial"/>
                <a:ea typeface="Arial"/>
                <a:cs typeface="Arial"/>
                <a:sym typeface="Arial"/>
              </a:rPr>
              <a:t>Vendedor</a:t>
            </a:r>
            <a:r>
              <a:rPr lang="en-US" sz="1300" b="0" i="0" u="none" strike="noStrike" cap="none" dirty="0">
                <a:solidFill>
                  <a:srgbClr val="5A655F"/>
                </a:solidFill>
                <a:latin typeface="Arial"/>
                <a:ea typeface="Arial"/>
                <a:cs typeface="Arial"/>
                <a:sym typeface="Arial"/>
              </a:rPr>
              <a:t>: </a:t>
            </a:r>
            <a:r>
              <a:rPr lang="en-US" sz="1300" b="0" i="0" u="none" strike="noStrike" cap="none" dirty="0" err="1">
                <a:solidFill>
                  <a:srgbClr val="5A655F"/>
                </a:solidFill>
                <a:latin typeface="Arial"/>
                <a:ea typeface="Arial"/>
                <a:cs typeface="Arial"/>
                <a:sym typeface="Arial"/>
              </a:rPr>
              <a:t>porcentaje</a:t>
            </a:r>
            <a:r>
              <a:rPr lang="en-US" sz="1300" b="0" i="0" u="none" strike="noStrike" cap="none" dirty="0">
                <a:solidFill>
                  <a:srgbClr val="5A655F"/>
                </a:solidFill>
                <a:latin typeface="Arial"/>
                <a:ea typeface="Arial"/>
                <a:cs typeface="Arial"/>
                <a:sym typeface="Arial"/>
              </a:rPr>
              <a:t> de la </a:t>
            </a:r>
            <a:r>
              <a:rPr lang="en-US" sz="1300" b="0" i="0" u="none" strike="noStrike" cap="none" dirty="0" err="1">
                <a:solidFill>
                  <a:srgbClr val="5A655F"/>
                </a:solidFill>
                <a:latin typeface="Arial"/>
                <a:ea typeface="Arial"/>
                <a:cs typeface="Arial"/>
                <a:sym typeface="Arial"/>
              </a:rPr>
              <a:t>venta</a:t>
            </a:r>
            <a:endParaRPr lang="en-US" sz="1300" b="0" i="0" u="none" strike="noStrike" cap="none" dirty="0">
              <a:solidFill>
                <a:srgbClr val="5A655F"/>
              </a:solidFill>
              <a:latin typeface="Arial"/>
              <a:ea typeface="Arial"/>
              <a:cs typeface="Arial"/>
              <a:sym typeface="Arial"/>
            </a:endParaRPr>
          </a:p>
          <a:p>
            <a:pPr marL="0" marR="0" lvl="0" indent="0" algn="l" rtl="0">
              <a:lnSpc>
                <a:spcPct val="100000"/>
              </a:lnSpc>
              <a:spcBef>
                <a:spcPts val="0"/>
              </a:spcBef>
              <a:spcAft>
                <a:spcPts val="0"/>
              </a:spcAft>
              <a:buNone/>
            </a:pPr>
            <a:endParaRPr lang="en-US" sz="1300" dirty="0">
              <a:solidFill>
                <a:srgbClr val="5A655F"/>
              </a:solidFill>
            </a:endParaRPr>
          </a:p>
          <a:p>
            <a:pPr marL="0" marR="0" lvl="0" indent="0" algn="l" rtl="0">
              <a:lnSpc>
                <a:spcPct val="100000"/>
              </a:lnSpc>
              <a:spcBef>
                <a:spcPts val="0"/>
              </a:spcBef>
              <a:spcAft>
                <a:spcPts val="0"/>
              </a:spcAft>
              <a:buNone/>
            </a:pPr>
            <a:r>
              <a:rPr lang="en-US" sz="1300" b="0" i="0" u="none" strike="noStrike" cap="none" dirty="0">
                <a:solidFill>
                  <a:srgbClr val="5A655F"/>
                </a:solidFill>
                <a:latin typeface="Arial"/>
                <a:ea typeface="Arial"/>
                <a:cs typeface="Arial"/>
                <a:sym typeface="Arial"/>
              </a:rPr>
              <a:t>Técnico: </a:t>
            </a:r>
            <a:r>
              <a:rPr lang="en-US" sz="1300" b="0" i="0" u="none" strike="noStrike" cap="none" dirty="0" err="1">
                <a:solidFill>
                  <a:srgbClr val="5A655F"/>
                </a:solidFill>
                <a:latin typeface="Arial"/>
                <a:ea typeface="Arial"/>
                <a:cs typeface="Arial"/>
                <a:sym typeface="Arial"/>
              </a:rPr>
              <a:t>monto</a:t>
            </a:r>
            <a:r>
              <a:rPr lang="en-US" sz="1300" b="0" i="0" u="none" strike="noStrike" cap="none" dirty="0">
                <a:solidFill>
                  <a:srgbClr val="5A655F"/>
                </a:solidFill>
                <a:latin typeface="Arial"/>
                <a:ea typeface="Arial"/>
                <a:cs typeface="Arial"/>
                <a:sym typeface="Arial"/>
              </a:rPr>
              <a:t> </a:t>
            </a:r>
            <a:r>
              <a:rPr lang="en-US" sz="1300" b="0" i="0" u="none" strike="noStrike" cap="none" dirty="0" err="1">
                <a:solidFill>
                  <a:srgbClr val="5A655F"/>
                </a:solidFill>
                <a:latin typeface="Arial"/>
                <a:ea typeface="Arial"/>
                <a:cs typeface="Arial"/>
                <a:sym typeface="Arial"/>
              </a:rPr>
              <a:t>definido</a:t>
            </a:r>
            <a:r>
              <a:rPr lang="en-US" sz="1300" b="0" i="0" u="none" strike="noStrike" cap="none" dirty="0">
                <a:solidFill>
                  <a:srgbClr val="5A655F"/>
                </a:solidFill>
                <a:latin typeface="Arial"/>
                <a:ea typeface="Arial"/>
                <a:cs typeface="Arial"/>
                <a:sym typeface="Arial"/>
              </a:rPr>
              <a:t> </a:t>
            </a:r>
            <a:r>
              <a:rPr lang="en-US" sz="1300" b="0" i="0" u="none" strike="noStrike" cap="none" dirty="0" err="1">
                <a:solidFill>
                  <a:srgbClr val="5A655F"/>
                </a:solidFill>
                <a:latin typeface="Arial"/>
                <a:ea typeface="Arial"/>
                <a:cs typeface="Arial"/>
                <a:sym typeface="Arial"/>
              </a:rPr>
              <a:t>por</a:t>
            </a:r>
            <a:r>
              <a:rPr lang="en-US" sz="1300" b="0" i="0" u="none" strike="noStrike" cap="none" dirty="0">
                <a:solidFill>
                  <a:srgbClr val="5A655F"/>
                </a:solidFill>
                <a:latin typeface="Arial"/>
                <a:ea typeface="Arial"/>
                <a:cs typeface="Arial"/>
                <a:sym typeface="Arial"/>
              </a:rPr>
              <a:t> </a:t>
            </a:r>
            <a:r>
              <a:rPr lang="en-US" sz="1300" b="0" i="0" u="none" strike="noStrike" cap="none" dirty="0" err="1">
                <a:solidFill>
                  <a:srgbClr val="5A655F"/>
                </a:solidFill>
                <a:latin typeface="Arial"/>
                <a:ea typeface="Arial"/>
                <a:cs typeface="Arial"/>
                <a:sym typeface="Arial"/>
              </a:rPr>
              <a:t>servicio</a:t>
            </a:r>
            <a:endParaRPr dirty="0"/>
          </a:p>
        </p:txBody>
      </p:sp>
      <p:sp>
        <p:nvSpPr>
          <p:cNvPr id="187" name="Google Shape;187;p6"/>
          <p:cNvSpPr/>
          <p:nvPr/>
        </p:nvSpPr>
        <p:spPr>
          <a:xfrm>
            <a:off x="813815" y="5056632"/>
            <a:ext cx="3063240" cy="13716"/>
          </a:xfrm>
          <a:prstGeom prst="rect">
            <a:avLst/>
          </a:prstGeom>
          <a:solidFill>
            <a:srgbClr val="E0E1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8" name="Google Shape;188;p6"/>
          <p:cNvSpPr txBox="1"/>
          <p:nvPr/>
        </p:nvSpPr>
        <p:spPr>
          <a:xfrm>
            <a:off x="813815" y="5166360"/>
            <a:ext cx="3090672" cy="3231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dirty="0">
                <a:solidFill>
                  <a:srgbClr val="263B33"/>
                </a:solidFill>
                <a:latin typeface="Arial"/>
                <a:ea typeface="Arial"/>
                <a:cs typeface="Arial"/>
                <a:sym typeface="Arial"/>
              </a:rPr>
              <a:t>VALIDAR: </a:t>
            </a:r>
            <a:r>
              <a:rPr lang="en-US" sz="1050" b="1" i="0" u="none" strike="noStrike" cap="none" dirty="0" err="1">
                <a:solidFill>
                  <a:srgbClr val="263B33"/>
                </a:solidFill>
                <a:latin typeface="Arial"/>
                <a:ea typeface="Arial"/>
                <a:cs typeface="Arial"/>
                <a:sym typeface="Arial"/>
              </a:rPr>
              <a:t>calcular</a:t>
            </a:r>
            <a:r>
              <a:rPr lang="en-US" sz="1050" b="1" i="0" u="none" strike="noStrike" cap="none" dirty="0">
                <a:solidFill>
                  <a:srgbClr val="263B33"/>
                </a:solidFill>
                <a:latin typeface="Arial"/>
                <a:ea typeface="Arial"/>
                <a:cs typeface="Arial"/>
                <a:sym typeface="Arial"/>
              </a:rPr>
              <a:t> el </a:t>
            </a:r>
            <a:r>
              <a:rPr lang="en-US" sz="1050" b="1" i="0" u="none" strike="noStrike" cap="none" dirty="0" err="1">
                <a:solidFill>
                  <a:srgbClr val="263B33"/>
                </a:solidFill>
                <a:latin typeface="Arial"/>
                <a:ea typeface="Arial"/>
                <a:cs typeface="Arial"/>
                <a:sym typeface="Arial"/>
              </a:rPr>
              <a:t>monto</a:t>
            </a:r>
            <a:r>
              <a:rPr lang="en-US" sz="1050" b="1" i="0" u="none" strike="noStrike" cap="none" dirty="0">
                <a:solidFill>
                  <a:srgbClr val="263B33"/>
                </a:solidFill>
                <a:latin typeface="Arial"/>
                <a:ea typeface="Arial"/>
                <a:cs typeface="Arial"/>
                <a:sym typeface="Arial"/>
              </a:rPr>
              <a:t> </a:t>
            </a:r>
            <a:r>
              <a:rPr lang="en-US" sz="1050" b="1" i="0" u="none" strike="noStrike" cap="none" dirty="0" err="1">
                <a:solidFill>
                  <a:srgbClr val="263B33"/>
                </a:solidFill>
                <a:latin typeface="Arial"/>
                <a:ea typeface="Arial"/>
                <a:cs typeface="Arial"/>
                <a:sym typeface="Arial"/>
              </a:rPr>
              <a:t>correcto</a:t>
            </a:r>
            <a:r>
              <a:rPr lang="en-US" sz="1050" b="1" i="0" u="none" strike="noStrike" cap="none" dirty="0">
                <a:solidFill>
                  <a:srgbClr val="263B33"/>
                </a:solidFill>
                <a:latin typeface="Arial"/>
                <a:ea typeface="Arial"/>
                <a:cs typeface="Arial"/>
                <a:sym typeface="Arial"/>
              </a:rPr>
              <a:t> solo </a:t>
            </a:r>
            <a:r>
              <a:rPr lang="en-US" sz="1050" b="1" i="0" u="none" strike="noStrike" cap="none" dirty="0" err="1">
                <a:solidFill>
                  <a:srgbClr val="263B33"/>
                </a:solidFill>
                <a:latin typeface="Arial"/>
                <a:ea typeface="Arial"/>
                <a:cs typeface="Arial"/>
                <a:sym typeface="Arial"/>
              </a:rPr>
              <a:t>una</a:t>
            </a:r>
            <a:r>
              <a:rPr lang="en-US" sz="1050" b="1" i="0" u="none" strike="noStrike" cap="none" dirty="0">
                <a:solidFill>
                  <a:srgbClr val="263B33"/>
                </a:solidFill>
                <a:latin typeface="Arial"/>
                <a:ea typeface="Arial"/>
                <a:cs typeface="Arial"/>
                <a:sym typeface="Arial"/>
              </a:rPr>
              <a:t> </a:t>
            </a:r>
            <a:r>
              <a:rPr lang="en-US" sz="1050" b="1" i="0" u="none" strike="noStrike" cap="none" dirty="0" err="1">
                <a:solidFill>
                  <a:srgbClr val="263B33"/>
                </a:solidFill>
                <a:latin typeface="Arial"/>
                <a:ea typeface="Arial"/>
                <a:cs typeface="Arial"/>
                <a:sym typeface="Arial"/>
              </a:rPr>
              <a:t>vez</a:t>
            </a:r>
            <a:endParaRPr dirty="0"/>
          </a:p>
        </p:txBody>
      </p:sp>
      <p:sp>
        <p:nvSpPr>
          <p:cNvPr id="189" name="Google Shape;189;p6"/>
          <p:cNvSpPr/>
          <p:nvPr/>
        </p:nvSpPr>
        <p:spPr>
          <a:xfrm>
            <a:off x="4379975" y="3255264"/>
            <a:ext cx="3456432" cy="2331720"/>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0" name="Google Shape;190;p6"/>
          <p:cNvSpPr/>
          <p:nvPr/>
        </p:nvSpPr>
        <p:spPr>
          <a:xfrm>
            <a:off x="4379975" y="3255264"/>
            <a:ext cx="64008" cy="2331720"/>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1" name="Google Shape;191;p6"/>
          <p:cNvSpPr txBox="1"/>
          <p:nvPr/>
        </p:nvSpPr>
        <p:spPr>
          <a:xfrm>
            <a:off x="4571999" y="3419856"/>
            <a:ext cx="3108960"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FUNCIÓN COMPLEMENTARIA</a:t>
            </a:r>
            <a:endParaRPr/>
          </a:p>
        </p:txBody>
      </p:sp>
      <p:sp>
        <p:nvSpPr>
          <p:cNvPr id="192" name="Google Shape;192;p6"/>
          <p:cNvSpPr txBox="1"/>
          <p:nvPr/>
        </p:nvSpPr>
        <p:spPr>
          <a:xfrm>
            <a:off x="4581143" y="3749039"/>
            <a:ext cx="3063239" cy="5120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Atención después de la venta</a:t>
            </a:r>
            <a:endParaRPr/>
          </a:p>
        </p:txBody>
      </p:sp>
      <p:sp>
        <p:nvSpPr>
          <p:cNvPr id="193" name="Google Shape;193;p6"/>
          <p:cNvSpPr txBox="1"/>
          <p:nvPr/>
        </p:nvSpPr>
        <p:spPr>
          <a:xfrm>
            <a:off x="4581143" y="4237011"/>
            <a:ext cx="3063239" cy="40011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00" b="0" i="0" u="none" strike="noStrike" cap="none" dirty="0">
                <a:solidFill>
                  <a:srgbClr val="5A655F"/>
                </a:solidFill>
                <a:latin typeface="Arial"/>
                <a:ea typeface="Arial"/>
                <a:cs typeface="Arial"/>
                <a:sym typeface="Arial"/>
              </a:rPr>
              <a:t>Solicitudes de </a:t>
            </a:r>
            <a:r>
              <a:rPr lang="en-US" sz="1300" b="0" i="0" u="none" strike="noStrike" cap="none" dirty="0" err="1">
                <a:solidFill>
                  <a:srgbClr val="5A655F"/>
                </a:solidFill>
                <a:latin typeface="Arial"/>
                <a:ea typeface="Arial"/>
                <a:cs typeface="Arial"/>
                <a:sym typeface="Arial"/>
              </a:rPr>
              <a:t>ayuda</a:t>
            </a:r>
            <a:r>
              <a:rPr lang="en-US" sz="1300" b="0" i="0" u="none" strike="noStrike" cap="none" dirty="0">
                <a:solidFill>
                  <a:srgbClr val="5A655F"/>
                </a:solidFill>
                <a:latin typeface="Arial"/>
                <a:ea typeface="Arial"/>
                <a:cs typeface="Arial"/>
                <a:sym typeface="Arial"/>
              </a:rPr>
              <a:t> y </a:t>
            </a:r>
            <a:r>
              <a:rPr lang="en-US" sz="1300" b="0" i="0" u="none" strike="noStrike" cap="none" dirty="0" err="1">
                <a:solidFill>
                  <a:srgbClr val="5A655F"/>
                </a:solidFill>
                <a:latin typeface="Arial"/>
                <a:ea typeface="Arial"/>
                <a:cs typeface="Arial"/>
                <a:sym typeface="Arial"/>
              </a:rPr>
              <a:t>opiniones</a:t>
            </a:r>
            <a:r>
              <a:rPr lang="en-US" sz="1300" b="0" i="0" u="none" strike="noStrike" cap="none" dirty="0">
                <a:solidFill>
                  <a:srgbClr val="5A655F"/>
                </a:solidFill>
                <a:latin typeface="Arial"/>
                <a:ea typeface="Arial"/>
                <a:cs typeface="Arial"/>
                <a:sym typeface="Arial"/>
              </a:rPr>
              <a:t> de </a:t>
            </a:r>
            <a:r>
              <a:rPr lang="en-US" sz="1300" b="0" i="0" u="none" strike="noStrike" cap="none" dirty="0" err="1">
                <a:solidFill>
                  <a:srgbClr val="5A655F"/>
                </a:solidFill>
                <a:latin typeface="Arial"/>
                <a:ea typeface="Arial"/>
                <a:cs typeface="Arial"/>
                <a:sym typeface="Arial"/>
              </a:rPr>
              <a:t>los</a:t>
            </a:r>
            <a:r>
              <a:rPr lang="en-US" sz="1300" b="0" i="0" u="none" strike="noStrike" cap="none" dirty="0">
                <a:solidFill>
                  <a:srgbClr val="5A655F"/>
                </a:solidFill>
                <a:latin typeface="Arial"/>
                <a:ea typeface="Arial"/>
                <a:cs typeface="Arial"/>
                <a:sym typeface="Arial"/>
              </a:rPr>
              <a:t> </a:t>
            </a:r>
            <a:r>
              <a:rPr lang="en-US" sz="1300" b="0" i="0" u="none" strike="noStrike" cap="none" dirty="0" err="1">
                <a:solidFill>
                  <a:srgbClr val="5A655F"/>
                </a:solidFill>
                <a:latin typeface="Arial"/>
                <a:ea typeface="Arial"/>
                <a:cs typeface="Arial"/>
                <a:sym typeface="Arial"/>
              </a:rPr>
              <a:t>clientes</a:t>
            </a:r>
            <a:endParaRPr dirty="0"/>
          </a:p>
        </p:txBody>
      </p:sp>
      <p:sp>
        <p:nvSpPr>
          <p:cNvPr id="194" name="Google Shape;194;p6"/>
          <p:cNvSpPr/>
          <p:nvPr/>
        </p:nvSpPr>
        <p:spPr>
          <a:xfrm>
            <a:off x="4562855" y="5056632"/>
            <a:ext cx="3063240" cy="13716"/>
          </a:xfrm>
          <a:prstGeom prst="rect">
            <a:avLst/>
          </a:prstGeom>
          <a:solidFill>
            <a:srgbClr val="E0E1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5" name="Google Shape;195;p6"/>
          <p:cNvSpPr txBox="1"/>
          <p:nvPr/>
        </p:nvSpPr>
        <p:spPr>
          <a:xfrm>
            <a:off x="4562855" y="5166360"/>
            <a:ext cx="3090672"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dirty="0">
                <a:solidFill>
                  <a:srgbClr val="263B33"/>
                </a:solidFill>
                <a:latin typeface="Arial"/>
                <a:ea typeface="Arial"/>
                <a:cs typeface="Arial"/>
                <a:sym typeface="Arial"/>
              </a:rPr>
              <a:t>VALIDAR: </a:t>
            </a:r>
            <a:r>
              <a:rPr lang="en-US" sz="1050" b="1" i="0" u="none" strike="noStrike" cap="none" dirty="0" err="1">
                <a:solidFill>
                  <a:srgbClr val="263B33"/>
                </a:solidFill>
                <a:latin typeface="Arial"/>
                <a:ea typeface="Arial"/>
                <a:cs typeface="Arial"/>
                <a:sym typeface="Arial"/>
              </a:rPr>
              <a:t>acceso</a:t>
            </a:r>
            <a:r>
              <a:rPr lang="en-US" sz="1050" b="1" i="0" u="none" strike="noStrike" cap="none" dirty="0">
                <a:solidFill>
                  <a:srgbClr val="263B33"/>
                </a:solidFill>
                <a:latin typeface="Arial"/>
                <a:ea typeface="Arial"/>
                <a:cs typeface="Arial"/>
                <a:sym typeface="Arial"/>
              </a:rPr>
              <a:t>, </a:t>
            </a:r>
            <a:r>
              <a:rPr lang="en-US" sz="1050" b="1" i="0" u="none" strike="noStrike" cap="none" dirty="0" err="1">
                <a:solidFill>
                  <a:srgbClr val="263B33"/>
                </a:solidFill>
                <a:latin typeface="Arial"/>
                <a:ea typeface="Arial"/>
                <a:cs typeface="Arial"/>
                <a:sym typeface="Arial"/>
              </a:rPr>
              <a:t>registro</a:t>
            </a:r>
            <a:r>
              <a:rPr lang="en-US" sz="1050" b="1" i="0" u="none" strike="noStrike" cap="none" dirty="0">
                <a:solidFill>
                  <a:srgbClr val="263B33"/>
                </a:solidFill>
                <a:latin typeface="Arial"/>
                <a:ea typeface="Arial"/>
                <a:cs typeface="Arial"/>
                <a:sym typeface="Arial"/>
              </a:rPr>
              <a:t> y </a:t>
            </a:r>
            <a:r>
              <a:rPr lang="en-US" sz="1050" b="1" i="0" u="none" strike="noStrike" cap="none" dirty="0" err="1">
                <a:solidFill>
                  <a:srgbClr val="263B33"/>
                </a:solidFill>
                <a:latin typeface="Arial"/>
                <a:ea typeface="Arial"/>
                <a:cs typeface="Arial"/>
                <a:sym typeface="Arial"/>
              </a:rPr>
              <a:t>seguimiento</a:t>
            </a:r>
            <a:endParaRPr dirty="0"/>
          </a:p>
        </p:txBody>
      </p:sp>
      <p:sp>
        <p:nvSpPr>
          <p:cNvPr id="196" name="Google Shape;196;p6"/>
          <p:cNvSpPr/>
          <p:nvPr/>
        </p:nvSpPr>
        <p:spPr>
          <a:xfrm>
            <a:off x="8129015" y="3255264"/>
            <a:ext cx="3456432" cy="2331720"/>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7" name="Google Shape;197;p6"/>
          <p:cNvSpPr/>
          <p:nvPr/>
        </p:nvSpPr>
        <p:spPr>
          <a:xfrm>
            <a:off x="8129015" y="3255264"/>
            <a:ext cx="64008" cy="2331720"/>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8" name="Google Shape;198;p6"/>
          <p:cNvSpPr txBox="1"/>
          <p:nvPr/>
        </p:nvSpPr>
        <p:spPr>
          <a:xfrm>
            <a:off x="8321040" y="3419856"/>
            <a:ext cx="3108960"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FUNCIÓN COMPLEMENTARIA</a:t>
            </a:r>
            <a:endParaRPr/>
          </a:p>
        </p:txBody>
      </p:sp>
      <p:sp>
        <p:nvSpPr>
          <p:cNvPr id="199" name="Google Shape;199;p6"/>
          <p:cNvSpPr txBox="1"/>
          <p:nvPr/>
        </p:nvSpPr>
        <p:spPr>
          <a:xfrm>
            <a:off x="8330183" y="3749039"/>
            <a:ext cx="3063239" cy="5120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Correos e historial</a:t>
            </a:r>
            <a:endParaRPr/>
          </a:p>
        </p:txBody>
      </p:sp>
      <p:sp>
        <p:nvSpPr>
          <p:cNvPr id="200" name="Google Shape;200;p6"/>
          <p:cNvSpPr txBox="1"/>
          <p:nvPr/>
        </p:nvSpPr>
        <p:spPr>
          <a:xfrm>
            <a:off x="8330183" y="4221069"/>
            <a:ext cx="3063239" cy="40011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00" b="0" i="0" u="none" strike="noStrike" cap="none" dirty="0" err="1">
                <a:solidFill>
                  <a:srgbClr val="5A655F"/>
                </a:solidFill>
                <a:latin typeface="Arial"/>
                <a:ea typeface="Arial"/>
                <a:cs typeface="Arial"/>
                <a:sym typeface="Arial"/>
              </a:rPr>
              <a:t>Envío</a:t>
            </a:r>
            <a:r>
              <a:rPr lang="en-US" sz="1300" b="0" i="0" u="none" strike="noStrike" cap="none" dirty="0">
                <a:solidFill>
                  <a:srgbClr val="5A655F"/>
                </a:solidFill>
                <a:latin typeface="Arial"/>
                <a:ea typeface="Arial"/>
                <a:cs typeface="Arial"/>
                <a:sym typeface="Arial"/>
              </a:rPr>
              <a:t> de </a:t>
            </a:r>
            <a:r>
              <a:rPr lang="en-US" sz="1300" b="0" i="0" u="none" strike="noStrike" cap="none" dirty="0" err="1">
                <a:solidFill>
                  <a:srgbClr val="5A655F"/>
                </a:solidFill>
                <a:latin typeface="Arial"/>
                <a:ea typeface="Arial"/>
                <a:cs typeface="Arial"/>
                <a:sym typeface="Arial"/>
              </a:rPr>
              <a:t>mensajes</a:t>
            </a:r>
            <a:r>
              <a:rPr lang="en-US" sz="1300" b="0" i="0" u="none" strike="noStrike" cap="none" dirty="0">
                <a:solidFill>
                  <a:srgbClr val="5A655F"/>
                </a:solidFill>
                <a:latin typeface="Arial"/>
                <a:ea typeface="Arial"/>
                <a:cs typeface="Arial"/>
                <a:sym typeface="Arial"/>
              </a:rPr>
              <a:t> y </a:t>
            </a:r>
            <a:r>
              <a:rPr lang="en-US" sz="1300" b="0" i="0" u="none" strike="noStrike" cap="none" dirty="0" err="1">
                <a:solidFill>
                  <a:srgbClr val="5A655F"/>
                </a:solidFill>
                <a:latin typeface="Arial"/>
                <a:ea typeface="Arial"/>
                <a:cs typeface="Arial"/>
                <a:sym typeface="Arial"/>
              </a:rPr>
              <a:t>registro</a:t>
            </a:r>
            <a:r>
              <a:rPr lang="en-US" sz="1300" b="0" i="0" u="none" strike="noStrike" cap="none" dirty="0">
                <a:solidFill>
                  <a:srgbClr val="5A655F"/>
                </a:solidFill>
                <a:latin typeface="Arial"/>
                <a:ea typeface="Arial"/>
                <a:cs typeface="Arial"/>
                <a:sym typeface="Arial"/>
              </a:rPr>
              <a:t> de </a:t>
            </a:r>
            <a:r>
              <a:rPr lang="en-US" sz="1300" b="0" i="0" u="none" strike="noStrike" cap="none" dirty="0" err="1">
                <a:solidFill>
                  <a:srgbClr val="5A655F"/>
                </a:solidFill>
                <a:latin typeface="Arial"/>
                <a:ea typeface="Arial"/>
                <a:cs typeface="Arial"/>
                <a:sym typeface="Arial"/>
              </a:rPr>
              <a:t>actividades</a:t>
            </a:r>
            <a:r>
              <a:rPr lang="en-US" sz="1300" b="0" i="0" u="none" strike="noStrike" cap="none" dirty="0">
                <a:solidFill>
                  <a:srgbClr val="5A655F"/>
                </a:solidFill>
                <a:latin typeface="Arial"/>
                <a:ea typeface="Arial"/>
                <a:cs typeface="Arial"/>
                <a:sym typeface="Arial"/>
              </a:rPr>
              <a:t> del </a:t>
            </a:r>
            <a:r>
              <a:rPr lang="en-US" sz="1300" b="0" i="0" u="none" strike="noStrike" cap="none" dirty="0" err="1">
                <a:solidFill>
                  <a:srgbClr val="5A655F"/>
                </a:solidFill>
                <a:latin typeface="Arial"/>
                <a:ea typeface="Arial"/>
                <a:cs typeface="Arial"/>
                <a:sym typeface="Arial"/>
              </a:rPr>
              <a:t>sistema</a:t>
            </a:r>
            <a:endParaRPr dirty="0"/>
          </a:p>
        </p:txBody>
      </p:sp>
      <p:sp>
        <p:nvSpPr>
          <p:cNvPr id="201" name="Google Shape;201;p6"/>
          <p:cNvSpPr/>
          <p:nvPr/>
        </p:nvSpPr>
        <p:spPr>
          <a:xfrm>
            <a:off x="8311895" y="5056632"/>
            <a:ext cx="3063240" cy="13716"/>
          </a:xfrm>
          <a:prstGeom prst="rect">
            <a:avLst/>
          </a:prstGeom>
          <a:solidFill>
            <a:srgbClr val="E0E1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2" name="Google Shape;202;p6"/>
          <p:cNvSpPr txBox="1"/>
          <p:nvPr/>
        </p:nvSpPr>
        <p:spPr>
          <a:xfrm>
            <a:off x="8311895" y="5166360"/>
            <a:ext cx="3090672"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dirty="0">
                <a:solidFill>
                  <a:srgbClr val="263B33"/>
                </a:solidFill>
                <a:latin typeface="Arial"/>
                <a:ea typeface="Arial"/>
                <a:cs typeface="Arial"/>
                <a:sym typeface="Arial"/>
              </a:rPr>
              <a:t>VALIDAR: </a:t>
            </a:r>
            <a:r>
              <a:rPr lang="en-US" sz="1050" b="1" i="0" u="none" strike="noStrike" cap="none" dirty="0" err="1">
                <a:solidFill>
                  <a:srgbClr val="263B33"/>
                </a:solidFill>
                <a:latin typeface="Arial"/>
                <a:ea typeface="Arial"/>
                <a:cs typeface="Arial"/>
                <a:sym typeface="Arial"/>
              </a:rPr>
              <a:t>recepción</a:t>
            </a:r>
            <a:r>
              <a:rPr lang="en-US" sz="1050" b="1" i="0" u="none" strike="noStrike" cap="none" dirty="0">
                <a:solidFill>
                  <a:srgbClr val="263B33"/>
                </a:solidFill>
                <a:latin typeface="Arial"/>
                <a:ea typeface="Arial"/>
                <a:cs typeface="Arial"/>
                <a:sym typeface="Arial"/>
              </a:rPr>
              <a:t> y consulta del </a:t>
            </a:r>
            <a:r>
              <a:rPr lang="en-US" sz="1050" b="1" i="0" u="none" strike="noStrike" cap="none" dirty="0" err="1">
                <a:solidFill>
                  <a:srgbClr val="263B33"/>
                </a:solidFill>
                <a:latin typeface="Arial"/>
                <a:ea typeface="Arial"/>
                <a:cs typeface="Arial"/>
                <a:sym typeface="Arial"/>
              </a:rPr>
              <a:t>historial</a:t>
            </a:r>
            <a:endParaRPr dirty="0"/>
          </a:p>
        </p:txBody>
      </p:sp>
      <p:sp>
        <p:nvSpPr>
          <p:cNvPr id="203" name="Google Shape;203;p6"/>
          <p:cNvSpPr/>
          <p:nvPr/>
        </p:nvSpPr>
        <p:spPr>
          <a:xfrm>
            <a:off x="621792" y="6245352"/>
            <a:ext cx="10936224" cy="13716"/>
          </a:xfrm>
          <a:prstGeom prst="rect">
            <a:avLst/>
          </a:prstGeom>
          <a:solidFill>
            <a:srgbClr val="E0E1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208"/>
        <p:cNvGrpSpPr/>
        <p:nvPr/>
      </p:nvGrpSpPr>
      <p:grpSpPr>
        <a:xfrm>
          <a:off x="0" y="0"/>
          <a:ext cx="0" cy="0"/>
          <a:chOff x="0" y="0"/>
          <a:chExt cx="0" cy="0"/>
        </a:xfrm>
      </p:grpSpPr>
      <p:sp>
        <p:nvSpPr>
          <p:cNvPr id="209" name="Google Shape;209;p7"/>
          <p:cNvSpPr/>
          <p:nvPr/>
        </p:nvSpPr>
        <p:spPr>
          <a:xfrm>
            <a:off x="0" y="0"/>
            <a:ext cx="12191695" cy="6858000"/>
          </a:xfrm>
          <a:prstGeom prst="rect">
            <a:avLst/>
          </a:prstGeom>
          <a:solidFill>
            <a:srgbClr val="F7F6F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0" name="Google Shape;210;p7"/>
          <p:cNvSpPr/>
          <p:nvPr/>
        </p:nvSpPr>
        <p:spPr>
          <a:xfrm>
            <a:off x="0" y="0"/>
            <a:ext cx="128016" cy="6858000"/>
          </a:xfrm>
          <a:prstGeom prst="rect">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1" name="Google Shape;211;p7"/>
          <p:cNvSpPr txBox="1"/>
          <p:nvPr/>
        </p:nvSpPr>
        <p:spPr>
          <a:xfrm>
            <a:off x="603504" y="329184"/>
            <a:ext cx="10972800" cy="5394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900" b="1" i="0" u="none" strike="noStrike" cap="none">
                <a:solidFill>
                  <a:srgbClr val="263B33"/>
                </a:solidFill>
                <a:latin typeface="Arial"/>
                <a:ea typeface="Arial"/>
                <a:cs typeface="Arial"/>
                <a:sym typeface="Arial"/>
              </a:rPr>
              <a:t>Pruebas I: cotizaciones, seguridad y reservas</a:t>
            </a:r>
            <a:endParaRPr/>
          </a:p>
        </p:txBody>
      </p:sp>
      <p:sp>
        <p:nvSpPr>
          <p:cNvPr id="212" name="Google Shape;212;p7"/>
          <p:cNvSpPr/>
          <p:nvPr/>
        </p:nvSpPr>
        <p:spPr>
          <a:xfrm>
            <a:off x="612648" y="1024128"/>
            <a:ext cx="603504" cy="32004"/>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3" name="Google Shape;213;p7"/>
          <p:cNvSpPr txBox="1"/>
          <p:nvPr/>
        </p:nvSpPr>
        <p:spPr>
          <a:xfrm>
            <a:off x="11301984" y="6483096"/>
            <a:ext cx="347472" cy="20116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1000" b="0" i="0" u="none" strike="noStrike" cap="none">
                <a:solidFill>
                  <a:srgbClr val="5A655F"/>
                </a:solidFill>
                <a:latin typeface="Arial"/>
                <a:ea typeface="Arial"/>
                <a:cs typeface="Arial"/>
                <a:sym typeface="Arial"/>
              </a:rPr>
              <a:t>07</a:t>
            </a:r>
            <a:endParaRPr/>
          </a:p>
        </p:txBody>
      </p:sp>
      <p:sp>
        <p:nvSpPr>
          <p:cNvPr id="214" name="Google Shape;214;p7"/>
          <p:cNvSpPr/>
          <p:nvPr/>
        </p:nvSpPr>
        <p:spPr>
          <a:xfrm>
            <a:off x="640080" y="1874519"/>
            <a:ext cx="5385816" cy="1801368"/>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5" name="Google Shape;215;p7"/>
          <p:cNvSpPr/>
          <p:nvPr/>
        </p:nvSpPr>
        <p:spPr>
          <a:xfrm>
            <a:off x="795528" y="2039112"/>
            <a:ext cx="676656" cy="393192"/>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6" name="Google Shape;216;p7"/>
          <p:cNvSpPr txBox="1"/>
          <p:nvPr/>
        </p:nvSpPr>
        <p:spPr>
          <a:xfrm>
            <a:off x="832103" y="2121408"/>
            <a:ext cx="594360" cy="18288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Arial"/>
                <a:ea typeface="Arial"/>
                <a:cs typeface="Arial"/>
                <a:sym typeface="Arial"/>
              </a:rPr>
              <a:t>CP01</a:t>
            </a:r>
            <a:endParaRPr/>
          </a:p>
        </p:txBody>
      </p:sp>
      <p:sp>
        <p:nvSpPr>
          <p:cNvPr id="217" name="Google Shape;217;p7"/>
          <p:cNvSpPr txBox="1"/>
          <p:nvPr/>
        </p:nvSpPr>
        <p:spPr>
          <a:xfrm>
            <a:off x="1609344" y="2057400"/>
            <a:ext cx="4114800" cy="3200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263B33"/>
                </a:solidFill>
                <a:latin typeface="Arial"/>
                <a:ea typeface="Arial"/>
                <a:cs typeface="Arial"/>
                <a:sym typeface="Arial"/>
              </a:rPr>
              <a:t>Precio de cotización</a:t>
            </a:r>
            <a:endParaRPr/>
          </a:p>
        </p:txBody>
      </p:sp>
      <p:sp>
        <p:nvSpPr>
          <p:cNvPr id="218" name="Google Shape;218;p7"/>
          <p:cNvSpPr txBox="1"/>
          <p:nvPr/>
        </p:nvSpPr>
        <p:spPr>
          <a:xfrm>
            <a:off x="822959" y="2532887"/>
            <a:ext cx="4919472" cy="2834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00" b="1" i="0" u="none" strike="noStrike" cap="none">
                <a:solidFill>
                  <a:srgbClr val="263B33"/>
                </a:solidFill>
                <a:latin typeface="Arial"/>
                <a:ea typeface="Arial"/>
                <a:cs typeface="Arial"/>
                <a:sym typeface="Arial"/>
              </a:rPr>
              <a:t>¿El total coincide con el cálculo manual?</a:t>
            </a:r>
            <a:endParaRPr/>
          </a:p>
        </p:txBody>
      </p:sp>
      <p:sp>
        <p:nvSpPr>
          <p:cNvPr id="219" name="Google Shape;219;p7"/>
          <p:cNvSpPr txBox="1"/>
          <p:nvPr/>
        </p:nvSpPr>
        <p:spPr>
          <a:xfrm>
            <a:off x="822959" y="2889504"/>
            <a:ext cx="4956048" cy="1769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0" i="0" u="none" strike="noStrike" cap="none" dirty="0" err="1">
                <a:solidFill>
                  <a:srgbClr val="5A655F"/>
                </a:solidFill>
                <a:latin typeface="Arial"/>
                <a:ea typeface="Arial"/>
                <a:cs typeface="Arial"/>
                <a:sym typeface="Arial"/>
              </a:rPr>
              <a:t>Probar</a:t>
            </a:r>
            <a:r>
              <a:rPr lang="en-US" sz="1150" b="0" i="0" u="none" strike="noStrike" cap="none" dirty="0">
                <a:solidFill>
                  <a:srgbClr val="5A655F"/>
                </a:solidFill>
                <a:latin typeface="Arial"/>
                <a:ea typeface="Arial"/>
                <a:cs typeface="Arial"/>
                <a:sym typeface="Arial"/>
              </a:rPr>
              <a:t> las </a:t>
            </a:r>
            <a:r>
              <a:rPr lang="en-US" sz="1150" b="0" i="0" u="none" strike="noStrike" cap="none" dirty="0" err="1">
                <a:solidFill>
                  <a:srgbClr val="5A655F"/>
                </a:solidFill>
                <a:latin typeface="Arial"/>
                <a:ea typeface="Arial"/>
                <a:cs typeface="Arial"/>
                <a:sym typeface="Arial"/>
              </a:rPr>
              <a:t>mismas</a:t>
            </a:r>
            <a:r>
              <a:rPr lang="en-US" sz="1150" b="0" i="0" u="none" strike="noStrike" cap="none" dirty="0">
                <a:solidFill>
                  <a:srgbClr val="5A655F"/>
                </a:solidFill>
                <a:latin typeface="Arial"/>
                <a:ea typeface="Arial"/>
                <a:cs typeface="Arial"/>
                <a:sym typeface="Arial"/>
              </a:rPr>
              <a:t> </a:t>
            </a:r>
            <a:r>
              <a:rPr lang="en-US" sz="1150" b="0" i="0" u="none" strike="noStrike" cap="none" dirty="0" err="1">
                <a:solidFill>
                  <a:srgbClr val="5A655F"/>
                </a:solidFill>
                <a:latin typeface="Arial"/>
                <a:ea typeface="Arial"/>
                <a:cs typeface="Arial"/>
                <a:sym typeface="Arial"/>
              </a:rPr>
              <a:t>cantidades</a:t>
            </a:r>
            <a:r>
              <a:rPr lang="en-US" sz="1150" b="0" i="0" u="none" strike="noStrike" cap="none" dirty="0">
                <a:solidFill>
                  <a:srgbClr val="5A655F"/>
                </a:solidFill>
                <a:latin typeface="Arial"/>
                <a:ea typeface="Arial"/>
                <a:cs typeface="Arial"/>
                <a:sym typeface="Arial"/>
              </a:rPr>
              <a:t> y </a:t>
            </a:r>
            <a:r>
              <a:rPr lang="en-US" sz="1150" b="0" i="0" u="none" strike="noStrike" cap="none" dirty="0" err="1">
                <a:solidFill>
                  <a:srgbClr val="5A655F"/>
                </a:solidFill>
                <a:latin typeface="Arial"/>
                <a:ea typeface="Arial"/>
                <a:cs typeface="Arial"/>
                <a:sym typeface="Arial"/>
              </a:rPr>
              <a:t>tarifas</a:t>
            </a:r>
            <a:endParaRPr dirty="0"/>
          </a:p>
        </p:txBody>
      </p:sp>
      <p:sp>
        <p:nvSpPr>
          <p:cNvPr id="220" name="Google Shape;220;p7"/>
          <p:cNvSpPr txBox="1"/>
          <p:nvPr/>
        </p:nvSpPr>
        <p:spPr>
          <a:xfrm>
            <a:off x="822959" y="3255263"/>
            <a:ext cx="4965192"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5A655F"/>
                </a:solidFill>
                <a:latin typeface="Arial"/>
                <a:ea typeface="Arial"/>
                <a:cs typeface="Arial"/>
                <a:sym typeface="Arial"/>
              </a:rPr>
              <a:t>Guardar</a:t>
            </a:r>
            <a:r>
              <a:rPr lang="en-US" sz="1100" b="0" i="0" u="none" strike="noStrike" cap="none" dirty="0">
                <a:solidFill>
                  <a:srgbClr val="5A655F"/>
                </a:solidFill>
                <a:latin typeface="Arial"/>
                <a:ea typeface="Arial"/>
                <a:cs typeface="Arial"/>
                <a:sym typeface="Arial"/>
              </a:rPr>
              <a:t> entradas, </a:t>
            </a:r>
            <a:r>
              <a:rPr lang="en-US" sz="1100" b="0" i="0" u="none" strike="noStrike" cap="none" dirty="0" err="1">
                <a:solidFill>
                  <a:srgbClr val="5A655F"/>
                </a:solidFill>
                <a:latin typeface="Arial"/>
                <a:ea typeface="Arial"/>
                <a:cs typeface="Arial"/>
                <a:sym typeface="Arial"/>
              </a:rPr>
              <a:t>precios</a:t>
            </a:r>
            <a:r>
              <a:rPr lang="en-US" sz="1100" b="0" i="0" u="none" strike="noStrike" cap="none" dirty="0">
                <a:solidFill>
                  <a:srgbClr val="5A655F"/>
                </a:solidFill>
                <a:latin typeface="Arial"/>
                <a:ea typeface="Arial"/>
                <a:cs typeface="Arial"/>
                <a:sym typeface="Arial"/>
              </a:rPr>
              <a:t> y </a:t>
            </a:r>
            <a:r>
              <a:rPr lang="en-US" sz="1100" b="0" i="0" u="none" strike="noStrike" cap="none" dirty="0" err="1">
                <a:solidFill>
                  <a:srgbClr val="5A655F"/>
                </a:solidFill>
                <a:latin typeface="Arial"/>
                <a:ea typeface="Arial"/>
                <a:cs typeface="Arial"/>
                <a:sym typeface="Arial"/>
              </a:rPr>
              <a:t>resultado</a:t>
            </a:r>
            <a:endParaRPr dirty="0"/>
          </a:p>
        </p:txBody>
      </p:sp>
      <p:sp>
        <p:nvSpPr>
          <p:cNvPr id="221" name="Google Shape;221;p7"/>
          <p:cNvSpPr/>
          <p:nvPr/>
        </p:nvSpPr>
        <p:spPr>
          <a:xfrm>
            <a:off x="6272784" y="1874519"/>
            <a:ext cx="5385816" cy="1801368"/>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2" name="Google Shape;222;p7"/>
          <p:cNvSpPr/>
          <p:nvPr/>
        </p:nvSpPr>
        <p:spPr>
          <a:xfrm>
            <a:off x="6428232" y="2039112"/>
            <a:ext cx="676656" cy="393192"/>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3" name="Google Shape;223;p7"/>
          <p:cNvSpPr txBox="1"/>
          <p:nvPr/>
        </p:nvSpPr>
        <p:spPr>
          <a:xfrm>
            <a:off x="6464808" y="2121408"/>
            <a:ext cx="594360" cy="18288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Arial"/>
                <a:ea typeface="Arial"/>
                <a:cs typeface="Arial"/>
                <a:sym typeface="Arial"/>
              </a:rPr>
              <a:t>CP02</a:t>
            </a:r>
            <a:endParaRPr/>
          </a:p>
        </p:txBody>
      </p:sp>
      <p:sp>
        <p:nvSpPr>
          <p:cNvPr id="224" name="Google Shape;224;p7"/>
          <p:cNvSpPr txBox="1"/>
          <p:nvPr/>
        </p:nvSpPr>
        <p:spPr>
          <a:xfrm>
            <a:off x="7242048" y="2057400"/>
            <a:ext cx="4114800" cy="3200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263B33"/>
                </a:solidFill>
                <a:latin typeface="Arial"/>
                <a:ea typeface="Arial"/>
                <a:cs typeface="Arial"/>
                <a:sym typeface="Arial"/>
              </a:rPr>
              <a:t>Medidas incorrectas</a:t>
            </a:r>
            <a:endParaRPr/>
          </a:p>
        </p:txBody>
      </p:sp>
      <p:sp>
        <p:nvSpPr>
          <p:cNvPr id="225" name="Google Shape;225;p7"/>
          <p:cNvSpPr txBox="1"/>
          <p:nvPr/>
        </p:nvSpPr>
        <p:spPr>
          <a:xfrm>
            <a:off x="6455664" y="2532887"/>
            <a:ext cx="4919472" cy="2834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00" b="1" i="0" u="none" strike="noStrike" cap="none">
                <a:solidFill>
                  <a:srgbClr val="263B33"/>
                </a:solidFill>
                <a:latin typeface="Arial"/>
                <a:ea typeface="Arial"/>
                <a:cs typeface="Arial"/>
                <a:sym typeface="Arial"/>
              </a:rPr>
              <a:t>¿Se rechazan medidas inválidas?</a:t>
            </a:r>
            <a:endParaRPr/>
          </a:p>
        </p:txBody>
      </p:sp>
      <p:sp>
        <p:nvSpPr>
          <p:cNvPr id="226" name="Google Shape;226;p7"/>
          <p:cNvSpPr txBox="1"/>
          <p:nvPr/>
        </p:nvSpPr>
        <p:spPr>
          <a:xfrm>
            <a:off x="6455664" y="2889504"/>
            <a:ext cx="4956048" cy="1769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0" i="0" u="none" strike="noStrike" cap="none" dirty="0" err="1">
                <a:solidFill>
                  <a:srgbClr val="5A655F"/>
                </a:solidFill>
                <a:latin typeface="Arial"/>
                <a:ea typeface="Arial"/>
                <a:cs typeface="Arial"/>
                <a:sym typeface="Arial"/>
              </a:rPr>
              <a:t>Probar</a:t>
            </a:r>
            <a:r>
              <a:rPr lang="en-US" sz="1150" b="0" i="0" u="none" strike="noStrike" cap="none" dirty="0">
                <a:solidFill>
                  <a:srgbClr val="5A655F"/>
                </a:solidFill>
                <a:latin typeface="Arial"/>
                <a:ea typeface="Arial"/>
                <a:cs typeface="Arial"/>
                <a:sym typeface="Arial"/>
              </a:rPr>
              <a:t> cero, </a:t>
            </a:r>
            <a:r>
              <a:rPr lang="en-US" sz="1150" b="0" i="0" u="none" strike="noStrike" cap="none" dirty="0" err="1">
                <a:solidFill>
                  <a:srgbClr val="5A655F"/>
                </a:solidFill>
                <a:latin typeface="Arial"/>
                <a:ea typeface="Arial"/>
                <a:cs typeface="Arial"/>
                <a:sym typeface="Arial"/>
              </a:rPr>
              <a:t>negativos</a:t>
            </a:r>
            <a:r>
              <a:rPr lang="en-US" sz="1150" b="0" i="0" u="none" strike="noStrike" cap="none" dirty="0">
                <a:solidFill>
                  <a:srgbClr val="5A655F"/>
                </a:solidFill>
                <a:latin typeface="Arial"/>
                <a:ea typeface="Arial"/>
                <a:cs typeface="Arial"/>
                <a:sym typeface="Arial"/>
              </a:rPr>
              <a:t> y </a:t>
            </a:r>
            <a:r>
              <a:rPr lang="en-US" sz="1150" b="0" i="0" u="none" strike="noStrike" cap="none" dirty="0" err="1">
                <a:solidFill>
                  <a:srgbClr val="5A655F"/>
                </a:solidFill>
                <a:latin typeface="Arial"/>
                <a:ea typeface="Arial"/>
                <a:cs typeface="Arial"/>
                <a:sym typeface="Arial"/>
              </a:rPr>
              <a:t>valores</a:t>
            </a:r>
            <a:r>
              <a:rPr lang="en-US" sz="1150" b="0" i="0" u="none" strike="noStrike" cap="none" dirty="0">
                <a:solidFill>
                  <a:srgbClr val="5A655F"/>
                </a:solidFill>
                <a:latin typeface="Arial"/>
                <a:ea typeface="Arial"/>
                <a:cs typeface="Arial"/>
                <a:sym typeface="Arial"/>
              </a:rPr>
              <a:t> fuera de </a:t>
            </a:r>
            <a:r>
              <a:rPr lang="en-US" sz="1150" b="0" i="0" u="none" strike="noStrike" cap="none" dirty="0" err="1">
                <a:solidFill>
                  <a:srgbClr val="5A655F"/>
                </a:solidFill>
                <a:latin typeface="Arial"/>
                <a:ea typeface="Arial"/>
                <a:cs typeface="Arial"/>
                <a:sym typeface="Arial"/>
              </a:rPr>
              <a:t>rango</a:t>
            </a:r>
            <a:endParaRPr dirty="0"/>
          </a:p>
        </p:txBody>
      </p:sp>
      <p:sp>
        <p:nvSpPr>
          <p:cNvPr id="227" name="Google Shape;227;p7"/>
          <p:cNvSpPr txBox="1"/>
          <p:nvPr/>
        </p:nvSpPr>
        <p:spPr>
          <a:xfrm>
            <a:off x="6455664" y="3255263"/>
            <a:ext cx="4965192"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5A655F"/>
                </a:solidFill>
                <a:latin typeface="Arial"/>
                <a:ea typeface="Arial"/>
                <a:cs typeface="Arial"/>
                <a:sym typeface="Arial"/>
              </a:rPr>
              <a:t>Guardar</a:t>
            </a:r>
            <a:r>
              <a:rPr lang="en-US" sz="1100" b="0" i="0" u="none" strike="noStrike" cap="none" dirty="0">
                <a:solidFill>
                  <a:srgbClr val="5A655F"/>
                </a:solidFill>
                <a:latin typeface="Arial"/>
                <a:ea typeface="Arial"/>
                <a:cs typeface="Arial"/>
                <a:sym typeface="Arial"/>
              </a:rPr>
              <a:t> valor </a:t>
            </a:r>
            <a:r>
              <a:rPr lang="en-US" sz="1100" b="0" i="0" u="none" strike="noStrike" cap="none" dirty="0" err="1">
                <a:solidFill>
                  <a:srgbClr val="5A655F"/>
                </a:solidFill>
                <a:latin typeface="Arial"/>
                <a:ea typeface="Arial"/>
                <a:cs typeface="Arial"/>
                <a:sym typeface="Arial"/>
              </a:rPr>
              <a:t>ingresado</a:t>
            </a:r>
            <a:r>
              <a:rPr lang="en-US" sz="1100" b="0" i="0" u="none" strike="noStrike" cap="none" dirty="0">
                <a:solidFill>
                  <a:srgbClr val="5A655F"/>
                </a:solidFill>
                <a:latin typeface="Arial"/>
                <a:ea typeface="Arial"/>
                <a:cs typeface="Arial"/>
                <a:sym typeface="Arial"/>
              </a:rPr>
              <a:t> y error </a:t>
            </a:r>
            <a:r>
              <a:rPr lang="en-US" sz="1100" b="0" i="0" u="none" strike="noStrike" cap="none" dirty="0" err="1">
                <a:solidFill>
                  <a:srgbClr val="5A655F"/>
                </a:solidFill>
                <a:latin typeface="Arial"/>
                <a:ea typeface="Arial"/>
                <a:cs typeface="Arial"/>
                <a:sym typeface="Arial"/>
              </a:rPr>
              <a:t>mostrado</a:t>
            </a:r>
            <a:endParaRPr dirty="0"/>
          </a:p>
        </p:txBody>
      </p:sp>
      <p:sp>
        <p:nvSpPr>
          <p:cNvPr id="228" name="Google Shape;228;p7"/>
          <p:cNvSpPr/>
          <p:nvPr/>
        </p:nvSpPr>
        <p:spPr>
          <a:xfrm>
            <a:off x="640080" y="3822191"/>
            <a:ext cx="5385816" cy="1801368"/>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9" name="Google Shape;229;p7"/>
          <p:cNvSpPr/>
          <p:nvPr/>
        </p:nvSpPr>
        <p:spPr>
          <a:xfrm>
            <a:off x="795528" y="3986783"/>
            <a:ext cx="676656" cy="393192"/>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30" name="Google Shape;230;p7"/>
          <p:cNvSpPr txBox="1"/>
          <p:nvPr/>
        </p:nvSpPr>
        <p:spPr>
          <a:xfrm>
            <a:off x="832103" y="4069079"/>
            <a:ext cx="594360" cy="18288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Arial"/>
                <a:ea typeface="Arial"/>
                <a:cs typeface="Arial"/>
                <a:sym typeface="Arial"/>
              </a:rPr>
              <a:t>CP03</a:t>
            </a:r>
            <a:endParaRPr/>
          </a:p>
        </p:txBody>
      </p:sp>
      <p:sp>
        <p:nvSpPr>
          <p:cNvPr id="231" name="Google Shape;231;p7"/>
          <p:cNvSpPr txBox="1"/>
          <p:nvPr/>
        </p:nvSpPr>
        <p:spPr>
          <a:xfrm>
            <a:off x="1609344" y="4005072"/>
            <a:ext cx="4114800" cy="3200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263B33"/>
                </a:solidFill>
                <a:latin typeface="Arial"/>
                <a:ea typeface="Arial"/>
                <a:cs typeface="Arial"/>
                <a:sym typeface="Arial"/>
              </a:rPr>
              <a:t>Permisos de usuario</a:t>
            </a:r>
            <a:endParaRPr/>
          </a:p>
        </p:txBody>
      </p:sp>
      <p:sp>
        <p:nvSpPr>
          <p:cNvPr id="232" name="Google Shape;232;p7"/>
          <p:cNvSpPr txBox="1"/>
          <p:nvPr/>
        </p:nvSpPr>
        <p:spPr>
          <a:xfrm>
            <a:off x="822959" y="4480559"/>
            <a:ext cx="4919472" cy="2834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00" b="1" i="0" u="none" strike="noStrike" cap="none">
                <a:solidFill>
                  <a:srgbClr val="263B33"/>
                </a:solidFill>
                <a:latin typeface="Arial"/>
                <a:ea typeface="Arial"/>
                <a:cs typeface="Arial"/>
                <a:sym typeface="Arial"/>
              </a:rPr>
              <a:t>¿Se impide ingresar a funciones ajenas?</a:t>
            </a:r>
            <a:endParaRPr/>
          </a:p>
        </p:txBody>
      </p:sp>
      <p:sp>
        <p:nvSpPr>
          <p:cNvPr id="233" name="Google Shape;233;p7"/>
          <p:cNvSpPr txBox="1"/>
          <p:nvPr/>
        </p:nvSpPr>
        <p:spPr>
          <a:xfrm>
            <a:off x="822959" y="4837176"/>
            <a:ext cx="4956048" cy="1769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0" i="0" u="none" strike="noStrike" cap="none" dirty="0" err="1">
                <a:solidFill>
                  <a:srgbClr val="5A655F"/>
                </a:solidFill>
                <a:latin typeface="Arial"/>
                <a:ea typeface="Arial"/>
                <a:cs typeface="Arial"/>
                <a:sym typeface="Arial"/>
              </a:rPr>
              <a:t>Probar</a:t>
            </a:r>
            <a:r>
              <a:rPr lang="en-US" sz="1150" b="0" i="0" u="none" strike="noStrike" cap="none" dirty="0">
                <a:solidFill>
                  <a:srgbClr val="5A655F"/>
                </a:solidFill>
                <a:latin typeface="Arial"/>
                <a:ea typeface="Arial"/>
                <a:cs typeface="Arial"/>
                <a:sym typeface="Arial"/>
              </a:rPr>
              <a:t> </a:t>
            </a:r>
            <a:r>
              <a:rPr lang="en-US" sz="1150" b="0" i="0" u="none" strike="noStrike" cap="none" dirty="0" err="1">
                <a:solidFill>
                  <a:srgbClr val="5A655F"/>
                </a:solidFill>
                <a:latin typeface="Arial"/>
                <a:ea typeface="Arial"/>
                <a:cs typeface="Arial"/>
                <a:sym typeface="Arial"/>
              </a:rPr>
              <a:t>que</a:t>
            </a:r>
            <a:r>
              <a:rPr lang="en-US" sz="1150" b="0" i="0" u="none" strike="noStrike" cap="none" dirty="0">
                <a:solidFill>
                  <a:srgbClr val="5A655F"/>
                </a:solidFill>
                <a:latin typeface="Arial"/>
                <a:ea typeface="Arial"/>
                <a:cs typeface="Arial"/>
                <a:sym typeface="Arial"/>
              </a:rPr>
              <a:t> el </a:t>
            </a:r>
            <a:r>
              <a:rPr lang="en-US" sz="1150" b="0" i="0" u="none" strike="noStrike" cap="none" dirty="0" err="1">
                <a:solidFill>
                  <a:srgbClr val="5A655F"/>
                </a:solidFill>
                <a:latin typeface="Arial"/>
                <a:ea typeface="Arial"/>
                <a:cs typeface="Arial"/>
                <a:sym typeface="Arial"/>
              </a:rPr>
              <a:t>cliente</a:t>
            </a:r>
            <a:r>
              <a:rPr lang="en-US" sz="1150" b="0" i="0" u="none" strike="noStrike" cap="none" dirty="0">
                <a:solidFill>
                  <a:srgbClr val="5A655F"/>
                </a:solidFill>
                <a:latin typeface="Arial"/>
                <a:ea typeface="Arial"/>
                <a:cs typeface="Arial"/>
                <a:sym typeface="Arial"/>
              </a:rPr>
              <a:t> no </a:t>
            </a:r>
            <a:r>
              <a:rPr lang="en-US" sz="1150" b="0" i="0" u="none" strike="noStrike" cap="none" dirty="0" err="1">
                <a:solidFill>
                  <a:srgbClr val="5A655F"/>
                </a:solidFill>
                <a:latin typeface="Arial"/>
                <a:ea typeface="Arial"/>
                <a:cs typeface="Arial"/>
                <a:sym typeface="Arial"/>
              </a:rPr>
              <a:t>administre</a:t>
            </a:r>
            <a:r>
              <a:rPr lang="en-US" sz="1150" b="0" i="0" u="none" strike="noStrike" cap="none" dirty="0">
                <a:solidFill>
                  <a:srgbClr val="5A655F"/>
                </a:solidFill>
                <a:latin typeface="Arial"/>
                <a:ea typeface="Arial"/>
                <a:cs typeface="Arial"/>
                <a:sym typeface="Arial"/>
              </a:rPr>
              <a:t> el </a:t>
            </a:r>
            <a:r>
              <a:rPr lang="en-US" sz="1150" b="0" i="0" u="none" strike="noStrike" cap="none" dirty="0" err="1">
                <a:solidFill>
                  <a:srgbClr val="5A655F"/>
                </a:solidFill>
                <a:latin typeface="Arial"/>
                <a:ea typeface="Arial"/>
                <a:cs typeface="Arial"/>
                <a:sym typeface="Arial"/>
              </a:rPr>
              <a:t>sistema</a:t>
            </a:r>
            <a:endParaRPr dirty="0"/>
          </a:p>
        </p:txBody>
      </p:sp>
      <p:sp>
        <p:nvSpPr>
          <p:cNvPr id="234" name="Google Shape;234;p7"/>
          <p:cNvSpPr txBox="1"/>
          <p:nvPr/>
        </p:nvSpPr>
        <p:spPr>
          <a:xfrm>
            <a:off x="822959" y="5202936"/>
            <a:ext cx="4965192"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5A655F"/>
                </a:solidFill>
                <a:latin typeface="Arial"/>
                <a:ea typeface="Arial"/>
                <a:cs typeface="Arial"/>
                <a:sym typeface="Arial"/>
              </a:rPr>
              <a:t>Guardar</a:t>
            </a:r>
            <a:r>
              <a:rPr lang="en-US" sz="1100" b="0" i="0" u="none" strike="noStrike" cap="none" dirty="0">
                <a:solidFill>
                  <a:srgbClr val="5A655F"/>
                </a:solidFill>
                <a:latin typeface="Arial"/>
                <a:ea typeface="Arial"/>
                <a:cs typeface="Arial"/>
                <a:sym typeface="Arial"/>
              </a:rPr>
              <a:t> </a:t>
            </a:r>
            <a:r>
              <a:rPr lang="en-US" sz="1100" b="0" i="0" u="none" strike="noStrike" cap="none" dirty="0" err="1">
                <a:solidFill>
                  <a:srgbClr val="5A655F"/>
                </a:solidFill>
                <a:latin typeface="Arial"/>
                <a:ea typeface="Arial"/>
                <a:cs typeface="Arial"/>
                <a:sym typeface="Arial"/>
              </a:rPr>
              <a:t>usuario</a:t>
            </a:r>
            <a:r>
              <a:rPr lang="en-US" sz="1100" b="0" i="0" u="none" strike="noStrike" cap="none" dirty="0">
                <a:solidFill>
                  <a:srgbClr val="5A655F"/>
                </a:solidFill>
                <a:latin typeface="Arial"/>
                <a:ea typeface="Arial"/>
                <a:cs typeface="Arial"/>
                <a:sym typeface="Arial"/>
              </a:rPr>
              <a:t>, </a:t>
            </a:r>
            <a:r>
              <a:rPr lang="en-US" sz="1100" b="0" i="0" u="none" strike="noStrike" cap="none" dirty="0" err="1">
                <a:solidFill>
                  <a:srgbClr val="5A655F"/>
                </a:solidFill>
                <a:latin typeface="Arial"/>
                <a:ea typeface="Arial"/>
                <a:cs typeface="Arial"/>
                <a:sym typeface="Arial"/>
              </a:rPr>
              <a:t>intento</a:t>
            </a:r>
            <a:r>
              <a:rPr lang="en-US" sz="1100" b="0" i="0" u="none" strike="noStrike" cap="none" dirty="0">
                <a:solidFill>
                  <a:srgbClr val="5A655F"/>
                </a:solidFill>
                <a:latin typeface="Arial"/>
                <a:ea typeface="Arial"/>
                <a:cs typeface="Arial"/>
                <a:sym typeface="Arial"/>
              </a:rPr>
              <a:t> y </a:t>
            </a:r>
            <a:r>
              <a:rPr lang="en-US" sz="1100" b="0" i="0" u="none" strike="noStrike" cap="none" dirty="0" err="1">
                <a:solidFill>
                  <a:srgbClr val="5A655F"/>
                </a:solidFill>
                <a:latin typeface="Arial"/>
                <a:ea typeface="Arial"/>
                <a:cs typeface="Arial"/>
                <a:sym typeface="Arial"/>
              </a:rPr>
              <a:t>bloqueo</a:t>
            </a:r>
            <a:endParaRPr dirty="0"/>
          </a:p>
        </p:txBody>
      </p:sp>
      <p:sp>
        <p:nvSpPr>
          <p:cNvPr id="235" name="Google Shape;235;p7"/>
          <p:cNvSpPr/>
          <p:nvPr/>
        </p:nvSpPr>
        <p:spPr>
          <a:xfrm>
            <a:off x="6272784" y="3822191"/>
            <a:ext cx="5385816" cy="1801368"/>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36" name="Google Shape;236;p7"/>
          <p:cNvSpPr/>
          <p:nvPr/>
        </p:nvSpPr>
        <p:spPr>
          <a:xfrm>
            <a:off x="6428232" y="3986783"/>
            <a:ext cx="676656" cy="393192"/>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37" name="Google Shape;237;p7"/>
          <p:cNvSpPr txBox="1"/>
          <p:nvPr/>
        </p:nvSpPr>
        <p:spPr>
          <a:xfrm>
            <a:off x="6464808" y="4069079"/>
            <a:ext cx="594360" cy="18288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Arial"/>
                <a:ea typeface="Arial"/>
                <a:cs typeface="Arial"/>
                <a:sym typeface="Arial"/>
              </a:rPr>
              <a:t>CP04</a:t>
            </a:r>
            <a:endParaRPr/>
          </a:p>
        </p:txBody>
      </p:sp>
      <p:sp>
        <p:nvSpPr>
          <p:cNvPr id="238" name="Google Shape;238;p7"/>
          <p:cNvSpPr txBox="1"/>
          <p:nvPr/>
        </p:nvSpPr>
        <p:spPr>
          <a:xfrm>
            <a:off x="7242048" y="4005072"/>
            <a:ext cx="4114800" cy="3200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263B33"/>
                </a:solidFill>
                <a:latin typeface="Arial"/>
                <a:ea typeface="Arial"/>
                <a:cs typeface="Arial"/>
                <a:sym typeface="Arial"/>
              </a:rPr>
              <a:t>Reservas simultáneas</a:t>
            </a:r>
            <a:endParaRPr/>
          </a:p>
        </p:txBody>
      </p:sp>
      <p:sp>
        <p:nvSpPr>
          <p:cNvPr id="239" name="Google Shape;239;p7"/>
          <p:cNvSpPr txBox="1"/>
          <p:nvPr/>
        </p:nvSpPr>
        <p:spPr>
          <a:xfrm>
            <a:off x="6455664" y="4480559"/>
            <a:ext cx="4919472" cy="2834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00" b="1" i="0" u="none" strike="noStrike" cap="none">
                <a:solidFill>
                  <a:srgbClr val="263B33"/>
                </a:solidFill>
                <a:latin typeface="Arial"/>
                <a:ea typeface="Arial"/>
                <a:cs typeface="Arial"/>
                <a:sym typeface="Arial"/>
              </a:rPr>
              <a:t>¿Se impide reservar dos veces el horario?</a:t>
            </a:r>
            <a:endParaRPr/>
          </a:p>
        </p:txBody>
      </p:sp>
      <p:sp>
        <p:nvSpPr>
          <p:cNvPr id="240" name="Google Shape;240;p7"/>
          <p:cNvSpPr txBox="1"/>
          <p:nvPr/>
        </p:nvSpPr>
        <p:spPr>
          <a:xfrm>
            <a:off x="6455664" y="4837176"/>
            <a:ext cx="4956048" cy="1769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0" i="0" u="none" strike="noStrike" cap="none" dirty="0">
                <a:solidFill>
                  <a:srgbClr val="5A655F"/>
                </a:solidFill>
                <a:latin typeface="Arial"/>
                <a:ea typeface="Arial"/>
                <a:cs typeface="Arial"/>
                <a:sym typeface="Arial"/>
              </a:rPr>
              <a:t>Dos solicitudes para un </a:t>
            </a:r>
            <a:r>
              <a:rPr lang="en-US" sz="1150" b="0" i="0" u="none" strike="noStrike" cap="none" dirty="0" err="1">
                <a:solidFill>
                  <a:srgbClr val="5A655F"/>
                </a:solidFill>
                <a:latin typeface="Arial"/>
                <a:ea typeface="Arial"/>
                <a:cs typeface="Arial"/>
                <a:sym typeface="Arial"/>
              </a:rPr>
              <a:t>mismo</a:t>
            </a:r>
            <a:r>
              <a:rPr lang="en-US" sz="1150" b="0" i="0" u="none" strike="noStrike" cap="none" dirty="0">
                <a:solidFill>
                  <a:srgbClr val="5A655F"/>
                </a:solidFill>
                <a:latin typeface="Arial"/>
                <a:ea typeface="Arial"/>
                <a:cs typeface="Arial"/>
                <a:sym typeface="Arial"/>
              </a:rPr>
              <a:t> </a:t>
            </a:r>
            <a:r>
              <a:rPr lang="en-US" sz="1150" b="0" i="0" u="none" strike="noStrike" cap="none" dirty="0" err="1">
                <a:solidFill>
                  <a:srgbClr val="5A655F"/>
                </a:solidFill>
                <a:latin typeface="Arial"/>
                <a:ea typeface="Arial"/>
                <a:cs typeface="Arial"/>
                <a:sym typeface="Arial"/>
              </a:rPr>
              <a:t>bloque</a:t>
            </a:r>
            <a:r>
              <a:rPr lang="en-US" sz="1150" b="0" i="0" u="none" strike="noStrike" cap="none" dirty="0">
                <a:solidFill>
                  <a:srgbClr val="5A655F"/>
                </a:solidFill>
                <a:latin typeface="Arial"/>
                <a:ea typeface="Arial"/>
                <a:cs typeface="Arial"/>
                <a:sym typeface="Arial"/>
              </a:rPr>
              <a:t> </a:t>
            </a:r>
            <a:r>
              <a:rPr lang="en-US" sz="1150" b="0" i="0" u="none" strike="noStrike" cap="none" dirty="0" err="1">
                <a:solidFill>
                  <a:srgbClr val="5A655F"/>
                </a:solidFill>
                <a:latin typeface="Arial"/>
                <a:ea typeface="Arial"/>
                <a:cs typeface="Arial"/>
                <a:sym typeface="Arial"/>
              </a:rPr>
              <a:t>horario</a:t>
            </a:r>
            <a:endParaRPr dirty="0"/>
          </a:p>
        </p:txBody>
      </p:sp>
      <p:sp>
        <p:nvSpPr>
          <p:cNvPr id="241" name="Google Shape;241;p7"/>
          <p:cNvSpPr txBox="1"/>
          <p:nvPr/>
        </p:nvSpPr>
        <p:spPr>
          <a:xfrm>
            <a:off x="6455664" y="5202936"/>
            <a:ext cx="4965192"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5A655F"/>
                </a:solidFill>
                <a:latin typeface="Arial"/>
                <a:ea typeface="Arial"/>
                <a:cs typeface="Arial"/>
                <a:sym typeface="Arial"/>
              </a:rPr>
              <a:t>Guardar</a:t>
            </a:r>
            <a:r>
              <a:rPr lang="en-US" sz="1100" b="0" i="0" u="none" strike="noStrike" cap="none" dirty="0">
                <a:solidFill>
                  <a:srgbClr val="5A655F"/>
                </a:solidFill>
                <a:latin typeface="Arial"/>
                <a:ea typeface="Arial"/>
                <a:cs typeface="Arial"/>
                <a:sym typeface="Arial"/>
              </a:rPr>
              <a:t> ambos </a:t>
            </a:r>
            <a:r>
              <a:rPr lang="en-US" sz="1100" b="0" i="0" u="none" strike="noStrike" cap="none" dirty="0" err="1">
                <a:solidFill>
                  <a:srgbClr val="5A655F"/>
                </a:solidFill>
                <a:latin typeface="Arial"/>
                <a:ea typeface="Arial"/>
                <a:cs typeface="Arial"/>
                <a:sym typeface="Arial"/>
              </a:rPr>
              <a:t>intentos</a:t>
            </a:r>
            <a:r>
              <a:rPr lang="en-US" sz="1100" b="0" i="0" u="none" strike="noStrike" cap="none" dirty="0">
                <a:solidFill>
                  <a:srgbClr val="5A655F"/>
                </a:solidFill>
                <a:latin typeface="Arial"/>
                <a:ea typeface="Arial"/>
                <a:cs typeface="Arial"/>
                <a:sym typeface="Arial"/>
              </a:rPr>
              <a:t> y la </a:t>
            </a:r>
            <a:r>
              <a:rPr lang="en-US" sz="1100" b="0" i="0" u="none" strike="noStrike" cap="none" dirty="0" err="1">
                <a:solidFill>
                  <a:srgbClr val="5A655F"/>
                </a:solidFill>
                <a:latin typeface="Arial"/>
                <a:ea typeface="Arial"/>
                <a:cs typeface="Arial"/>
                <a:sym typeface="Arial"/>
              </a:rPr>
              <a:t>reserva</a:t>
            </a:r>
            <a:r>
              <a:rPr lang="en-US" sz="1100" b="0" i="0" u="none" strike="noStrike" cap="none" dirty="0">
                <a:solidFill>
                  <a:srgbClr val="5A655F"/>
                </a:solidFill>
                <a:latin typeface="Arial"/>
                <a:ea typeface="Arial"/>
                <a:cs typeface="Arial"/>
                <a:sym typeface="Arial"/>
              </a:rPr>
              <a:t> final</a:t>
            </a:r>
            <a:endParaRPr dirty="0"/>
          </a:p>
        </p:txBody>
      </p:sp>
      <p:sp>
        <p:nvSpPr>
          <p:cNvPr id="242" name="Google Shape;242;p7"/>
          <p:cNvSpPr/>
          <p:nvPr/>
        </p:nvSpPr>
        <p:spPr>
          <a:xfrm>
            <a:off x="621792" y="6245352"/>
            <a:ext cx="10936224" cy="13716"/>
          </a:xfrm>
          <a:prstGeom prst="rect">
            <a:avLst/>
          </a:prstGeom>
          <a:solidFill>
            <a:srgbClr val="E0E1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247"/>
        <p:cNvGrpSpPr/>
        <p:nvPr/>
      </p:nvGrpSpPr>
      <p:grpSpPr>
        <a:xfrm>
          <a:off x="0" y="0"/>
          <a:ext cx="0" cy="0"/>
          <a:chOff x="0" y="0"/>
          <a:chExt cx="0" cy="0"/>
        </a:xfrm>
      </p:grpSpPr>
      <p:sp>
        <p:nvSpPr>
          <p:cNvPr id="248" name="Google Shape;248;p8"/>
          <p:cNvSpPr/>
          <p:nvPr/>
        </p:nvSpPr>
        <p:spPr>
          <a:xfrm>
            <a:off x="0" y="0"/>
            <a:ext cx="12191695" cy="6858000"/>
          </a:xfrm>
          <a:prstGeom prst="rect">
            <a:avLst/>
          </a:prstGeom>
          <a:solidFill>
            <a:srgbClr val="F7F6F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49" name="Google Shape;249;p8"/>
          <p:cNvSpPr/>
          <p:nvPr/>
        </p:nvSpPr>
        <p:spPr>
          <a:xfrm>
            <a:off x="0" y="0"/>
            <a:ext cx="128016" cy="6858000"/>
          </a:xfrm>
          <a:prstGeom prst="rect">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50" name="Google Shape;250;p8"/>
          <p:cNvSpPr txBox="1"/>
          <p:nvPr/>
        </p:nvSpPr>
        <p:spPr>
          <a:xfrm>
            <a:off x="603504" y="329184"/>
            <a:ext cx="10972800" cy="5394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900" b="1" i="0" u="none" strike="noStrike" cap="none">
                <a:solidFill>
                  <a:srgbClr val="263B33"/>
                </a:solidFill>
                <a:latin typeface="Arial"/>
                <a:ea typeface="Arial"/>
                <a:cs typeface="Arial"/>
                <a:sym typeface="Arial"/>
              </a:rPr>
              <a:t>Pruebas II: pagos, vencimientos y app móvil</a:t>
            </a:r>
            <a:endParaRPr/>
          </a:p>
        </p:txBody>
      </p:sp>
      <p:sp>
        <p:nvSpPr>
          <p:cNvPr id="251" name="Google Shape;251;p8"/>
          <p:cNvSpPr/>
          <p:nvPr/>
        </p:nvSpPr>
        <p:spPr>
          <a:xfrm>
            <a:off x="612648" y="1024128"/>
            <a:ext cx="603504" cy="32004"/>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52" name="Google Shape;252;p8"/>
          <p:cNvSpPr txBox="1"/>
          <p:nvPr/>
        </p:nvSpPr>
        <p:spPr>
          <a:xfrm>
            <a:off x="621792" y="1179576"/>
            <a:ext cx="10927080" cy="502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A655F"/>
                </a:solidFill>
                <a:latin typeface="Arial"/>
                <a:ea typeface="Arial"/>
                <a:cs typeface="Arial"/>
                <a:sym typeface="Arial"/>
              </a:rPr>
              <a:t>Estas pruebas están planificadas; falta ejecutarlas y guardar evidencia de sus resultados.</a:t>
            </a:r>
            <a:endParaRPr/>
          </a:p>
        </p:txBody>
      </p:sp>
      <p:sp>
        <p:nvSpPr>
          <p:cNvPr id="253" name="Google Shape;253;p8"/>
          <p:cNvSpPr txBox="1"/>
          <p:nvPr/>
        </p:nvSpPr>
        <p:spPr>
          <a:xfrm>
            <a:off x="11301984" y="6483096"/>
            <a:ext cx="347472" cy="20116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1000" b="0" i="0" u="none" strike="noStrike" cap="none">
                <a:solidFill>
                  <a:srgbClr val="5A655F"/>
                </a:solidFill>
                <a:latin typeface="Arial"/>
                <a:ea typeface="Arial"/>
                <a:cs typeface="Arial"/>
                <a:sym typeface="Arial"/>
              </a:rPr>
              <a:t>08</a:t>
            </a:r>
            <a:endParaRPr/>
          </a:p>
        </p:txBody>
      </p:sp>
      <p:sp>
        <p:nvSpPr>
          <p:cNvPr id="254" name="Google Shape;254;p8"/>
          <p:cNvSpPr/>
          <p:nvPr/>
        </p:nvSpPr>
        <p:spPr>
          <a:xfrm>
            <a:off x="640080" y="1874519"/>
            <a:ext cx="5385816" cy="1801368"/>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55" name="Google Shape;255;p8"/>
          <p:cNvSpPr/>
          <p:nvPr/>
        </p:nvSpPr>
        <p:spPr>
          <a:xfrm>
            <a:off x="804671" y="2039112"/>
            <a:ext cx="676656" cy="393192"/>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56" name="Google Shape;256;p8"/>
          <p:cNvSpPr txBox="1"/>
          <p:nvPr/>
        </p:nvSpPr>
        <p:spPr>
          <a:xfrm>
            <a:off x="841247" y="2121408"/>
            <a:ext cx="594360" cy="18288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Arial"/>
                <a:ea typeface="Arial"/>
                <a:cs typeface="Arial"/>
                <a:sym typeface="Arial"/>
              </a:rPr>
              <a:t>CP05</a:t>
            </a:r>
            <a:endParaRPr/>
          </a:p>
        </p:txBody>
      </p:sp>
      <p:sp>
        <p:nvSpPr>
          <p:cNvPr id="257" name="Google Shape;257;p8"/>
          <p:cNvSpPr txBox="1"/>
          <p:nvPr/>
        </p:nvSpPr>
        <p:spPr>
          <a:xfrm>
            <a:off x="1627632" y="2057400"/>
            <a:ext cx="3986784" cy="3657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263B33"/>
                </a:solidFill>
                <a:latin typeface="Arial"/>
                <a:ea typeface="Arial"/>
                <a:cs typeface="Arial"/>
                <a:sym typeface="Arial"/>
              </a:rPr>
              <a:t>Reserva vencida</a:t>
            </a:r>
            <a:endParaRPr/>
          </a:p>
        </p:txBody>
      </p:sp>
      <p:sp>
        <p:nvSpPr>
          <p:cNvPr id="258" name="Google Shape;258;p8"/>
          <p:cNvSpPr txBox="1"/>
          <p:nvPr/>
        </p:nvSpPr>
        <p:spPr>
          <a:xfrm>
            <a:off x="822959" y="2587752"/>
            <a:ext cx="4828032"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RESULTADO ESPERADO</a:t>
            </a:r>
            <a:endParaRPr/>
          </a:p>
        </p:txBody>
      </p:sp>
      <p:sp>
        <p:nvSpPr>
          <p:cNvPr id="259" name="Google Shape;259;p8"/>
          <p:cNvSpPr txBox="1"/>
          <p:nvPr/>
        </p:nvSpPr>
        <p:spPr>
          <a:xfrm>
            <a:off x="822959" y="2834639"/>
            <a:ext cx="4892040" cy="1846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dirty="0" err="1">
                <a:solidFill>
                  <a:srgbClr val="263B33"/>
                </a:solidFill>
                <a:latin typeface="Arial"/>
                <a:ea typeface="Arial"/>
                <a:cs typeface="Arial"/>
                <a:sym typeface="Arial"/>
              </a:rPr>
              <a:t>Liberar</a:t>
            </a:r>
            <a:r>
              <a:rPr lang="en-US" sz="1200" b="0" i="0" u="none" strike="noStrike" cap="none" dirty="0">
                <a:solidFill>
                  <a:srgbClr val="263B33"/>
                </a:solidFill>
                <a:latin typeface="Arial"/>
                <a:ea typeface="Arial"/>
                <a:cs typeface="Arial"/>
                <a:sym typeface="Arial"/>
              </a:rPr>
              <a:t> el </a:t>
            </a:r>
            <a:r>
              <a:rPr lang="en-US" sz="1200" b="0" i="0" u="none" strike="noStrike" cap="none" dirty="0" err="1">
                <a:solidFill>
                  <a:srgbClr val="263B33"/>
                </a:solidFill>
                <a:latin typeface="Arial"/>
                <a:ea typeface="Arial"/>
                <a:cs typeface="Arial"/>
                <a:sym typeface="Arial"/>
              </a:rPr>
              <a:t>horario</a:t>
            </a:r>
            <a:r>
              <a:rPr lang="en-US" sz="1200" b="0" i="0" u="none" strike="noStrike" cap="none" dirty="0">
                <a:solidFill>
                  <a:srgbClr val="263B33"/>
                </a:solidFill>
                <a:latin typeface="Arial"/>
                <a:ea typeface="Arial"/>
                <a:cs typeface="Arial"/>
                <a:sym typeface="Arial"/>
              </a:rPr>
              <a:t> </a:t>
            </a:r>
            <a:r>
              <a:rPr lang="en-US" sz="1200" b="0" i="0" u="none" strike="noStrike" cap="none" dirty="0" err="1">
                <a:solidFill>
                  <a:srgbClr val="263B33"/>
                </a:solidFill>
                <a:latin typeface="Arial"/>
                <a:ea typeface="Arial"/>
                <a:cs typeface="Arial"/>
                <a:sym typeface="Arial"/>
              </a:rPr>
              <a:t>si</a:t>
            </a:r>
            <a:r>
              <a:rPr lang="en-US" sz="1200" b="0" i="0" u="none" strike="noStrike" cap="none" dirty="0">
                <a:solidFill>
                  <a:srgbClr val="263B33"/>
                </a:solidFill>
                <a:latin typeface="Arial"/>
                <a:ea typeface="Arial"/>
                <a:cs typeface="Arial"/>
                <a:sym typeface="Arial"/>
              </a:rPr>
              <a:t> la </a:t>
            </a:r>
            <a:r>
              <a:rPr lang="en-US" sz="1200" b="0" i="0" u="none" strike="noStrike" cap="none" dirty="0" err="1">
                <a:solidFill>
                  <a:srgbClr val="263B33"/>
                </a:solidFill>
                <a:latin typeface="Arial"/>
                <a:ea typeface="Arial"/>
                <a:cs typeface="Arial"/>
                <a:sym typeface="Arial"/>
              </a:rPr>
              <a:t>reserva</a:t>
            </a:r>
            <a:r>
              <a:rPr lang="en-US" sz="1200" b="0" i="0" u="none" strike="noStrike" cap="none" dirty="0">
                <a:solidFill>
                  <a:srgbClr val="263B33"/>
                </a:solidFill>
                <a:latin typeface="Arial"/>
                <a:ea typeface="Arial"/>
                <a:cs typeface="Arial"/>
                <a:sym typeface="Arial"/>
              </a:rPr>
              <a:t> no se </a:t>
            </a:r>
            <a:r>
              <a:rPr lang="en-US" sz="1200" b="0" i="0" u="none" strike="noStrike" cap="none" dirty="0" err="1">
                <a:solidFill>
                  <a:srgbClr val="263B33"/>
                </a:solidFill>
                <a:latin typeface="Arial"/>
                <a:ea typeface="Arial"/>
                <a:cs typeface="Arial"/>
                <a:sym typeface="Arial"/>
              </a:rPr>
              <a:t>confirma</a:t>
            </a:r>
            <a:r>
              <a:rPr lang="en-US" sz="1200" b="0" i="0" u="none" strike="noStrike" cap="none" dirty="0">
                <a:solidFill>
                  <a:srgbClr val="263B33"/>
                </a:solidFill>
                <a:latin typeface="Arial"/>
                <a:ea typeface="Arial"/>
                <a:cs typeface="Arial"/>
                <a:sym typeface="Arial"/>
              </a:rPr>
              <a:t> a </a:t>
            </a:r>
            <a:r>
              <a:rPr lang="en-US" sz="1200" b="0" i="0" u="none" strike="noStrike" cap="none" dirty="0" err="1">
                <a:solidFill>
                  <a:srgbClr val="263B33"/>
                </a:solidFill>
                <a:latin typeface="Arial"/>
                <a:ea typeface="Arial"/>
                <a:cs typeface="Arial"/>
                <a:sym typeface="Arial"/>
              </a:rPr>
              <a:t>tiempo</a:t>
            </a:r>
            <a:endParaRPr dirty="0"/>
          </a:p>
        </p:txBody>
      </p:sp>
      <p:sp>
        <p:nvSpPr>
          <p:cNvPr id="260" name="Google Shape;260;p8"/>
          <p:cNvSpPr txBox="1"/>
          <p:nvPr/>
        </p:nvSpPr>
        <p:spPr>
          <a:xfrm>
            <a:off x="822959" y="3264408"/>
            <a:ext cx="4892040"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5A655F"/>
                </a:solidFill>
                <a:latin typeface="Arial"/>
                <a:ea typeface="Arial"/>
                <a:cs typeface="Arial"/>
                <a:sym typeface="Arial"/>
              </a:rPr>
              <a:t>Mostrar</a:t>
            </a:r>
            <a:r>
              <a:rPr lang="en-US" sz="1100" b="0" i="0" u="none" strike="noStrike" cap="none" dirty="0">
                <a:solidFill>
                  <a:srgbClr val="5A655F"/>
                </a:solidFill>
                <a:latin typeface="Arial"/>
                <a:ea typeface="Arial"/>
                <a:cs typeface="Arial"/>
                <a:sym typeface="Arial"/>
              </a:rPr>
              <a:t> </a:t>
            </a:r>
            <a:r>
              <a:rPr lang="en-US" sz="1100" b="0" i="0" u="none" strike="noStrike" cap="none" dirty="0" err="1">
                <a:solidFill>
                  <a:srgbClr val="5A655F"/>
                </a:solidFill>
                <a:latin typeface="Arial"/>
                <a:ea typeface="Arial"/>
                <a:cs typeface="Arial"/>
                <a:sym typeface="Arial"/>
              </a:rPr>
              <a:t>plazo</a:t>
            </a:r>
            <a:r>
              <a:rPr lang="en-US" sz="1100" b="0" i="0" u="none" strike="noStrike" cap="none" dirty="0">
                <a:solidFill>
                  <a:srgbClr val="5A655F"/>
                </a:solidFill>
                <a:latin typeface="Arial"/>
                <a:ea typeface="Arial"/>
                <a:cs typeface="Arial"/>
                <a:sym typeface="Arial"/>
              </a:rPr>
              <a:t> y </a:t>
            </a:r>
            <a:r>
              <a:rPr lang="en-US" sz="1100" b="0" i="0" u="none" strike="noStrike" cap="none" dirty="0" err="1">
                <a:solidFill>
                  <a:srgbClr val="5A655F"/>
                </a:solidFill>
                <a:latin typeface="Arial"/>
                <a:ea typeface="Arial"/>
                <a:cs typeface="Arial"/>
                <a:sym typeface="Arial"/>
              </a:rPr>
              <a:t>estados</a:t>
            </a:r>
            <a:r>
              <a:rPr lang="en-US" sz="1100" b="0" i="0" u="none" strike="noStrike" cap="none" dirty="0">
                <a:solidFill>
                  <a:srgbClr val="5A655F"/>
                </a:solidFill>
                <a:latin typeface="Arial"/>
                <a:ea typeface="Arial"/>
                <a:cs typeface="Arial"/>
                <a:sym typeface="Arial"/>
              </a:rPr>
              <a:t> antes y </a:t>
            </a:r>
            <a:r>
              <a:rPr lang="en-US" sz="1100" b="0" i="0" u="none" strike="noStrike" cap="none" dirty="0" err="1">
                <a:solidFill>
                  <a:srgbClr val="5A655F"/>
                </a:solidFill>
                <a:latin typeface="Arial"/>
                <a:ea typeface="Arial"/>
                <a:cs typeface="Arial"/>
                <a:sym typeface="Arial"/>
              </a:rPr>
              <a:t>después</a:t>
            </a:r>
            <a:endParaRPr dirty="0"/>
          </a:p>
        </p:txBody>
      </p:sp>
      <p:sp>
        <p:nvSpPr>
          <p:cNvPr id="261" name="Google Shape;261;p8"/>
          <p:cNvSpPr/>
          <p:nvPr/>
        </p:nvSpPr>
        <p:spPr>
          <a:xfrm>
            <a:off x="6272784" y="1874519"/>
            <a:ext cx="5385816" cy="1801368"/>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62" name="Google Shape;262;p8"/>
          <p:cNvSpPr/>
          <p:nvPr/>
        </p:nvSpPr>
        <p:spPr>
          <a:xfrm>
            <a:off x="6437376" y="2039112"/>
            <a:ext cx="676656" cy="393192"/>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63" name="Google Shape;263;p8"/>
          <p:cNvSpPr txBox="1"/>
          <p:nvPr/>
        </p:nvSpPr>
        <p:spPr>
          <a:xfrm>
            <a:off x="6473952" y="2121408"/>
            <a:ext cx="594360" cy="18288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Arial"/>
                <a:ea typeface="Arial"/>
                <a:cs typeface="Arial"/>
                <a:sym typeface="Arial"/>
              </a:rPr>
              <a:t>CP06</a:t>
            </a:r>
            <a:endParaRPr/>
          </a:p>
        </p:txBody>
      </p:sp>
      <p:sp>
        <p:nvSpPr>
          <p:cNvPr id="264" name="Google Shape;264;p8"/>
          <p:cNvSpPr txBox="1"/>
          <p:nvPr/>
        </p:nvSpPr>
        <p:spPr>
          <a:xfrm>
            <a:off x="7260336" y="2057400"/>
            <a:ext cx="3986784" cy="3657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263B33"/>
                </a:solidFill>
                <a:latin typeface="Arial"/>
                <a:ea typeface="Arial"/>
                <a:cs typeface="Arial"/>
                <a:sym typeface="Arial"/>
              </a:rPr>
              <a:t>Resultado del pago</a:t>
            </a:r>
            <a:endParaRPr/>
          </a:p>
        </p:txBody>
      </p:sp>
      <p:sp>
        <p:nvSpPr>
          <p:cNvPr id="265" name="Google Shape;265;p8"/>
          <p:cNvSpPr txBox="1"/>
          <p:nvPr/>
        </p:nvSpPr>
        <p:spPr>
          <a:xfrm>
            <a:off x="6455664" y="2587752"/>
            <a:ext cx="4828032"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RESULTADO ESPERADO</a:t>
            </a:r>
            <a:endParaRPr/>
          </a:p>
        </p:txBody>
      </p:sp>
      <p:sp>
        <p:nvSpPr>
          <p:cNvPr id="266" name="Google Shape;266;p8"/>
          <p:cNvSpPr txBox="1"/>
          <p:nvPr/>
        </p:nvSpPr>
        <p:spPr>
          <a:xfrm>
            <a:off x="6455664" y="2834639"/>
            <a:ext cx="4892040" cy="1846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dirty="0" err="1">
                <a:solidFill>
                  <a:srgbClr val="263B33"/>
                </a:solidFill>
                <a:latin typeface="Arial"/>
                <a:ea typeface="Arial"/>
                <a:cs typeface="Arial"/>
                <a:sym typeface="Arial"/>
              </a:rPr>
              <a:t>Actualizar</a:t>
            </a:r>
            <a:r>
              <a:rPr lang="en-US" sz="1200" b="0" i="0" u="none" strike="noStrike" cap="none" dirty="0">
                <a:solidFill>
                  <a:srgbClr val="263B33"/>
                </a:solidFill>
                <a:latin typeface="Arial"/>
                <a:ea typeface="Arial"/>
                <a:cs typeface="Arial"/>
                <a:sym typeface="Arial"/>
              </a:rPr>
              <a:t> </a:t>
            </a:r>
            <a:r>
              <a:rPr lang="en-US" sz="1200" b="0" i="0" u="none" strike="noStrike" cap="none" dirty="0" err="1">
                <a:solidFill>
                  <a:srgbClr val="263B33"/>
                </a:solidFill>
                <a:latin typeface="Arial"/>
                <a:ea typeface="Arial"/>
                <a:cs typeface="Arial"/>
                <a:sym typeface="Arial"/>
              </a:rPr>
              <a:t>pedido</a:t>
            </a:r>
            <a:r>
              <a:rPr lang="en-US" sz="1200" b="0" i="0" u="none" strike="noStrike" cap="none" dirty="0">
                <a:solidFill>
                  <a:srgbClr val="263B33"/>
                </a:solidFill>
                <a:latin typeface="Arial"/>
                <a:ea typeface="Arial"/>
                <a:cs typeface="Arial"/>
                <a:sym typeface="Arial"/>
              </a:rPr>
              <a:t> y </a:t>
            </a:r>
            <a:r>
              <a:rPr lang="en-US" sz="1200" b="0" i="0" u="none" strike="noStrike" cap="none" dirty="0" err="1">
                <a:solidFill>
                  <a:srgbClr val="263B33"/>
                </a:solidFill>
                <a:latin typeface="Arial"/>
                <a:ea typeface="Arial"/>
                <a:cs typeface="Arial"/>
                <a:sym typeface="Arial"/>
              </a:rPr>
              <a:t>pago</a:t>
            </a:r>
            <a:r>
              <a:rPr lang="en-US" sz="1200" b="0" i="0" u="none" strike="noStrike" cap="none" dirty="0">
                <a:solidFill>
                  <a:srgbClr val="263B33"/>
                </a:solidFill>
                <a:latin typeface="Arial"/>
                <a:ea typeface="Arial"/>
                <a:cs typeface="Arial"/>
                <a:sym typeface="Arial"/>
              </a:rPr>
              <a:t> </a:t>
            </a:r>
            <a:r>
              <a:rPr lang="en-US" sz="1200" b="0" i="0" u="none" strike="noStrike" cap="none" dirty="0" err="1">
                <a:solidFill>
                  <a:srgbClr val="263B33"/>
                </a:solidFill>
                <a:latin typeface="Arial"/>
                <a:ea typeface="Arial"/>
                <a:cs typeface="Arial"/>
                <a:sym typeface="Arial"/>
              </a:rPr>
              <a:t>según</a:t>
            </a:r>
            <a:r>
              <a:rPr lang="en-US" sz="1200" b="0" i="0" u="none" strike="noStrike" cap="none" dirty="0">
                <a:solidFill>
                  <a:srgbClr val="263B33"/>
                </a:solidFill>
                <a:latin typeface="Arial"/>
                <a:ea typeface="Arial"/>
                <a:cs typeface="Arial"/>
                <a:sym typeface="Arial"/>
              </a:rPr>
              <a:t> lo </a:t>
            </a:r>
            <a:r>
              <a:rPr lang="en-US" sz="1200" b="0" i="0" u="none" strike="noStrike" cap="none" dirty="0" err="1">
                <a:solidFill>
                  <a:srgbClr val="263B33"/>
                </a:solidFill>
                <a:latin typeface="Arial"/>
                <a:ea typeface="Arial"/>
                <a:cs typeface="Arial"/>
                <a:sym typeface="Arial"/>
              </a:rPr>
              <a:t>informado</a:t>
            </a:r>
            <a:r>
              <a:rPr lang="en-US" sz="1200" b="0" i="0" u="none" strike="noStrike" cap="none" dirty="0">
                <a:solidFill>
                  <a:srgbClr val="263B33"/>
                </a:solidFill>
                <a:latin typeface="Arial"/>
                <a:ea typeface="Arial"/>
                <a:cs typeface="Arial"/>
                <a:sym typeface="Arial"/>
              </a:rPr>
              <a:t> </a:t>
            </a:r>
            <a:r>
              <a:rPr lang="en-US" sz="1200" b="0" i="0" u="none" strike="noStrike" cap="none" dirty="0" err="1">
                <a:solidFill>
                  <a:srgbClr val="263B33"/>
                </a:solidFill>
                <a:latin typeface="Arial"/>
                <a:ea typeface="Arial"/>
                <a:cs typeface="Arial"/>
                <a:sym typeface="Arial"/>
              </a:rPr>
              <a:t>por</a:t>
            </a:r>
            <a:r>
              <a:rPr lang="en-US" sz="1200" b="0" i="0" u="none" strike="noStrike" cap="none" dirty="0">
                <a:solidFill>
                  <a:srgbClr val="263B33"/>
                </a:solidFill>
                <a:latin typeface="Arial"/>
                <a:ea typeface="Arial"/>
                <a:cs typeface="Arial"/>
                <a:sym typeface="Arial"/>
              </a:rPr>
              <a:t> </a:t>
            </a:r>
            <a:r>
              <a:rPr lang="en-US" sz="1200" b="0" i="0" u="none" strike="noStrike" cap="none" dirty="0" err="1">
                <a:solidFill>
                  <a:srgbClr val="263B33"/>
                </a:solidFill>
                <a:latin typeface="Arial"/>
                <a:ea typeface="Arial"/>
                <a:cs typeface="Arial"/>
                <a:sym typeface="Arial"/>
              </a:rPr>
              <a:t>Webpay</a:t>
            </a:r>
            <a:endParaRPr dirty="0"/>
          </a:p>
        </p:txBody>
      </p:sp>
      <p:sp>
        <p:nvSpPr>
          <p:cNvPr id="267" name="Google Shape;267;p8"/>
          <p:cNvSpPr txBox="1"/>
          <p:nvPr/>
        </p:nvSpPr>
        <p:spPr>
          <a:xfrm>
            <a:off x="6455664" y="3264408"/>
            <a:ext cx="4892040"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5A655F"/>
                </a:solidFill>
                <a:latin typeface="Arial"/>
                <a:ea typeface="Arial"/>
                <a:cs typeface="Arial"/>
                <a:sym typeface="Arial"/>
              </a:rPr>
              <a:t>Guardar</a:t>
            </a:r>
            <a:r>
              <a:rPr lang="en-US" sz="1100" b="0" i="0" u="none" strike="noStrike" cap="none" dirty="0">
                <a:solidFill>
                  <a:srgbClr val="5A655F"/>
                </a:solidFill>
                <a:latin typeface="Arial"/>
                <a:ea typeface="Arial"/>
                <a:cs typeface="Arial"/>
                <a:sym typeface="Arial"/>
              </a:rPr>
              <a:t> </a:t>
            </a:r>
            <a:r>
              <a:rPr lang="en-US" sz="1100" b="0" i="0" u="none" strike="noStrike" cap="none" dirty="0" err="1">
                <a:solidFill>
                  <a:srgbClr val="5A655F"/>
                </a:solidFill>
                <a:latin typeface="Arial"/>
                <a:ea typeface="Arial"/>
                <a:cs typeface="Arial"/>
                <a:sym typeface="Arial"/>
              </a:rPr>
              <a:t>respuesta</a:t>
            </a:r>
            <a:r>
              <a:rPr lang="en-US" sz="1100" b="0" i="0" u="none" strike="noStrike" cap="none" dirty="0">
                <a:solidFill>
                  <a:srgbClr val="5A655F"/>
                </a:solidFill>
                <a:latin typeface="Arial"/>
                <a:ea typeface="Arial"/>
                <a:cs typeface="Arial"/>
                <a:sym typeface="Arial"/>
              </a:rPr>
              <a:t> y datos </a:t>
            </a:r>
            <a:r>
              <a:rPr lang="en-US" sz="1100" b="0" i="0" u="none" strike="noStrike" cap="none" dirty="0" err="1">
                <a:solidFill>
                  <a:srgbClr val="5A655F"/>
                </a:solidFill>
                <a:latin typeface="Arial"/>
                <a:ea typeface="Arial"/>
                <a:cs typeface="Arial"/>
                <a:sym typeface="Arial"/>
              </a:rPr>
              <a:t>registrados</a:t>
            </a:r>
            <a:endParaRPr dirty="0"/>
          </a:p>
        </p:txBody>
      </p:sp>
      <p:sp>
        <p:nvSpPr>
          <p:cNvPr id="268" name="Google Shape;268;p8"/>
          <p:cNvSpPr/>
          <p:nvPr/>
        </p:nvSpPr>
        <p:spPr>
          <a:xfrm>
            <a:off x="640080" y="3822191"/>
            <a:ext cx="5385816" cy="1801368"/>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69" name="Google Shape;269;p8"/>
          <p:cNvSpPr/>
          <p:nvPr/>
        </p:nvSpPr>
        <p:spPr>
          <a:xfrm>
            <a:off x="804671" y="3986783"/>
            <a:ext cx="676656" cy="393192"/>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0" name="Google Shape;270;p8"/>
          <p:cNvSpPr txBox="1"/>
          <p:nvPr/>
        </p:nvSpPr>
        <p:spPr>
          <a:xfrm>
            <a:off x="841247" y="4069079"/>
            <a:ext cx="594360" cy="18288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Arial"/>
                <a:ea typeface="Arial"/>
                <a:cs typeface="Arial"/>
                <a:sym typeface="Arial"/>
              </a:rPr>
              <a:t>CP07</a:t>
            </a:r>
            <a:endParaRPr/>
          </a:p>
        </p:txBody>
      </p:sp>
      <p:sp>
        <p:nvSpPr>
          <p:cNvPr id="271" name="Google Shape;271;p8"/>
          <p:cNvSpPr txBox="1"/>
          <p:nvPr/>
        </p:nvSpPr>
        <p:spPr>
          <a:xfrm>
            <a:off x="1627632" y="4005072"/>
            <a:ext cx="3986784" cy="3657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263B33"/>
                </a:solidFill>
                <a:latin typeface="Arial"/>
                <a:ea typeface="Arial"/>
                <a:cs typeface="Arial"/>
                <a:sym typeface="Arial"/>
              </a:rPr>
              <a:t>Comisión única</a:t>
            </a:r>
            <a:endParaRPr/>
          </a:p>
        </p:txBody>
      </p:sp>
      <p:sp>
        <p:nvSpPr>
          <p:cNvPr id="272" name="Google Shape;272;p8"/>
          <p:cNvSpPr txBox="1"/>
          <p:nvPr/>
        </p:nvSpPr>
        <p:spPr>
          <a:xfrm>
            <a:off x="822959" y="4535424"/>
            <a:ext cx="4828032"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RESULTADO ESPERADO</a:t>
            </a:r>
            <a:endParaRPr/>
          </a:p>
        </p:txBody>
      </p:sp>
      <p:sp>
        <p:nvSpPr>
          <p:cNvPr id="273" name="Google Shape;273;p8"/>
          <p:cNvSpPr txBox="1"/>
          <p:nvPr/>
        </p:nvSpPr>
        <p:spPr>
          <a:xfrm>
            <a:off x="822959" y="4782312"/>
            <a:ext cx="4892040" cy="1846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dirty="0" err="1">
                <a:solidFill>
                  <a:srgbClr val="263B33"/>
                </a:solidFill>
                <a:latin typeface="Arial"/>
                <a:ea typeface="Arial"/>
                <a:cs typeface="Arial"/>
                <a:sym typeface="Arial"/>
              </a:rPr>
              <a:t>Calcular</a:t>
            </a:r>
            <a:r>
              <a:rPr lang="en-US" sz="1200" b="0" i="0" u="none" strike="noStrike" cap="none" dirty="0">
                <a:solidFill>
                  <a:srgbClr val="263B33"/>
                </a:solidFill>
                <a:latin typeface="Arial"/>
                <a:ea typeface="Arial"/>
                <a:cs typeface="Arial"/>
                <a:sym typeface="Arial"/>
              </a:rPr>
              <a:t> </a:t>
            </a:r>
            <a:r>
              <a:rPr lang="en-US" sz="1200" b="0" i="0" u="none" strike="noStrike" cap="none" dirty="0" err="1">
                <a:solidFill>
                  <a:srgbClr val="263B33"/>
                </a:solidFill>
                <a:latin typeface="Arial"/>
                <a:ea typeface="Arial"/>
                <a:cs typeface="Arial"/>
                <a:sym typeface="Arial"/>
              </a:rPr>
              <a:t>correctamente</a:t>
            </a:r>
            <a:r>
              <a:rPr lang="en-US" sz="1200" b="0" i="0" u="none" strike="noStrike" cap="none" dirty="0">
                <a:solidFill>
                  <a:srgbClr val="263B33"/>
                </a:solidFill>
                <a:latin typeface="Arial"/>
                <a:ea typeface="Arial"/>
                <a:cs typeface="Arial"/>
                <a:sym typeface="Arial"/>
              </a:rPr>
              <a:t> la </a:t>
            </a:r>
            <a:r>
              <a:rPr lang="en-US" sz="1200" b="0" i="0" u="none" strike="noStrike" cap="none" dirty="0" err="1">
                <a:solidFill>
                  <a:srgbClr val="263B33"/>
                </a:solidFill>
                <a:latin typeface="Arial"/>
                <a:ea typeface="Arial"/>
                <a:cs typeface="Arial"/>
                <a:sym typeface="Arial"/>
              </a:rPr>
              <a:t>comisión</a:t>
            </a:r>
            <a:r>
              <a:rPr lang="en-US" sz="1200" b="0" i="0" u="none" strike="noStrike" cap="none" dirty="0">
                <a:solidFill>
                  <a:srgbClr val="263B33"/>
                </a:solidFill>
                <a:latin typeface="Arial"/>
                <a:ea typeface="Arial"/>
                <a:cs typeface="Arial"/>
                <a:sym typeface="Arial"/>
              </a:rPr>
              <a:t> </a:t>
            </a:r>
            <a:r>
              <a:rPr lang="en-US" sz="1200" b="0" i="0" u="none" strike="noStrike" cap="none" dirty="0" err="1">
                <a:solidFill>
                  <a:srgbClr val="263B33"/>
                </a:solidFill>
                <a:latin typeface="Arial"/>
                <a:ea typeface="Arial"/>
                <a:cs typeface="Arial"/>
                <a:sym typeface="Arial"/>
              </a:rPr>
              <a:t>una</a:t>
            </a:r>
            <a:r>
              <a:rPr lang="en-US" sz="1200" b="0" i="0" u="none" strike="noStrike" cap="none" dirty="0">
                <a:solidFill>
                  <a:srgbClr val="263B33"/>
                </a:solidFill>
                <a:latin typeface="Arial"/>
                <a:ea typeface="Arial"/>
                <a:cs typeface="Arial"/>
                <a:sym typeface="Arial"/>
              </a:rPr>
              <a:t> sola </a:t>
            </a:r>
            <a:r>
              <a:rPr lang="en-US" sz="1200" b="0" i="0" u="none" strike="noStrike" cap="none" dirty="0" err="1">
                <a:solidFill>
                  <a:srgbClr val="263B33"/>
                </a:solidFill>
                <a:latin typeface="Arial"/>
                <a:ea typeface="Arial"/>
                <a:cs typeface="Arial"/>
                <a:sym typeface="Arial"/>
              </a:rPr>
              <a:t>vez</a:t>
            </a:r>
            <a:endParaRPr dirty="0"/>
          </a:p>
        </p:txBody>
      </p:sp>
      <p:sp>
        <p:nvSpPr>
          <p:cNvPr id="274" name="Google Shape;274;p8"/>
          <p:cNvSpPr txBox="1"/>
          <p:nvPr/>
        </p:nvSpPr>
        <p:spPr>
          <a:xfrm>
            <a:off x="822959" y="5212079"/>
            <a:ext cx="4892040"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5A655F"/>
                </a:solidFill>
                <a:latin typeface="Arial"/>
                <a:ea typeface="Arial"/>
                <a:cs typeface="Arial"/>
                <a:sym typeface="Arial"/>
              </a:rPr>
              <a:t>Guardar</a:t>
            </a:r>
            <a:r>
              <a:rPr lang="en-US" sz="1100" b="0" i="0" u="none" strike="noStrike" cap="none" dirty="0">
                <a:solidFill>
                  <a:srgbClr val="5A655F"/>
                </a:solidFill>
                <a:latin typeface="Arial"/>
                <a:ea typeface="Arial"/>
                <a:cs typeface="Arial"/>
                <a:sym typeface="Arial"/>
              </a:rPr>
              <a:t> </a:t>
            </a:r>
            <a:r>
              <a:rPr lang="en-US" sz="1100" b="0" i="0" u="none" strike="noStrike" cap="none" dirty="0" err="1">
                <a:solidFill>
                  <a:srgbClr val="5A655F"/>
                </a:solidFill>
                <a:latin typeface="Arial"/>
                <a:ea typeface="Arial"/>
                <a:cs typeface="Arial"/>
                <a:sym typeface="Arial"/>
              </a:rPr>
              <a:t>cálculo</a:t>
            </a:r>
            <a:r>
              <a:rPr lang="en-US" sz="1100" b="0" i="0" u="none" strike="noStrike" cap="none" dirty="0">
                <a:solidFill>
                  <a:srgbClr val="5A655F"/>
                </a:solidFill>
                <a:latin typeface="Arial"/>
                <a:ea typeface="Arial"/>
                <a:cs typeface="Arial"/>
                <a:sym typeface="Arial"/>
              </a:rPr>
              <a:t>, </a:t>
            </a:r>
            <a:r>
              <a:rPr lang="en-US" sz="1100" b="0" i="0" u="none" strike="noStrike" cap="none" dirty="0" err="1">
                <a:solidFill>
                  <a:srgbClr val="5A655F"/>
                </a:solidFill>
                <a:latin typeface="Arial"/>
                <a:ea typeface="Arial"/>
                <a:cs typeface="Arial"/>
                <a:sym typeface="Arial"/>
              </a:rPr>
              <a:t>cierre</a:t>
            </a:r>
            <a:r>
              <a:rPr lang="en-US" sz="1100" b="0" i="0" u="none" strike="noStrike" cap="none" dirty="0">
                <a:solidFill>
                  <a:srgbClr val="5A655F"/>
                </a:solidFill>
                <a:latin typeface="Arial"/>
                <a:ea typeface="Arial"/>
                <a:cs typeface="Arial"/>
                <a:sym typeface="Arial"/>
              </a:rPr>
              <a:t> y </a:t>
            </a:r>
            <a:r>
              <a:rPr lang="en-US" sz="1100" b="0" i="0" u="none" strike="noStrike" cap="none" dirty="0" err="1">
                <a:solidFill>
                  <a:srgbClr val="5A655F"/>
                </a:solidFill>
                <a:latin typeface="Arial"/>
                <a:ea typeface="Arial"/>
                <a:cs typeface="Arial"/>
                <a:sym typeface="Arial"/>
              </a:rPr>
              <a:t>movimiento</a:t>
            </a:r>
            <a:endParaRPr dirty="0"/>
          </a:p>
        </p:txBody>
      </p:sp>
      <p:sp>
        <p:nvSpPr>
          <p:cNvPr id="275" name="Google Shape;275;p8"/>
          <p:cNvSpPr/>
          <p:nvPr/>
        </p:nvSpPr>
        <p:spPr>
          <a:xfrm>
            <a:off x="6272784" y="3822191"/>
            <a:ext cx="5385816" cy="1801368"/>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6" name="Google Shape;276;p8"/>
          <p:cNvSpPr/>
          <p:nvPr/>
        </p:nvSpPr>
        <p:spPr>
          <a:xfrm>
            <a:off x="6437376" y="3986783"/>
            <a:ext cx="676656" cy="393192"/>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7" name="Google Shape;277;p8"/>
          <p:cNvSpPr txBox="1"/>
          <p:nvPr/>
        </p:nvSpPr>
        <p:spPr>
          <a:xfrm>
            <a:off x="6473952" y="4069079"/>
            <a:ext cx="594360" cy="18288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Arial"/>
                <a:ea typeface="Arial"/>
                <a:cs typeface="Arial"/>
                <a:sym typeface="Arial"/>
              </a:rPr>
              <a:t>CP08</a:t>
            </a:r>
            <a:endParaRPr/>
          </a:p>
        </p:txBody>
      </p:sp>
      <p:sp>
        <p:nvSpPr>
          <p:cNvPr id="278" name="Google Shape;278;p8"/>
          <p:cNvSpPr txBox="1"/>
          <p:nvPr/>
        </p:nvSpPr>
        <p:spPr>
          <a:xfrm>
            <a:off x="7260336" y="4005072"/>
            <a:ext cx="3986784" cy="3657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263B33"/>
                </a:solidFill>
                <a:latin typeface="Arial"/>
                <a:ea typeface="Arial"/>
                <a:cs typeface="Arial"/>
                <a:sym typeface="Arial"/>
              </a:rPr>
              <a:t>Uso en celular</a:t>
            </a:r>
            <a:endParaRPr/>
          </a:p>
        </p:txBody>
      </p:sp>
      <p:sp>
        <p:nvSpPr>
          <p:cNvPr id="279" name="Google Shape;279;p8"/>
          <p:cNvSpPr txBox="1"/>
          <p:nvPr/>
        </p:nvSpPr>
        <p:spPr>
          <a:xfrm>
            <a:off x="6455664" y="4535424"/>
            <a:ext cx="4828032" cy="21031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1" i="0" u="none" strike="noStrike" cap="none">
                <a:solidFill>
                  <a:srgbClr val="B49A72"/>
                </a:solidFill>
                <a:latin typeface="Arial"/>
                <a:ea typeface="Arial"/>
                <a:cs typeface="Arial"/>
                <a:sym typeface="Arial"/>
              </a:rPr>
              <a:t>RESULTADO ESPERADO</a:t>
            </a:r>
            <a:endParaRPr/>
          </a:p>
        </p:txBody>
      </p:sp>
      <p:sp>
        <p:nvSpPr>
          <p:cNvPr id="280" name="Google Shape;280;p8"/>
          <p:cNvSpPr txBox="1"/>
          <p:nvPr/>
        </p:nvSpPr>
        <p:spPr>
          <a:xfrm>
            <a:off x="6455664" y="4782312"/>
            <a:ext cx="4892040" cy="1846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dirty="0" err="1">
                <a:solidFill>
                  <a:srgbClr val="263B33"/>
                </a:solidFill>
                <a:latin typeface="Arial"/>
                <a:ea typeface="Arial"/>
                <a:cs typeface="Arial"/>
                <a:sym typeface="Arial"/>
              </a:rPr>
              <a:t>Completar</a:t>
            </a:r>
            <a:r>
              <a:rPr lang="en-US" sz="1200" b="0" i="0" u="none" strike="noStrike" cap="none" dirty="0">
                <a:solidFill>
                  <a:srgbClr val="263B33"/>
                </a:solidFill>
                <a:latin typeface="Arial"/>
                <a:ea typeface="Arial"/>
                <a:cs typeface="Arial"/>
                <a:sym typeface="Arial"/>
              </a:rPr>
              <a:t> </a:t>
            </a:r>
            <a:r>
              <a:rPr lang="en-US" sz="1200" b="0" i="0" u="none" strike="noStrike" cap="none" dirty="0" err="1">
                <a:solidFill>
                  <a:srgbClr val="263B33"/>
                </a:solidFill>
                <a:latin typeface="Arial"/>
                <a:ea typeface="Arial"/>
                <a:cs typeface="Arial"/>
                <a:sym typeface="Arial"/>
              </a:rPr>
              <a:t>tareas</a:t>
            </a:r>
            <a:r>
              <a:rPr lang="en-US" sz="1200" b="0" i="0" u="none" strike="noStrike" cap="none" dirty="0">
                <a:solidFill>
                  <a:srgbClr val="263B33"/>
                </a:solidFill>
                <a:latin typeface="Arial"/>
                <a:ea typeface="Arial"/>
                <a:cs typeface="Arial"/>
                <a:sym typeface="Arial"/>
              </a:rPr>
              <a:t> de </a:t>
            </a:r>
            <a:r>
              <a:rPr lang="en-US" sz="1200" b="0" i="0" u="none" strike="noStrike" cap="none" dirty="0" err="1">
                <a:solidFill>
                  <a:srgbClr val="263B33"/>
                </a:solidFill>
                <a:latin typeface="Arial"/>
                <a:ea typeface="Arial"/>
                <a:cs typeface="Arial"/>
                <a:sym typeface="Arial"/>
              </a:rPr>
              <a:t>cliente</a:t>
            </a:r>
            <a:r>
              <a:rPr lang="en-US" sz="1200" b="0" i="0" u="none" strike="noStrike" cap="none" dirty="0">
                <a:solidFill>
                  <a:srgbClr val="263B33"/>
                </a:solidFill>
                <a:latin typeface="Arial"/>
                <a:ea typeface="Arial"/>
                <a:cs typeface="Arial"/>
                <a:sym typeface="Arial"/>
              </a:rPr>
              <a:t> y </a:t>
            </a:r>
            <a:r>
              <a:rPr lang="en-US" sz="1200" b="0" i="0" u="none" strike="noStrike" cap="none" dirty="0" err="1">
                <a:solidFill>
                  <a:srgbClr val="263B33"/>
                </a:solidFill>
                <a:latin typeface="Arial"/>
                <a:ea typeface="Arial"/>
                <a:cs typeface="Arial"/>
                <a:sym typeface="Arial"/>
              </a:rPr>
              <a:t>técnico</a:t>
            </a:r>
            <a:r>
              <a:rPr lang="en-US" sz="1200" b="0" i="0" u="none" strike="noStrike" cap="none" dirty="0">
                <a:solidFill>
                  <a:srgbClr val="263B33"/>
                </a:solidFill>
                <a:latin typeface="Arial"/>
                <a:ea typeface="Arial"/>
                <a:cs typeface="Arial"/>
                <a:sym typeface="Arial"/>
              </a:rPr>
              <a:t> </a:t>
            </a:r>
            <a:r>
              <a:rPr lang="en-US" sz="1200" b="0" i="0" u="none" strike="noStrike" cap="none" dirty="0" err="1">
                <a:solidFill>
                  <a:srgbClr val="263B33"/>
                </a:solidFill>
                <a:latin typeface="Arial"/>
                <a:ea typeface="Arial"/>
                <a:cs typeface="Arial"/>
                <a:sym typeface="Arial"/>
              </a:rPr>
              <a:t>en</a:t>
            </a:r>
            <a:r>
              <a:rPr lang="en-US" sz="1200" b="0" i="0" u="none" strike="noStrike" cap="none" dirty="0">
                <a:solidFill>
                  <a:srgbClr val="263B33"/>
                </a:solidFill>
                <a:latin typeface="Arial"/>
                <a:ea typeface="Arial"/>
                <a:cs typeface="Arial"/>
                <a:sym typeface="Arial"/>
              </a:rPr>
              <a:t> el </a:t>
            </a:r>
            <a:r>
              <a:rPr lang="en-US" sz="1200" b="0" i="0" u="none" strike="noStrike" cap="none" dirty="0" err="1">
                <a:solidFill>
                  <a:srgbClr val="263B33"/>
                </a:solidFill>
                <a:latin typeface="Arial"/>
                <a:ea typeface="Arial"/>
                <a:cs typeface="Arial"/>
                <a:sym typeface="Arial"/>
              </a:rPr>
              <a:t>dispositivo</a:t>
            </a:r>
            <a:endParaRPr dirty="0"/>
          </a:p>
        </p:txBody>
      </p:sp>
      <p:sp>
        <p:nvSpPr>
          <p:cNvPr id="281" name="Google Shape;281;p8"/>
          <p:cNvSpPr txBox="1"/>
          <p:nvPr/>
        </p:nvSpPr>
        <p:spPr>
          <a:xfrm>
            <a:off x="6455664" y="5212079"/>
            <a:ext cx="4892040" cy="1692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 b="0" i="0" u="none" strike="noStrike" cap="none" dirty="0" err="1">
                <a:solidFill>
                  <a:srgbClr val="5A655F"/>
                </a:solidFill>
                <a:latin typeface="Arial"/>
                <a:ea typeface="Arial"/>
                <a:cs typeface="Arial"/>
                <a:sym typeface="Arial"/>
              </a:rPr>
              <a:t>Guardar</a:t>
            </a:r>
            <a:r>
              <a:rPr lang="en-US" sz="1100" b="0" i="0" u="none" strike="noStrike" cap="none" dirty="0">
                <a:solidFill>
                  <a:srgbClr val="5A655F"/>
                </a:solidFill>
                <a:latin typeface="Arial"/>
                <a:ea typeface="Arial"/>
                <a:cs typeface="Arial"/>
                <a:sym typeface="Arial"/>
              </a:rPr>
              <a:t> </a:t>
            </a:r>
            <a:r>
              <a:rPr lang="en-US" sz="1100" b="0" i="0" u="none" strike="noStrike" cap="none" dirty="0" err="1">
                <a:solidFill>
                  <a:srgbClr val="5A655F"/>
                </a:solidFill>
                <a:latin typeface="Arial"/>
                <a:ea typeface="Arial"/>
                <a:cs typeface="Arial"/>
                <a:sym typeface="Arial"/>
              </a:rPr>
              <a:t>versión</a:t>
            </a:r>
            <a:r>
              <a:rPr lang="en-US" sz="1100" b="0" i="0" u="none" strike="noStrike" cap="none" dirty="0">
                <a:solidFill>
                  <a:srgbClr val="5A655F"/>
                </a:solidFill>
                <a:latin typeface="Arial"/>
                <a:ea typeface="Arial"/>
                <a:cs typeface="Arial"/>
                <a:sym typeface="Arial"/>
              </a:rPr>
              <a:t>, </a:t>
            </a:r>
            <a:r>
              <a:rPr lang="en-US" sz="1100" b="0" i="0" u="none" strike="noStrike" cap="none" dirty="0" err="1">
                <a:solidFill>
                  <a:srgbClr val="5A655F"/>
                </a:solidFill>
                <a:latin typeface="Arial"/>
                <a:ea typeface="Arial"/>
                <a:cs typeface="Arial"/>
                <a:sym typeface="Arial"/>
              </a:rPr>
              <a:t>equipo</a:t>
            </a:r>
            <a:r>
              <a:rPr lang="en-US" sz="1100" b="0" i="0" u="none" strike="noStrike" cap="none" dirty="0">
                <a:solidFill>
                  <a:srgbClr val="5A655F"/>
                </a:solidFill>
                <a:latin typeface="Arial"/>
                <a:ea typeface="Arial"/>
                <a:cs typeface="Arial"/>
                <a:sym typeface="Arial"/>
              </a:rPr>
              <a:t> y </a:t>
            </a:r>
            <a:r>
              <a:rPr lang="en-US" sz="1100" b="0" i="0" u="none" strike="noStrike" cap="none" dirty="0" err="1">
                <a:solidFill>
                  <a:srgbClr val="5A655F"/>
                </a:solidFill>
                <a:latin typeface="Arial"/>
                <a:ea typeface="Arial"/>
                <a:cs typeface="Arial"/>
                <a:sym typeface="Arial"/>
              </a:rPr>
              <a:t>capturas</a:t>
            </a:r>
            <a:endParaRPr dirty="0"/>
          </a:p>
        </p:txBody>
      </p:sp>
      <p:sp>
        <p:nvSpPr>
          <p:cNvPr id="282" name="Google Shape;282;p8"/>
          <p:cNvSpPr/>
          <p:nvPr/>
        </p:nvSpPr>
        <p:spPr>
          <a:xfrm>
            <a:off x="621792" y="6245352"/>
            <a:ext cx="10936224" cy="13716"/>
          </a:xfrm>
          <a:prstGeom prst="rect">
            <a:avLst/>
          </a:prstGeom>
          <a:solidFill>
            <a:srgbClr val="E0E1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287"/>
        <p:cNvGrpSpPr/>
        <p:nvPr/>
      </p:nvGrpSpPr>
      <p:grpSpPr>
        <a:xfrm>
          <a:off x="0" y="0"/>
          <a:ext cx="0" cy="0"/>
          <a:chOff x="0" y="0"/>
          <a:chExt cx="0" cy="0"/>
        </a:xfrm>
      </p:grpSpPr>
      <p:sp>
        <p:nvSpPr>
          <p:cNvPr id="288" name="Google Shape;288;p9"/>
          <p:cNvSpPr/>
          <p:nvPr/>
        </p:nvSpPr>
        <p:spPr>
          <a:xfrm>
            <a:off x="0" y="0"/>
            <a:ext cx="12191695" cy="6858000"/>
          </a:xfrm>
          <a:prstGeom prst="rect">
            <a:avLst/>
          </a:prstGeom>
          <a:solidFill>
            <a:srgbClr val="F7F6F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9" name="Google Shape;289;p9"/>
          <p:cNvSpPr/>
          <p:nvPr/>
        </p:nvSpPr>
        <p:spPr>
          <a:xfrm>
            <a:off x="0" y="0"/>
            <a:ext cx="128016" cy="6858000"/>
          </a:xfrm>
          <a:prstGeom prst="rect">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0" name="Google Shape;290;p9"/>
          <p:cNvSpPr txBox="1"/>
          <p:nvPr/>
        </p:nvSpPr>
        <p:spPr>
          <a:xfrm>
            <a:off x="603504" y="329184"/>
            <a:ext cx="10972800" cy="5394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900" b="1" i="0" u="none" strike="noStrike" cap="none">
                <a:solidFill>
                  <a:srgbClr val="263B33"/>
                </a:solidFill>
                <a:latin typeface="Arial"/>
                <a:ea typeface="Arial"/>
                <a:cs typeface="Arial"/>
                <a:sym typeface="Arial"/>
              </a:rPr>
              <a:t>Trazabilidad: cada función tiene su prueba</a:t>
            </a:r>
            <a:endParaRPr/>
          </a:p>
        </p:txBody>
      </p:sp>
      <p:sp>
        <p:nvSpPr>
          <p:cNvPr id="291" name="Google Shape;291;p9"/>
          <p:cNvSpPr/>
          <p:nvPr/>
        </p:nvSpPr>
        <p:spPr>
          <a:xfrm>
            <a:off x="612648" y="1024128"/>
            <a:ext cx="603504" cy="32004"/>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2" name="Google Shape;292;p9"/>
          <p:cNvSpPr txBox="1"/>
          <p:nvPr/>
        </p:nvSpPr>
        <p:spPr>
          <a:xfrm>
            <a:off x="11301984" y="6483096"/>
            <a:ext cx="347472" cy="20116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1000" b="0" i="0" u="none" strike="noStrike" cap="none">
                <a:solidFill>
                  <a:srgbClr val="5A655F"/>
                </a:solidFill>
                <a:latin typeface="Arial"/>
                <a:ea typeface="Arial"/>
                <a:cs typeface="Arial"/>
                <a:sym typeface="Arial"/>
              </a:rPr>
              <a:t>09</a:t>
            </a:r>
            <a:endParaRPr/>
          </a:p>
        </p:txBody>
      </p:sp>
      <p:sp>
        <p:nvSpPr>
          <p:cNvPr id="293" name="Google Shape;293;p9"/>
          <p:cNvSpPr/>
          <p:nvPr/>
        </p:nvSpPr>
        <p:spPr>
          <a:xfrm>
            <a:off x="658368" y="1865376"/>
            <a:ext cx="10899648" cy="53949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4" name="Google Shape;294;p9"/>
          <p:cNvSpPr/>
          <p:nvPr/>
        </p:nvSpPr>
        <p:spPr>
          <a:xfrm>
            <a:off x="658368" y="1865376"/>
            <a:ext cx="50292" cy="539496"/>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5" name="Google Shape;295;p9"/>
          <p:cNvSpPr txBox="1"/>
          <p:nvPr/>
        </p:nvSpPr>
        <p:spPr>
          <a:xfrm>
            <a:off x="850392" y="1984248"/>
            <a:ext cx="205740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10" b="1" i="0" u="none" strike="noStrike" cap="none">
                <a:solidFill>
                  <a:srgbClr val="263B33"/>
                </a:solidFill>
                <a:latin typeface="Arial"/>
                <a:ea typeface="Arial"/>
                <a:cs typeface="Arial"/>
                <a:sym typeface="Arial"/>
              </a:rPr>
              <a:t>Cotización</a:t>
            </a:r>
            <a:endParaRPr/>
          </a:p>
        </p:txBody>
      </p:sp>
      <p:sp>
        <p:nvSpPr>
          <p:cNvPr id="296" name="Google Shape;296;p9"/>
          <p:cNvSpPr txBox="1"/>
          <p:nvPr/>
        </p:nvSpPr>
        <p:spPr>
          <a:xfrm>
            <a:off x="2889504" y="1993392"/>
            <a:ext cx="3063240" cy="26517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60" b="0" i="0" u="none" strike="noStrike" cap="none">
                <a:solidFill>
                  <a:srgbClr val="5A655F"/>
                </a:solidFill>
                <a:latin typeface="Arial"/>
                <a:ea typeface="Arial"/>
                <a:cs typeface="Arial"/>
                <a:sym typeface="Arial"/>
              </a:rPr>
              <a:t>CotizacionService</a:t>
            </a:r>
            <a:endParaRPr/>
          </a:p>
        </p:txBody>
      </p:sp>
      <p:sp>
        <p:nvSpPr>
          <p:cNvPr id="297" name="Google Shape;297;p9"/>
          <p:cNvSpPr/>
          <p:nvPr/>
        </p:nvSpPr>
        <p:spPr>
          <a:xfrm>
            <a:off x="6172200" y="1965960"/>
            <a:ext cx="969264" cy="329184"/>
          </a:xfrm>
          <a:prstGeom prst="roundRect">
            <a:avLst>
              <a:gd name="adj" fmla="val 13000"/>
            </a:avLst>
          </a:prstGeom>
          <a:solidFill>
            <a:srgbClr val="EBEFE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8" name="Google Shape;298;p9"/>
          <p:cNvSpPr txBox="1"/>
          <p:nvPr/>
        </p:nvSpPr>
        <p:spPr>
          <a:xfrm>
            <a:off x="6208776" y="2048256"/>
            <a:ext cx="886968" cy="16459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263B33"/>
                </a:solidFill>
                <a:latin typeface="Arial"/>
                <a:ea typeface="Arial"/>
                <a:cs typeface="Arial"/>
                <a:sym typeface="Arial"/>
              </a:rPr>
              <a:t>CP01–02</a:t>
            </a:r>
            <a:endParaRPr/>
          </a:p>
        </p:txBody>
      </p:sp>
      <p:sp>
        <p:nvSpPr>
          <p:cNvPr id="299" name="Google Shape;299;p9"/>
          <p:cNvSpPr txBox="1"/>
          <p:nvPr/>
        </p:nvSpPr>
        <p:spPr>
          <a:xfrm>
            <a:off x="7379208" y="1984248"/>
            <a:ext cx="3895344"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a:solidFill>
                  <a:srgbClr val="263B33"/>
                </a:solidFill>
                <a:latin typeface="Arial"/>
                <a:ea typeface="Arial"/>
                <a:cs typeface="Arial"/>
                <a:sym typeface="Arial"/>
              </a:rPr>
              <a:t>Precio y medidas correctos</a:t>
            </a:r>
            <a:endParaRPr/>
          </a:p>
        </p:txBody>
      </p:sp>
      <p:sp>
        <p:nvSpPr>
          <p:cNvPr id="300" name="Google Shape;300;p9"/>
          <p:cNvSpPr/>
          <p:nvPr/>
        </p:nvSpPr>
        <p:spPr>
          <a:xfrm>
            <a:off x="658368" y="2496312"/>
            <a:ext cx="10899648" cy="53949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1" name="Google Shape;301;p9"/>
          <p:cNvSpPr/>
          <p:nvPr/>
        </p:nvSpPr>
        <p:spPr>
          <a:xfrm>
            <a:off x="658368" y="2496312"/>
            <a:ext cx="50292" cy="539496"/>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2" name="Google Shape;302;p9"/>
          <p:cNvSpPr txBox="1"/>
          <p:nvPr/>
        </p:nvSpPr>
        <p:spPr>
          <a:xfrm>
            <a:off x="850392" y="2615184"/>
            <a:ext cx="205740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10" b="1" i="0" u="none" strike="noStrike" cap="none">
                <a:solidFill>
                  <a:srgbClr val="263B33"/>
                </a:solidFill>
                <a:latin typeface="Arial"/>
                <a:ea typeface="Arial"/>
                <a:cs typeface="Arial"/>
                <a:sym typeface="Arial"/>
              </a:rPr>
              <a:t>Accesos</a:t>
            </a:r>
            <a:endParaRPr/>
          </a:p>
        </p:txBody>
      </p:sp>
      <p:sp>
        <p:nvSpPr>
          <p:cNvPr id="303" name="Google Shape;303;p9"/>
          <p:cNvSpPr txBox="1"/>
          <p:nvPr/>
        </p:nvSpPr>
        <p:spPr>
          <a:xfrm>
            <a:off x="2889504" y="2624328"/>
            <a:ext cx="3063240" cy="26517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60" b="0" i="0" u="none" strike="noStrike" cap="none">
                <a:solidFill>
                  <a:srgbClr val="5A655F"/>
                </a:solidFill>
                <a:latin typeface="Arial"/>
                <a:ea typeface="Arial"/>
                <a:cs typeface="Arial"/>
                <a:sym typeface="Arial"/>
              </a:rPr>
              <a:t>SecurityConfig / AuthService</a:t>
            </a:r>
            <a:endParaRPr/>
          </a:p>
        </p:txBody>
      </p:sp>
      <p:sp>
        <p:nvSpPr>
          <p:cNvPr id="304" name="Google Shape;304;p9"/>
          <p:cNvSpPr/>
          <p:nvPr/>
        </p:nvSpPr>
        <p:spPr>
          <a:xfrm>
            <a:off x="6172200" y="2596896"/>
            <a:ext cx="969264" cy="329184"/>
          </a:xfrm>
          <a:prstGeom prst="roundRect">
            <a:avLst>
              <a:gd name="adj" fmla="val 13000"/>
            </a:avLst>
          </a:prstGeom>
          <a:solidFill>
            <a:srgbClr val="EBEFE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5" name="Google Shape;305;p9"/>
          <p:cNvSpPr txBox="1"/>
          <p:nvPr/>
        </p:nvSpPr>
        <p:spPr>
          <a:xfrm>
            <a:off x="6208776" y="2679192"/>
            <a:ext cx="886968" cy="16459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263B33"/>
                </a:solidFill>
                <a:latin typeface="Arial"/>
                <a:ea typeface="Arial"/>
                <a:cs typeface="Arial"/>
                <a:sym typeface="Arial"/>
              </a:rPr>
              <a:t>CP03</a:t>
            </a:r>
            <a:endParaRPr/>
          </a:p>
        </p:txBody>
      </p:sp>
      <p:sp>
        <p:nvSpPr>
          <p:cNvPr id="306" name="Google Shape;306;p9"/>
          <p:cNvSpPr txBox="1"/>
          <p:nvPr/>
        </p:nvSpPr>
        <p:spPr>
          <a:xfrm>
            <a:off x="7379208" y="2615184"/>
            <a:ext cx="3895344"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a:solidFill>
                  <a:srgbClr val="263B33"/>
                </a:solidFill>
                <a:latin typeface="Arial"/>
                <a:ea typeface="Arial"/>
                <a:cs typeface="Arial"/>
                <a:sym typeface="Arial"/>
              </a:rPr>
              <a:t>Acceso solo con permisos</a:t>
            </a:r>
            <a:endParaRPr/>
          </a:p>
        </p:txBody>
      </p:sp>
      <p:sp>
        <p:nvSpPr>
          <p:cNvPr id="307" name="Google Shape;307;p9"/>
          <p:cNvSpPr/>
          <p:nvPr/>
        </p:nvSpPr>
        <p:spPr>
          <a:xfrm>
            <a:off x="658368" y="3127248"/>
            <a:ext cx="10899648" cy="53949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8" name="Google Shape;308;p9"/>
          <p:cNvSpPr/>
          <p:nvPr/>
        </p:nvSpPr>
        <p:spPr>
          <a:xfrm>
            <a:off x="658368" y="3127248"/>
            <a:ext cx="50292" cy="539496"/>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9" name="Google Shape;309;p9"/>
          <p:cNvSpPr txBox="1"/>
          <p:nvPr/>
        </p:nvSpPr>
        <p:spPr>
          <a:xfrm>
            <a:off x="850392" y="3246120"/>
            <a:ext cx="205740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10" b="1" i="0" u="none" strike="noStrike" cap="none">
                <a:solidFill>
                  <a:srgbClr val="263B33"/>
                </a:solidFill>
                <a:latin typeface="Arial"/>
                <a:ea typeface="Arial"/>
                <a:cs typeface="Arial"/>
                <a:sym typeface="Arial"/>
              </a:rPr>
              <a:t>Agenda</a:t>
            </a:r>
            <a:endParaRPr/>
          </a:p>
        </p:txBody>
      </p:sp>
      <p:sp>
        <p:nvSpPr>
          <p:cNvPr id="310" name="Google Shape;310;p9"/>
          <p:cNvSpPr txBox="1"/>
          <p:nvPr/>
        </p:nvSpPr>
        <p:spPr>
          <a:xfrm>
            <a:off x="2889504" y="3255264"/>
            <a:ext cx="3063240" cy="26517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60" b="0" i="0" u="none" strike="noStrike" cap="none">
                <a:solidFill>
                  <a:srgbClr val="5A655F"/>
                </a:solidFill>
                <a:latin typeface="Arial"/>
                <a:ea typeface="Arial"/>
                <a:cs typeface="Arial"/>
                <a:sym typeface="Arial"/>
              </a:rPr>
              <a:t>AgendaService</a:t>
            </a:r>
            <a:endParaRPr/>
          </a:p>
        </p:txBody>
      </p:sp>
      <p:sp>
        <p:nvSpPr>
          <p:cNvPr id="311" name="Google Shape;311;p9"/>
          <p:cNvSpPr/>
          <p:nvPr/>
        </p:nvSpPr>
        <p:spPr>
          <a:xfrm>
            <a:off x="6172200" y="3227832"/>
            <a:ext cx="969264" cy="329184"/>
          </a:xfrm>
          <a:prstGeom prst="roundRect">
            <a:avLst>
              <a:gd name="adj" fmla="val 13000"/>
            </a:avLst>
          </a:prstGeom>
          <a:solidFill>
            <a:srgbClr val="EBEFE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2" name="Google Shape;312;p9"/>
          <p:cNvSpPr txBox="1"/>
          <p:nvPr/>
        </p:nvSpPr>
        <p:spPr>
          <a:xfrm>
            <a:off x="6208776" y="3310128"/>
            <a:ext cx="886968" cy="16459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263B33"/>
                </a:solidFill>
                <a:latin typeface="Arial"/>
                <a:ea typeface="Arial"/>
                <a:cs typeface="Arial"/>
                <a:sym typeface="Arial"/>
              </a:rPr>
              <a:t>CP04–05</a:t>
            </a:r>
            <a:endParaRPr/>
          </a:p>
        </p:txBody>
      </p:sp>
      <p:sp>
        <p:nvSpPr>
          <p:cNvPr id="313" name="Google Shape;313;p9"/>
          <p:cNvSpPr txBox="1"/>
          <p:nvPr/>
        </p:nvSpPr>
        <p:spPr>
          <a:xfrm>
            <a:off x="7379208" y="3246120"/>
            <a:ext cx="3895344"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a:solidFill>
                  <a:srgbClr val="263B33"/>
                </a:solidFill>
                <a:latin typeface="Arial"/>
                <a:ea typeface="Arial"/>
                <a:cs typeface="Arial"/>
                <a:sym typeface="Arial"/>
              </a:rPr>
              <a:t>Sin horarios duplicados o vencidos</a:t>
            </a:r>
            <a:endParaRPr/>
          </a:p>
        </p:txBody>
      </p:sp>
      <p:sp>
        <p:nvSpPr>
          <p:cNvPr id="314" name="Google Shape;314;p9"/>
          <p:cNvSpPr/>
          <p:nvPr/>
        </p:nvSpPr>
        <p:spPr>
          <a:xfrm>
            <a:off x="658368" y="3758183"/>
            <a:ext cx="10899648" cy="53949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5" name="Google Shape;315;p9"/>
          <p:cNvSpPr/>
          <p:nvPr/>
        </p:nvSpPr>
        <p:spPr>
          <a:xfrm>
            <a:off x="658368" y="3758183"/>
            <a:ext cx="50292" cy="539496"/>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6" name="Google Shape;316;p9"/>
          <p:cNvSpPr txBox="1"/>
          <p:nvPr/>
        </p:nvSpPr>
        <p:spPr>
          <a:xfrm>
            <a:off x="850392" y="3877055"/>
            <a:ext cx="205740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10" b="1" i="0" u="none" strike="noStrike" cap="none">
                <a:solidFill>
                  <a:srgbClr val="263B33"/>
                </a:solidFill>
                <a:latin typeface="Arial"/>
                <a:ea typeface="Arial"/>
                <a:cs typeface="Arial"/>
                <a:sym typeface="Arial"/>
              </a:rPr>
              <a:t>Pagos</a:t>
            </a:r>
            <a:endParaRPr/>
          </a:p>
        </p:txBody>
      </p:sp>
      <p:sp>
        <p:nvSpPr>
          <p:cNvPr id="317" name="Google Shape;317;p9"/>
          <p:cNvSpPr txBox="1"/>
          <p:nvPr/>
        </p:nvSpPr>
        <p:spPr>
          <a:xfrm>
            <a:off x="2889504" y="3886199"/>
            <a:ext cx="3063240" cy="26517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60" b="0" i="0" u="none" strike="noStrike" cap="none">
                <a:solidFill>
                  <a:srgbClr val="5A655F"/>
                </a:solidFill>
                <a:latin typeface="Arial"/>
                <a:ea typeface="Arial"/>
                <a:cs typeface="Arial"/>
                <a:sym typeface="Arial"/>
              </a:rPr>
              <a:t>PagoService / WebpayService</a:t>
            </a:r>
            <a:endParaRPr/>
          </a:p>
        </p:txBody>
      </p:sp>
      <p:sp>
        <p:nvSpPr>
          <p:cNvPr id="318" name="Google Shape;318;p9"/>
          <p:cNvSpPr/>
          <p:nvPr/>
        </p:nvSpPr>
        <p:spPr>
          <a:xfrm>
            <a:off x="6172200" y="3858768"/>
            <a:ext cx="969264" cy="329184"/>
          </a:xfrm>
          <a:prstGeom prst="roundRect">
            <a:avLst>
              <a:gd name="adj" fmla="val 13000"/>
            </a:avLst>
          </a:prstGeom>
          <a:solidFill>
            <a:srgbClr val="EBEFE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9" name="Google Shape;319;p9"/>
          <p:cNvSpPr txBox="1"/>
          <p:nvPr/>
        </p:nvSpPr>
        <p:spPr>
          <a:xfrm>
            <a:off x="6208776" y="3941063"/>
            <a:ext cx="886968" cy="16459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263B33"/>
                </a:solidFill>
                <a:latin typeface="Arial"/>
                <a:ea typeface="Arial"/>
                <a:cs typeface="Arial"/>
                <a:sym typeface="Arial"/>
              </a:rPr>
              <a:t>CP06</a:t>
            </a:r>
            <a:endParaRPr/>
          </a:p>
        </p:txBody>
      </p:sp>
      <p:sp>
        <p:nvSpPr>
          <p:cNvPr id="320" name="Google Shape;320;p9"/>
          <p:cNvSpPr txBox="1"/>
          <p:nvPr/>
        </p:nvSpPr>
        <p:spPr>
          <a:xfrm>
            <a:off x="7379208" y="3877055"/>
            <a:ext cx="3895344"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a:solidFill>
                  <a:srgbClr val="263B33"/>
                </a:solidFill>
                <a:latin typeface="Arial"/>
                <a:ea typeface="Arial"/>
                <a:cs typeface="Arial"/>
                <a:sym typeface="Arial"/>
              </a:rPr>
              <a:t>Pago y pedido actualizados</a:t>
            </a:r>
            <a:endParaRPr/>
          </a:p>
        </p:txBody>
      </p:sp>
      <p:sp>
        <p:nvSpPr>
          <p:cNvPr id="321" name="Google Shape;321;p9"/>
          <p:cNvSpPr/>
          <p:nvPr/>
        </p:nvSpPr>
        <p:spPr>
          <a:xfrm>
            <a:off x="658368" y="4389120"/>
            <a:ext cx="10899648" cy="53949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2" name="Google Shape;322;p9"/>
          <p:cNvSpPr/>
          <p:nvPr/>
        </p:nvSpPr>
        <p:spPr>
          <a:xfrm>
            <a:off x="658368" y="4389120"/>
            <a:ext cx="50292" cy="539496"/>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3" name="Google Shape;323;p9"/>
          <p:cNvSpPr txBox="1"/>
          <p:nvPr/>
        </p:nvSpPr>
        <p:spPr>
          <a:xfrm>
            <a:off x="850392" y="4507992"/>
            <a:ext cx="205740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10" b="1" i="0" u="none" strike="noStrike" cap="none">
                <a:solidFill>
                  <a:srgbClr val="263B33"/>
                </a:solidFill>
                <a:latin typeface="Arial"/>
                <a:ea typeface="Arial"/>
                <a:cs typeface="Arial"/>
                <a:sym typeface="Arial"/>
              </a:rPr>
              <a:t>Comisiones</a:t>
            </a:r>
            <a:endParaRPr/>
          </a:p>
        </p:txBody>
      </p:sp>
      <p:sp>
        <p:nvSpPr>
          <p:cNvPr id="324" name="Google Shape;324;p9"/>
          <p:cNvSpPr txBox="1"/>
          <p:nvPr/>
        </p:nvSpPr>
        <p:spPr>
          <a:xfrm>
            <a:off x="2889504" y="4517136"/>
            <a:ext cx="3063240" cy="26517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60" b="0" i="0" u="none" strike="noStrike" cap="none">
                <a:solidFill>
                  <a:srgbClr val="5A655F"/>
                </a:solidFill>
                <a:latin typeface="Arial"/>
                <a:ea typeface="Arial"/>
                <a:cs typeface="Arial"/>
                <a:sym typeface="Arial"/>
              </a:rPr>
              <a:t>ComisionService</a:t>
            </a:r>
            <a:endParaRPr/>
          </a:p>
        </p:txBody>
      </p:sp>
      <p:sp>
        <p:nvSpPr>
          <p:cNvPr id="325" name="Google Shape;325;p9"/>
          <p:cNvSpPr/>
          <p:nvPr/>
        </p:nvSpPr>
        <p:spPr>
          <a:xfrm>
            <a:off x="6172200" y="4489704"/>
            <a:ext cx="969264" cy="329184"/>
          </a:xfrm>
          <a:prstGeom prst="roundRect">
            <a:avLst>
              <a:gd name="adj" fmla="val 13000"/>
            </a:avLst>
          </a:prstGeom>
          <a:solidFill>
            <a:srgbClr val="EBEFE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6" name="Google Shape;326;p9"/>
          <p:cNvSpPr txBox="1"/>
          <p:nvPr/>
        </p:nvSpPr>
        <p:spPr>
          <a:xfrm>
            <a:off x="6208776" y="4572000"/>
            <a:ext cx="886968" cy="16459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263B33"/>
                </a:solidFill>
                <a:latin typeface="Arial"/>
                <a:ea typeface="Arial"/>
                <a:cs typeface="Arial"/>
                <a:sym typeface="Arial"/>
              </a:rPr>
              <a:t>CP07</a:t>
            </a:r>
            <a:endParaRPr/>
          </a:p>
        </p:txBody>
      </p:sp>
      <p:sp>
        <p:nvSpPr>
          <p:cNvPr id="327" name="Google Shape;327;p9"/>
          <p:cNvSpPr txBox="1"/>
          <p:nvPr/>
        </p:nvSpPr>
        <p:spPr>
          <a:xfrm>
            <a:off x="7379208" y="4507992"/>
            <a:ext cx="3895344"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a:solidFill>
                  <a:srgbClr val="263B33"/>
                </a:solidFill>
                <a:latin typeface="Arial"/>
                <a:ea typeface="Arial"/>
                <a:cs typeface="Arial"/>
                <a:sym typeface="Arial"/>
              </a:rPr>
              <a:t>Comisión correcta, sin duplicarse</a:t>
            </a:r>
            <a:endParaRPr/>
          </a:p>
        </p:txBody>
      </p:sp>
      <p:sp>
        <p:nvSpPr>
          <p:cNvPr id="328" name="Google Shape;328;p9"/>
          <p:cNvSpPr/>
          <p:nvPr/>
        </p:nvSpPr>
        <p:spPr>
          <a:xfrm>
            <a:off x="658368" y="5020056"/>
            <a:ext cx="10899648" cy="539496"/>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9" name="Google Shape;329;p9"/>
          <p:cNvSpPr/>
          <p:nvPr/>
        </p:nvSpPr>
        <p:spPr>
          <a:xfrm>
            <a:off x="658368" y="5020056"/>
            <a:ext cx="50292" cy="539496"/>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30" name="Google Shape;330;p9"/>
          <p:cNvSpPr txBox="1"/>
          <p:nvPr/>
        </p:nvSpPr>
        <p:spPr>
          <a:xfrm>
            <a:off x="850392" y="5138928"/>
            <a:ext cx="205740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10" b="1" i="0" u="none" strike="noStrike" cap="none">
                <a:solidFill>
                  <a:srgbClr val="263B33"/>
                </a:solidFill>
                <a:latin typeface="Arial"/>
                <a:ea typeface="Arial"/>
                <a:cs typeface="Arial"/>
                <a:sym typeface="Arial"/>
              </a:rPr>
              <a:t>Aplicación móvil</a:t>
            </a:r>
            <a:endParaRPr/>
          </a:p>
        </p:txBody>
      </p:sp>
      <p:sp>
        <p:nvSpPr>
          <p:cNvPr id="331" name="Google Shape;331;p9"/>
          <p:cNvSpPr txBox="1"/>
          <p:nvPr/>
        </p:nvSpPr>
        <p:spPr>
          <a:xfrm>
            <a:off x="2889504" y="5148072"/>
            <a:ext cx="3063240" cy="26517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60" b="0" i="0" u="none" strike="noStrike" cap="none">
                <a:solidFill>
                  <a:srgbClr val="5A655F"/>
                </a:solidFill>
                <a:latin typeface="Arial"/>
                <a:ea typeface="Arial"/>
                <a:cs typeface="Arial"/>
                <a:sym typeface="Arial"/>
              </a:rPr>
              <a:t>frontend-movil</a:t>
            </a:r>
            <a:endParaRPr/>
          </a:p>
        </p:txBody>
      </p:sp>
      <p:sp>
        <p:nvSpPr>
          <p:cNvPr id="332" name="Google Shape;332;p9"/>
          <p:cNvSpPr/>
          <p:nvPr/>
        </p:nvSpPr>
        <p:spPr>
          <a:xfrm>
            <a:off x="6172200" y="5120640"/>
            <a:ext cx="969264" cy="329184"/>
          </a:xfrm>
          <a:prstGeom prst="roundRect">
            <a:avLst>
              <a:gd name="adj" fmla="val 13000"/>
            </a:avLst>
          </a:prstGeom>
          <a:solidFill>
            <a:srgbClr val="EBEFE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33" name="Google Shape;333;p9"/>
          <p:cNvSpPr txBox="1"/>
          <p:nvPr/>
        </p:nvSpPr>
        <p:spPr>
          <a:xfrm>
            <a:off x="6208776" y="5202936"/>
            <a:ext cx="886968" cy="16459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263B33"/>
                </a:solidFill>
                <a:latin typeface="Arial"/>
                <a:ea typeface="Arial"/>
                <a:cs typeface="Arial"/>
                <a:sym typeface="Arial"/>
              </a:rPr>
              <a:t>CP08</a:t>
            </a:r>
            <a:endParaRPr/>
          </a:p>
        </p:txBody>
      </p:sp>
      <p:sp>
        <p:nvSpPr>
          <p:cNvPr id="334" name="Google Shape;334;p9"/>
          <p:cNvSpPr txBox="1"/>
          <p:nvPr/>
        </p:nvSpPr>
        <p:spPr>
          <a:xfrm>
            <a:off x="7379208" y="5138928"/>
            <a:ext cx="3895344"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a:solidFill>
                  <a:srgbClr val="263B33"/>
                </a:solidFill>
                <a:latin typeface="Arial"/>
                <a:ea typeface="Arial"/>
                <a:cs typeface="Arial"/>
                <a:sym typeface="Arial"/>
              </a:rPr>
              <a:t>Funciones móviles comprobadas</a:t>
            </a:r>
            <a:endParaRPr/>
          </a:p>
        </p:txBody>
      </p:sp>
      <p:sp>
        <p:nvSpPr>
          <p:cNvPr id="335" name="Google Shape;335;p9"/>
          <p:cNvSpPr/>
          <p:nvPr/>
        </p:nvSpPr>
        <p:spPr>
          <a:xfrm>
            <a:off x="621792" y="6245352"/>
            <a:ext cx="10936224" cy="13716"/>
          </a:xfrm>
          <a:prstGeom prst="rect">
            <a:avLst/>
          </a:prstGeom>
          <a:solidFill>
            <a:srgbClr val="E0E1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4"/>
        </a:solidFill>
        <a:effectLst/>
      </p:bgPr>
    </p:bg>
    <p:spTree>
      <p:nvGrpSpPr>
        <p:cNvPr id="1" name=""/>
        <p:cNvGrpSpPr/>
        <p:nvPr/>
      </p:nvGrpSpPr>
      <p:grpSpPr>
        <a:xfrm>
          <a:off x="0" y="0"/>
          <a:ext cx="0" cy="0"/>
          <a:chOff x="0" y="0"/>
          <a:chExt cx="0" cy="0"/>
        </a:xfrm>
      </p:grpSpPr>
      <p:sp>
        <p:nvSpPr>
          <p:cNvPr id="2" name="Rectangle 1"/>
          <p:cNvSpPr/>
          <p:nvPr/>
        </p:nvSpPr>
        <p:spPr>
          <a:xfrm>
            <a:off x="0" y="0"/>
            <a:ext cx="12198096"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12648" y="365760"/>
            <a:ext cx="11064240" cy="464743"/>
          </a:xfrm>
          <a:prstGeom prst="rect">
            <a:avLst/>
          </a:prstGeom>
          <a:noFill/>
        </p:spPr>
        <p:txBody>
          <a:bodyPr wrap="square" lIns="27432" tIns="18288" rIns="27432" bIns="0">
            <a:spAutoFit/>
          </a:bodyPr>
          <a:lstStyle/>
          <a:p>
            <a:pPr>
              <a:spcAft>
                <a:spcPts val="500"/>
              </a:spcAft>
              <a:defRPr sz="2900" b="1">
                <a:solidFill>
                  <a:srgbClr val="263F35"/>
                </a:solidFill>
                <a:latin typeface="Aptos"/>
              </a:defRPr>
            </a:pPr>
            <a:r>
              <a:rPr dirty="0" err="1"/>
              <a:t>Costos y calendario de cobros</a:t>
            </a:r>
            <a:endParaRPr dirty="0"/>
          </a:p>
        </p:txBody>
      </p:sp>
      <p:sp>
        <p:nvSpPr>
          <p:cNvPr id="4" name="Rectangle 3"/>
          <p:cNvSpPr/>
          <p:nvPr/>
        </p:nvSpPr>
        <p:spPr>
          <a:xfrm>
            <a:off x="640080" y="987552"/>
            <a:ext cx="612648" cy="32004"/>
          </a:xfrm>
          <a:prstGeom prst="rect">
            <a:avLst/>
          </a:prstGeom>
          <a:solidFill>
            <a:srgbClr val="B6A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6437376"/>
            <a:ext cx="10936224" cy="22860"/>
          </a:xfrm>
          <a:prstGeom prst="rect">
            <a:avLst/>
          </a:prstGeom>
          <a:solidFill>
            <a:srgbClr val="D6D8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48288" y="6492240"/>
            <a:ext cx="228600" cy="182880"/>
          </a:xfrm>
          <a:prstGeom prst="rect">
            <a:avLst/>
          </a:prstGeom>
          <a:noFill/>
        </p:spPr>
        <p:txBody>
          <a:bodyPr wrap="square" lIns="27432" tIns="18288" rIns="27432" bIns="0">
            <a:spAutoFit/>
          </a:bodyPr>
          <a:lstStyle/>
          <a:p>
            <a:pPr>
              <a:spcAft>
                <a:spcPts val="500"/>
              </a:spcAft>
              <a:defRPr sz="1000" b="0">
                <a:solidFill>
                  <a:srgbClr val="5A645E"/>
                </a:solidFill>
                <a:latin typeface="Aptos"/>
              </a:defRPr>
            </a:pPr>
            <a:r>
              <a:t>10</a:t>
            </a:r>
          </a:p>
        </p:txBody>
      </p:sp>
      <p:sp>
        <p:nvSpPr>
          <p:cNvPr id="8" name="Rounded Rectangle 7"/>
          <p:cNvSpPr/>
          <p:nvPr/>
        </p:nvSpPr>
        <p:spPr>
          <a:xfrm>
            <a:off x="630936" y="1700784"/>
            <a:ext cx="5349240" cy="1600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86384" y="1892808"/>
            <a:ext cx="50292" cy="1216152"/>
          </a:xfrm>
          <a:prstGeom prst="rect">
            <a:avLst/>
          </a:prstGeom>
          <a:solidFill>
            <a:srgbClr val="B6A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1865376"/>
            <a:ext cx="4818888" cy="264688"/>
          </a:xfrm>
          <a:prstGeom prst="rect">
            <a:avLst/>
          </a:prstGeom>
          <a:noFill/>
        </p:spPr>
        <p:txBody>
          <a:bodyPr wrap="square" lIns="27432" tIns="18288" rIns="27432" bIns="0">
            <a:spAutoFit/>
          </a:bodyPr>
          <a:lstStyle/>
          <a:p>
            <a:pPr>
              <a:spcAft>
                <a:spcPts val="500"/>
              </a:spcAft>
              <a:defRPr sz="1600" b="1">
                <a:solidFill>
                  <a:srgbClr val="263F35"/>
                </a:solidFill>
                <a:latin typeface="Aptos"/>
              </a:defRPr>
            </a:pPr>
            <a:r>
              <a:rPr dirty="0"/>
              <a:t>01 · Costo estimado: $19.500.000</a:t>
            </a:r>
          </a:p>
        </p:txBody>
      </p:sp>
      <p:sp>
        <p:nvSpPr>
          <p:cNvPr id="11" name="TextBox 10"/>
          <p:cNvSpPr txBox="1"/>
          <p:nvPr/>
        </p:nvSpPr>
        <p:spPr>
          <a:xfrm>
            <a:off x="950976" y="2340864"/>
            <a:ext cx="4773168" cy="424732"/>
          </a:xfrm>
          <a:prstGeom prst="rect">
            <a:avLst/>
          </a:prstGeom>
          <a:noFill/>
        </p:spPr>
        <p:txBody>
          <a:bodyPr wrap="square" lIns="27432" tIns="18288" rIns="27432" bIns="0">
            <a:spAutoFit/>
          </a:bodyPr>
          <a:lstStyle/>
          <a:p>
            <a:pPr>
              <a:spcAft>
                <a:spcPts val="500"/>
              </a:spcAft>
              <a:defRPr sz="1320" b="0">
                <a:solidFill>
                  <a:srgbClr val="5A645E"/>
                </a:solidFill>
                <a:latin typeface="Aptos"/>
              </a:defRPr>
            </a:pPr>
            <a:r>
              <a:rPr dirty="0"/>
              <a:t>Personal</a:t>
            </a:r>
            <a:r>
              <a:rPr lang="es-CL" dirty="0"/>
              <a:t> </a:t>
            </a:r>
            <a:r>
              <a:rPr dirty="0"/>
              <a:t> $15,6 MM</a:t>
            </a:r>
            <a:r>
              <a:rPr lang="es-CL" dirty="0"/>
              <a:t>, O</a:t>
            </a:r>
            <a:r>
              <a:rPr dirty="0" err="1"/>
              <a:t>peración</a:t>
            </a:r>
            <a:r>
              <a:rPr dirty="0"/>
              <a:t> $780 mil</a:t>
            </a:r>
            <a:r>
              <a:rPr lang="es-CL" dirty="0"/>
              <a:t>, T</a:t>
            </a:r>
            <a:r>
              <a:rPr dirty="0" err="1"/>
              <a:t>ecnología</a:t>
            </a:r>
            <a:r>
              <a:rPr lang="es-CL" dirty="0"/>
              <a:t> </a:t>
            </a:r>
            <a:r>
              <a:rPr dirty="0"/>
              <a:t>$1,35 MM</a:t>
            </a:r>
            <a:r>
              <a:rPr lang="es-CL" dirty="0"/>
              <a:t>, I</a:t>
            </a:r>
            <a:r>
              <a:rPr dirty="0" err="1"/>
              <a:t>nicio</a:t>
            </a:r>
            <a:r>
              <a:rPr dirty="0"/>
              <a:t>: $500 mil</a:t>
            </a:r>
            <a:r>
              <a:rPr lang="es-CL" dirty="0"/>
              <a:t>, I</a:t>
            </a:r>
            <a:r>
              <a:rPr dirty="0" err="1"/>
              <a:t>mprevistos</a:t>
            </a:r>
            <a:r>
              <a:rPr dirty="0"/>
              <a:t> $1,27 MM</a:t>
            </a:r>
          </a:p>
        </p:txBody>
      </p:sp>
      <p:sp>
        <p:nvSpPr>
          <p:cNvPr id="12" name="Rounded Rectangle 11"/>
          <p:cNvSpPr/>
          <p:nvPr/>
        </p:nvSpPr>
        <p:spPr>
          <a:xfrm>
            <a:off x="6181344" y="1700784"/>
            <a:ext cx="5349240" cy="1600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36792" y="1892808"/>
            <a:ext cx="50292" cy="1216152"/>
          </a:xfrm>
          <a:prstGeom prst="rect">
            <a:avLst/>
          </a:prstGeom>
          <a:solidFill>
            <a:srgbClr val="B6A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01383" y="1865376"/>
            <a:ext cx="4818888" cy="365760"/>
          </a:xfrm>
          <a:prstGeom prst="rect">
            <a:avLst/>
          </a:prstGeom>
          <a:noFill/>
        </p:spPr>
        <p:txBody>
          <a:bodyPr wrap="square" lIns="27432" tIns="18288" rIns="27432" bIns="0">
            <a:spAutoFit/>
          </a:bodyPr>
          <a:lstStyle/>
          <a:p>
            <a:pPr>
              <a:spcAft>
                <a:spcPts val="500"/>
              </a:spcAft>
              <a:defRPr sz="1600" b="1">
                <a:solidFill>
                  <a:srgbClr val="263F35"/>
                </a:solidFill>
                <a:latin typeface="Aptos"/>
              </a:defRPr>
            </a:pPr>
            <a:r>
              <a:t>02 · Precio neto: $23.000.000</a:t>
            </a:r>
          </a:p>
        </p:txBody>
      </p:sp>
      <p:sp>
        <p:nvSpPr>
          <p:cNvPr id="15" name="TextBox 14"/>
          <p:cNvSpPr txBox="1"/>
          <p:nvPr/>
        </p:nvSpPr>
        <p:spPr>
          <a:xfrm>
            <a:off x="6501383" y="2340864"/>
            <a:ext cx="4773168" cy="488852"/>
          </a:xfrm>
          <a:prstGeom prst="rect">
            <a:avLst/>
          </a:prstGeom>
          <a:noFill/>
        </p:spPr>
        <p:txBody>
          <a:bodyPr wrap="square" lIns="27432" tIns="18288" rIns="27432" bIns="0">
            <a:spAutoFit/>
          </a:bodyPr>
          <a:lstStyle/>
          <a:p>
            <a:pPr>
              <a:spcAft>
                <a:spcPts val="500"/>
              </a:spcAft>
              <a:defRPr sz="1320" b="0">
                <a:solidFill>
                  <a:srgbClr val="5A645E"/>
                </a:solidFill>
                <a:latin typeface="Aptos"/>
              </a:defRPr>
            </a:pPr>
            <a:r>
              <a:rPr dirty="0"/>
              <a:t>Costo estimado + utilidad proyectada de $3,5 MM</a:t>
            </a:r>
            <a:endParaRPr lang="es-CL" dirty="0"/>
          </a:p>
          <a:p>
            <a:pPr>
              <a:spcAft>
                <a:spcPts val="500"/>
              </a:spcAft>
              <a:defRPr sz="1320" b="0">
                <a:solidFill>
                  <a:srgbClr val="5A645E"/>
                </a:solidFill>
                <a:latin typeface="Aptos"/>
              </a:defRPr>
            </a:pPr>
            <a:r>
              <a:rPr dirty="0"/>
              <a:t>Total con IVA (19%): $27.370.000</a:t>
            </a:r>
          </a:p>
        </p:txBody>
      </p:sp>
      <p:sp>
        <p:nvSpPr>
          <p:cNvPr id="16" name="Rounded Rectangle 15"/>
          <p:cNvSpPr/>
          <p:nvPr/>
        </p:nvSpPr>
        <p:spPr>
          <a:xfrm>
            <a:off x="630936" y="3474720"/>
            <a:ext cx="10899648" cy="11338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86384" y="3666744"/>
            <a:ext cx="50292" cy="749808"/>
          </a:xfrm>
          <a:prstGeom prst="rect">
            <a:avLst/>
          </a:prstGeom>
          <a:solidFill>
            <a:srgbClr val="B6A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 y="3639312"/>
            <a:ext cx="10369296" cy="365760"/>
          </a:xfrm>
          <a:prstGeom prst="rect">
            <a:avLst/>
          </a:prstGeom>
          <a:noFill/>
        </p:spPr>
        <p:txBody>
          <a:bodyPr wrap="square" lIns="27432" tIns="18288" rIns="27432" bIns="0">
            <a:spAutoFit/>
          </a:bodyPr>
          <a:lstStyle/>
          <a:p>
            <a:pPr>
              <a:spcAft>
                <a:spcPts val="500"/>
              </a:spcAft>
              <a:defRPr sz="1600" b="1">
                <a:solidFill>
                  <a:srgbClr val="263F35"/>
                </a:solidFill>
                <a:latin typeface="Aptos"/>
              </a:defRPr>
            </a:pPr>
            <a:r>
              <a:t>03 · ¿Por qué dividir los cobros en seis meses?</a:t>
            </a:r>
          </a:p>
        </p:txBody>
      </p:sp>
      <p:sp>
        <p:nvSpPr>
          <p:cNvPr id="19" name="TextBox 18"/>
          <p:cNvSpPr txBox="1"/>
          <p:nvPr/>
        </p:nvSpPr>
        <p:spPr>
          <a:xfrm>
            <a:off x="950976" y="4114800"/>
            <a:ext cx="10323576" cy="221599"/>
          </a:xfrm>
          <a:prstGeom prst="rect">
            <a:avLst/>
          </a:prstGeom>
          <a:noFill/>
        </p:spPr>
        <p:txBody>
          <a:bodyPr wrap="square" lIns="27432" tIns="18288" rIns="27432" bIns="0">
            <a:spAutoFit/>
          </a:bodyPr>
          <a:lstStyle/>
          <a:p>
            <a:pPr>
              <a:spcAft>
                <a:spcPts val="500"/>
              </a:spcAft>
              <a:defRPr sz="1320" b="0">
                <a:solidFill>
                  <a:srgbClr val="5A645E"/>
                </a:solidFill>
                <a:latin typeface="Aptos"/>
              </a:defRPr>
            </a:pPr>
            <a:r>
              <a:rPr dirty="0"/>
              <a:t>Para financiar el trabajo y los gastos mensuales mientras se desarrolla el </a:t>
            </a:r>
            <a:r>
              <a:rPr dirty="0" err="1"/>
              <a:t>proyecto</a:t>
            </a:r>
            <a:endParaRPr dirty="0"/>
          </a:p>
        </p:txBody>
      </p:sp>
      <p:sp>
        <p:nvSpPr>
          <p:cNvPr id="20" name="TextBox 19"/>
          <p:cNvSpPr txBox="1"/>
          <p:nvPr/>
        </p:nvSpPr>
        <p:spPr>
          <a:xfrm>
            <a:off x="676656" y="4791456"/>
            <a:ext cx="5486400" cy="320040"/>
          </a:xfrm>
          <a:prstGeom prst="rect">
            <a:avLst/>
          </a:prstGeom>
          <a:noFill/>
        </p:spPr>
        <p:txBody>
          <a:bodyPr wrap="square" lIns="27432" tIns="18288" rIns="27432" bIns="0">
            <a:spAutoFit/>
          </a:bodyPr>
          <a:lstStyle/>
          <a:p>
            <a:pPr>
              <a:spcAft>
                <a:spcPts val="500"/>
              </a:spcAft>
              <a:defRPr sz="1400" b="1">
                <a:solidFill>
                  <a:srgbClr val="263F35"/>
                </a:solidFill>
                <a:latin typeface="Aptos"/>
              </a:defRPr>
            </a:pPr>
            <a:r>
              <a:t>CALENDARIO DE COBROS NETOS</a:t>
            </a:r>
          </a:p>
        </p:txBody>
      </p:sp>
      <p:sp>
        <p:nvSpPr>
          <p:cNvPr id="21" name="Rounded Rectangle 20"/>
          <p:cNvSpPr/>
          <p:nvPr/>
        </p:nvSpPr>
        <p:spPr>
          <a:xfrm>
            <a:off x="640080" y="5148072"/>
            <a:ext cx="1673352" cy="859536"/>
          </a:xfrm>
          <a:prstGeom prst="roundRect">
            <a:avLst/>
          </a:prstGeom>
          <a:solidFill>
            <a:srgbClr val="E8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19" y="5221224"/>
            <a:ext cx="1490472" cy="182880"/>
          </a:xfrm>
          <a:prstGeom prst="rect">
            <a:avLst/>
          </a:prstGeom>
          <a:noFill/>
        </p:spPr>
        <p:txBody>
          <a:bodyPr wrap="square" lIns="27432" tIns="18288" rIns="27432" bIns="0">
            <a:spAutoFit/>
          </a:bodyPr>
          <a:lstStyle/>
          <a:p>
            <a:pPr algn="ctr">
              <a:spcAft>
                <a:spcPts val="500"/>
              </a:spcAft>
              <a:defRPr sz="1100" b="1">
                <a:solidFill>
                  <a:srgbClr val="263F35"/>
                </a:solidFill>
                <a:latin typeface="Aptos"/>
              </a:defRPr>
            </a:pPr>
            <a:r>
              <a:t>MES 1 · 20%</a:t>
            </a:r>
          </a:p>
        </p:txBody>
      </p:sp>
      <p:sp>
        <p:nvSpPr>
          <p:cNvPr id="23" name="TextBox 22"/>
          <p:cNvSpPr txBox="1"/>
          <p:nvPr/>
        </p:nvSpPr>
        <p:spPr>
          <a:xfrm>
            <a:off x="694944" y="5541264"/>
            <a:ext cx="1554480" cy="256032"/>
          </a:xfrm>
          <a:prstGeom prst="rect">
            <a:avLst/>
          </a:prstGeom>
          <a:noFill/>
        </p:spPr>
        <p:txBody>
          <a:bodyPr wrap="square" lIns="27432" tIns="18288" rIns="27432" bIns="0">
            <a:spAutoFit/>
          </a:bodyPr>
          <a:lstStyle/>
          <a:p>
            <a:pPr algn="ctr">
              <a:spcAft>
                <a:spcPts val="500"/>
              </a:spcAft>
              <a:defRPr sz="1500" b="1">
                <a:solidFill>
                  <a:srgbClr val="263F35"/>
                </a:solidFill>
                <a:latin typeface="Aptos"/>
              </a:defRPr>
            </a:pPr>
            <a:r>
              <a:t>$4,60 MM</a:t>
            </a:r>
          </a:p>
        </p:txBody>
      </p:sp>
      <p:sp>
        <p:nvSpPr>
          <p:cNvPr id="24" name="Rounded Rectangle 23"/>
          <p:cNvSpPr/>
          <p:nvPr/>
        </p:nvSpPr>
        <p:spPr>
          <a:xfrm>
            <a:off x="2478024" y="5148072"/>
            <a:ext cx="1673352" cy="859536"/>
          </a:xfrm>
          <a:prstGeom prst="roundRect">
            <a:avLst/>
          </a:prstGeom>
          <a:solidFill>
            <a:srgbClr val="E8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69464" y="5221224"/>
            <a:ext cx="1490472" cy="182880"/>
          </a:xfrm>
          <a:prstGeom prst="rect">
            <a:avLst/>
          </a:prstGeom>
          <a:noFill/>
        </p:spPr>
        <p:txBody>
          <a:bodyPr wrap="square" lIns="27432" tIns="18288" rIns="27432" bIns="0">
            <a:spAutoFit/>
          </a:bodyPr>
          <a:lstStyle/>
          <a:p>
            <a:pPr algn="ctr">
              <a:spcAft>
                <a:spcPts val="500"/>
              </a:spcAft>
              <a:defRPr sz="1100" b="1">
                <a:solidFill>
                  <a:srgbClr val="263F35"/>
                </a:solidFill>
                <a:latin typeface="Aptos"/>
              </a:defRPr>
            </a:pPr>
            <a:r>
              <a:t>MES 2 · 15%</a:t>
            </a:r>
          </a:p>
        </p:txBody>
      </p:sp>
      <p:sp>
        <p:nvSpPr>
          <p:cNvPr id="26" name="TextBox 25"/>
          <p:cNvSpPr txBox="1"/>
          <p:nvPr/>
        </p:nvSpPr>
        <p:spPr>
          <a:xfrm>
            <a:off x="2532888" y="5541264"/>
            <a:ext cx="1554480" cy="256032"/>
          </a:xfrm>
          <a:prstGeom prst="rect">
            <a:avLst/>
          </a:prstGeom>
          <a:noFill/>
        </p:spPr>
        <p:txBody>
          <a:bodyPr wrap="square" lIns="27432" tIns="18288" rIns="27432" bIns="0">
            <a:spAutoFit/>
          </a:bodyPr>
          <a:lstStyle/>
          <a:p>
            <a:pPr algn="ctr">
              <a:spcAft>
                <a:spcPts val="500"/>
              </a:spcAft>
              <a:defRPr sz="1500" b="1">
                <a:solidFill>
                  <a:srgbClr val="263F35"/>
                </a:solidFill>
                <a:latin typeface="Aptos"/>
              </a:defRPr>
            </a:pPr>
            <a:r>
              <a:t>$3,45 MM</a:t>
            </a:r>
          </a:p>
        </p:txBody>
      </p:sp>
      <p:sp>
        <p:nvSpPr>
          <p:cNvPr id="27" name="Rounded Rectangle 26"/>
          <p:cNvSpPr/>
          <p:nvPr/>
        </p:nvSpPr>
        <p:spPr>
          <a:xfrm>
            <a:off x="4315968" y="5148072"/>
            <a:ext cx="1673352" cy="859536"/>
          </a:xfrm>
          <a:prstGeom prst="roundRect">
            <a:avLst/>
          </a:prstGeom>
          <a:solidFill>
            <a:srgbClr val="E8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07407" y="5221224"/>
            <a:ext cx="1490472" cy="182880"/>
          </a:xfrm>
          <a:prstGeom prst="rect">
            <a:avLst/>
          </a:prstGeom>
          <a:noFill/>
        </p:spPr>
        <p:txBody>
          <a:bodyPr wrap="square" lIns="27432" tIns="18288" rIns="27432" bIns="0">
            <a:spAutoFit/>
          </a:bodyPr>
          <a:lstStyle/>
          <a:p>
            <a:pPr algn="ctr">
              <a:spcAft>
                <a:spcPts val="500"/>
              </a:spcAft>
              <a:defRPr sz="1100" b="1">
                <a:solidFill>
                  <a:srgbClr val="263F35"/>
                </a:solidFill>
                <a:latin typeface="Aptos"/>
              </a:defRPr>
            </a:pPr>
            <a:r>
              <a:t>MES 3 · 20%</a:t>
            </a:r>
          </a:p>
        </p:txBody>
      </p:sp>
      <p:sp>
        <p:nvSpPr>
          <p:cNvPr id="29" name="TextBox 28"/>
          <p:cNvSpPr txBox="1"/>
          <p:nvPr/>
        </p:nvSpPr>
        <p:spPr>
          <a:xfrm>
            <a:off x="4370831" y="5541264"/>
            <a:ext cx="1554480" cy="256032"/>
          </a:xfrm>
          <a:prstGeom prst="rect">
            <a:avLst/>
          </a:prstGeom>
          <a:noFill/>
        </p:spPr>
        <p:txBody>
          <a:bodyPr wrap="square" lIns="27432" tIns="18288" rIns="27432" bIns="0">
            <a:spAutoFit/>
          </a:bodyPr>
          <a:lstStyle/>
          <a:p>
            <a:pPr algn="ctr">
              <a:spcAft>
                <a:spcPts val="500"/>
              </a:spcAft>
              <a:defRPr sz="1500" b="1">
                <a:solidFill>
                  <a:srgbClr val="263F35"/>
                </a:solidFill>
                <a:latin typeface="Aptos"/>
              </a:defRPr>
            </a:pPr>
            <a:r>
              <a:t>$4,60 MM</a:t>
            </a:r>
          </a:p>
        </p:txBody>
      </p:sp>
      <p:sp>
        <p:nvSpPr>
          <p:cNvPr id="30" name="Rounded Rectangle 29"/>
          <p:cNvSpPr/>
          <p:nvPr/>
        </p:nvSpPr>
        <p:spPr>
          <a:xfrm>
            <a:off x="6153912" y="5148072"/>
            <a:ext cx="1673352" cy="859536"/>
          </a:xfrm>
          <a:prstGeom prst="roundRect">
            <a:avLst/>
          </a:prstGeom>
          <a:solidFill>
            <a:srgbClr val="E8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45351" y="5221224"/>
            <a:ext cx="1490472" cy="182880"/>
          </a:xfrm>
          <a:prstGeom prst="rect">
            <a:avLst/>
          </a:prstGeom>
          <a:noFill/>
        </p:spPr>
        <p:txBody>
          <a:bodyPr wrap="square" lIns="27432" tIns="18288" rIns="27432" bIns="0">
            <a:spAutoFit/>
          </a:bodyPr>
          <a:lstStyle/>
          <a:p>
            <a:pPr algn="ctr">
              <a:spcAft>
                <a:spcPts val="500"/>
              </a:spcAft>
              <a:defRPr sz="1100" b="1">
                <a:solidFill>
                  <a:srgbClr val="263F35"/>
                </a:solidFill>
                <a:latin typeface="Aptos"/>
              </a:defRPr>
            </a:pPr>
            <a:r>
              <a:t>MES 4 · 20%</a:t>
            </a:r>
          </a:p>
        </p:txBody>
      </p:sp>
      <p:sp>
        <p:nvSpPr>
          <p:cNvPr id="32" name="TextBox 31"/>
          <p:cNvSpPr txBox="1"/>
          <p:nvPr/>
        </p:nvSpPr>
        <p:spPr>
          <a:xfrm>
            <a:off x="6208775" y="5541264"/>
            <a:ext cx="1554480" cy="256032"/>
          </a:xfrm>
          <a:prstGeom prst="rect">
            <a:avLst/>
          </a:prstGeom>
          <a:noFill/>
        </p:spPr>
        <p:txBody>
          <a:bodyPr wrap="square" lIns="27432" tIns="18288" rIns="27432" bIns="0">
            <a:spAutoFit/>
          </a:bodyPr>
          <a:lstStyle/>
          <a:p>
            <a:pPr algn="ctr">
              <a:spcAft>
                <a:spcPts val="500"/>
              </a:spcAft>
              <a:defRPr sz="1500" b="1">
                <a:solidFill>
                  <a:srgbClr val="263F35"/>
                </a:solidFill>
                <a:latin typeface="Aptos"/>
              </a:defRPr>
            </a:pPr>
            <a:r>
              <a:t>$4,60 MM</a:t>
            </a:r>
          </a:p>
        </p:txBody>
      </p:sp>
      <p:sp>
        <p:nvSpPr>
          <p:cNvPr id="33" name="Rounded Rectangle 32"/>
          <p:cNvSpPr/>
          <p:nvPr/>
        </p:nvSpPr>
        <p:spPr>
          <a:xfrm>
            <a:off x="7991855" y="5148072"/>
            <a:ext cx="1673352" cy="859536"/>
          </a:xfrm>
          <a:prstGeom prst="roundRect">
            <a:avLst/>
          </a:prstGeom>
          <a:solidFill>
            <a:srgbClr val="E8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83295" y="5221224"/>
            <a:ext cx="1490472" cy="182880"/>
          </a:xfrm>
          <a:prstGeom prst="rect">
            <a:avLst/>
          </a:prstGeom>
          <a:noFill/>
        </p:spPr>
        <p:txBody>
          <a:bodyPr wrap="square" lIns="27432" tIns="18288" rIns="27432" bIns="0">
            <a:spAutoFit/>
          </a:bodyPr>
          <a:lstStyle/>
          <a:p>
            <a:pPr algn="ctr">
              <a:spcAft>
                <a:spcPts val="500"/>
              </a:spcAft>
              <a:defRPr sz="1100" b="1">
                <a:solidFill>
                  <a:srgbClr val="263F35"/>
                </a:solidFill>
                <a:latin typeface="Aptos"/>
              </a:defRPr>
            </a:pPr>
            <a:r>
              <a:t>MES 5 · 15%</a:t>
            </a:r>
          </a:p>
        </p:txBody>
      </p:sp>
      <p:sp>
        <p:nvSpPr>
          <p:cNvPr id="35" name="TextBox 34"/>
          <p:cNvSpPr txBox="1"/>
          <p:nvPr/>
        </p:nvSpPr>
        <p:spPr>
          <a:xfrm>
            <a:off x="8046719" y="5541264"/>
            <a:ext cx="1554480" cy="256032"/>
          </a:xfrm>
          <a:prstGeom prst="rect">
            <a:avLst/>
          </a:prstGeom>
          <a:noFill/>
        </p:spPr>
        <p:txBody>
          <a:bodyPr wrap="square" lIns="27432" tIns="18288" rIns="27432" bIns="0">
            <a:spAutoFit/>
          </a:bodyPr>
          <a:lstStyle/>
          <a:p>
            <a:pPr algn="ctr">
              <a:spcAft>
                <a:spcPts val="500"/>
              </a:spcAft>
              <a:defRPr sz="1500" b="1">
                <a:solidFill>
                  <a:srgbClr val="263F35"/>
                </a:solidFill>
                <a:latin typeface="Aptos"/>
              </a:defRPr>
            </a:pPr>
            <a:r>
              <a:t>$3,45 MM</a:t>
            </a:r>
          </a:p>
        </p:txBody>
      </p:sp>
      <p:sp>
        <p:nvSpPr>
          <p:cNvPr id="36" name="Rounded Rectangle 35"/>
          <p:cNvSpPr/>
          <p:nvPr/>
        </p:nvSpPr>
        <p:spPr>
          <a:xfrm>
            <a:off x="9829799" y="5148072"/>
            <a:ext cx="1673352" cy="859536"/>
          </a:xfrm>
          <a:prstGeom prst="roundRect">
            <a:avLst/>
          </a:prstGeom>
          <a:solidFill>
            <a:srgbClr val="E8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21239" y="5221224"/>
            <a:ext cx="1490472" cy="182880"/>
          </a:xfrm>
          <a:prstGeom prst="rect">
            <a:avLst/>
          </a:prstGeom>
          <a:noFill/>
        </p:spPr>
        <p:txBody>
          <a:bodyPr wrap="square" lIns="27432" tIns="18288" rIns="27432" bIns="0">
            <a:spAutoFit/>
          </a:bodyPr>
          <a:lstStyle/>
          <a:p>
            <a:pPr algn="ctr">
              <a:spcAft>
                <a:spcPts val="500"/>
              </a:spcAft>
              <a:defRPr sz="1100" b="1">
                <a:solidFill>
                  <a:srgbClr val="263F35"/>
                </a:solidFill>
                <a:latin typeface="Aptos"/>
              </a:defRPr>
            </a:pPr>
            <a:r>
              <a:t>MES 6 · 10%</a:t>
            </a:r>
          </a:p>
        </p:txBody>
      </p:sp>
      <p:sp>
        <p:nvSpPr>
          <p:cNvPr id="38" name="TextBox 37"/>
          <p:cNvSpPr txBox="1"/>
          <p:nvPr/>
        </p:nvSpPr>
        <p:spPr>
          <a:xfrm>
            <a:off x="9884663" y="5541264"/>
            <a:ext cx="1554480" cy="256032"/>
          </a:xfrm>
          <a:prstGeom prst="rect">
            <a:avLst/>
          </a:prstGeom>
          <a:noFill/>
        </p:spPr>
        <p:txBody>
          <a:bodyPr wrap="square" lIns="27432" tIns="18288" rIns="27432" bIns="0">
            <a:spAutoFit/>
          </a:bodyPr>
          <a:lstStyle/>
          <a:p>
            <a:pPr algn="ctr">
              <a:spcAft>
                <a:spcPts val="500"/>
              </a:spcAft>
              <a:defRPr sz="1500" b="1">
                <a:solidFill>
                  <a:srgbClr val="263F35"/>
                </a:solidFill>
                <a:latin typeface="Aptos"/>
              </a:defRPr>
            </a:pPr>
            <a:r>
              <a:t>$2,30 MM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340"/>
        <p:cNvGrpSpPr/>
        <p:nvPr/>
      </p:nvGrpSpPr>
      <p:grpSpPr>
        <a:xfrm>
          <a:off x="0" y="0"/>
          <a:ext cx="0" cy="0"/>
          <a:chOff x="0" y="0"/>
          <a:chExt cx="0" cy="0"/>
        </a:xfrm>
      </p:grpSpPr>
      <p:sp>
        <p:nvSpPr>
          <p:cNvPr id="341" name="Google Shape;341;p10"/>
          <p:cNvSpPr/>
          <p:nvPr/>
        </p:nvSpPr>
        <p:spPr>
          <a:xfrm>
            <a:off x="0" y="0"/>
            <a:ext cx="12191695" cy="6858000"/>
          </a:xfrm>
          <a:prstGeom prst="rect">
            <a:avLst/>
          </a:prstGeom>
          <a:solidFill>
            <a:srgbClr val="F7F6F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2" name="Google Shape;342;p10"/>
          <p:cNvSpPr/>
          <p:nvPr/>
        </p:nvSpPr>
        <p:spPr>
          <a:xfrm>
            <a:off x="0" y="0"/>
            <a:ext cx="128016" cy="6858000"/>
          </a:xfrm>
          <a:prstGeom prst="rect">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3" name="Google Shape;343;p10"/>
          <p:cNvSpPr txBox="1"/>
          <p:nvPr/>
        </p:nvSpPr>
        <p:spPr>
          <a:xfrm>
            <a:off x="603504" y="329184"/>
            <a:ext cx="10972800" cy="5394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900" b="1" i="0" u="none" strike="noStrike" cap="none">
                <a:solidFill>
                  <a:srgbClr val="263B33"/>
                </a:solidFill>
                <a:latin typeface="Arial"/>
                <a:ea typeface="Arial"/>
                <a:cs typeface="Arial"/>
                <a:sym typeface="Arial"/>
              </a:rPr>
              <a:t>Fase 3: qué haremos antes de la entrega</a:t>
            </a:r>
            <a:endParaRPr/>
          </a:p>
        </p:txBody>
      </p:sp>
      <p:sp>
        <p:nvSpPr>
          <p:cNvPr id="344" name="Google Shape;344;p10"/>
          <p:cNvSpPr/>
          <p:nvPr/>
        </p:nvSpPr>
        <p:spPr>
          <a:xfrm>
            <a:off x="612648" y="1024128"/>
            <a:ext cx="603504" cy="32004"/>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5" name="Google Shape;345;p10"/>
          <p:cNvSpPr txBox="1"/>
          <p:nvPr/>
        </p:nvSpPr>
        <p:spPr>
          <a:xfrm>
            <a:off x="11301984" y="6483096"/>
            <a:ext cx="347472" cy="20116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1000" b="0" i="0" u="none" strike="noStrike" cap="none">
                <a:solidFill>
                  <a:srgbClr val="5A655F"/>
                </a:solidFill>
                <a:latin typeface="Arial"/>
                <a:ea typeface="Arial"/>
                <a:cs typeface="Arial"/>
                <a:sym typeface="Arial"/>
              </a:rPr>
              <a:t>11</a:t>
            </a:r>
            <a:endParaRPr/>
          </a:p>
        </p:txBody>
      </p:sp>
      <p:sp>
        <p:nvSpPr>
          <p:cNvPr id="346" name="Google Shape;346;p10"/>
          <p:cNvSpPr/>
          <p:nvPr/>
        </p:nvSpPr>
        <p:spPr>
          <a:xfrm>
            <a:off x="987552" y="2816352"/>
            <a:ext cx="10195560" cy="54864"/>
          </a:xfrm>
          <a:prstGeom prst="rect">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7" name="Google Shape;347;p10"/>
          <p:cNvSpPr/>
          <p:nvPr/>
        </p:nvSpPr>
        <p:spPr>
          <a:xfrm>
            <a:off x="649224" y="1837943"/>
            <a:ext cx="2615184" cy="566928"/>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8" name="Google Shape;348;p10"/>
          <p:cNvSpPr txBox="1"/>
          <p:nvPr/>
        </p:nvSpPr>
        <p:spPr>
          <a:xfrm>
            <a:off x="786384" y="1975104"/>
            <a:ext cx="2331720" cy="27432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S17</a:t>
            </a:r>
            <a:endParaRPr/>
          </a:p>
        </p:txBody>
      </p:sp>
      <p:sp>
        <p:nvSpPr>
          <p:cNvPr id="349" name="Google Shape;349;p10"/>
          <p:cNvSpPr/>
          <p:nvPr/>
        </p:nvSpPr>
        <p:spPr>
          <a:xfrm>
            <a:off x="1728216" y="2633472"/>
            <a:ext cx="393192" cy="393192"/>
          </a:xfrm>
          <a:prstGeom prst="roundRect">
            <a:avLst>
              <a:gd name="adj" fmla="val 13000"/>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0" name="Google Shape;350;p10"/>
          <p:cNvSpPr txBox="1"/>
          <p:nvPr/>
        </p:nvSpPr>
        <p:spPr>
          <a:xfrm>
            <a:off x="1773936" y="2734056"/>
            <a:ext cx="301752" cy="15544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FFFFFF"/>
                </a:solidFill>
                <a:latin typeface="Arial"/>
                <a:ea typeface="Arial"/>
                <a:cs typeface="Arial"/>
                <a:sym typeface="Arial"/>
              </a:rPr>
              <a:t>01</a:t>
            </a:r>
            <a:endParaRPr/>
          </a:p>
        </p:txBody>
      </p:sp>
      <p:sp>
        <p:nvSpPr>
          <p:cNvPr id="351" name="Google Shape;351;p10"/>
          <p:cNvSpPr/>
          <p:nvPr/>
        </p:nvSpPr>
        <p:spPr>
          <a:xfrm>
            <a:off x="649224" y="3300984"/>
            <a:ext cx="2615184" cy="1993392"/>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2" name="Google Shape;352;p10"/>
          <p:cNvSpPr txBox="1"/>
          <p:nvPr/>
        </p:nvSpPr>
        <p:spPr>
          <a:xfrm>
            <a:off x="822959" y="3557016"/>
            <a:ext cx="2286000" cy="5577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Comprobar pagos</a:t>
            </a:r>
            <a:endParaRPr/>
          </a:p>
        </p:txBody>
      </p:sp>
      <p:sp>
        <p:nvSpPr>
          <p:cNvPr id="353" name="Google Shape;353;p10"/>
          <p:cNvSpPr txBox="1"/>
          <p:nvPr/>
        </p:nvSpPr>
        <p:spPr>
          <a:xfrm>
            <a:off x="822959" y="4288536"/>
            <a:ext cx="2267712"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dirty="0" err="1">
                <a:solidFill>
                  <a:srgbClr val="5A655F"/>
                </a:solidFill>
                <a:latin typeface="Arial"/>
                <a:ea typeface="Arial"/>
                <a:cs typeface="Arial"/>
                <a:sym typeface="Arial"/>
              </a:rPr>
              <a:t>Probar</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los</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resultados</a:t>
            </a:r>
            <a:r>
              <a:rPr lang="en-US" sz="1200" b="0" i="0" u="none" strike="noStrike" cap="none" dirty="0">
                <a:solidFill>
                  <a:srgbClr val="5A655F"/>
                </a:solidFill>
                <a:latin typeface="Arial"/>
                <a:ea typeface="Arial"/>
                <a:cs typeface="Arial"/>
                <a:sym typeface="Arial"/>
              </a:rPr>
              <a:t> de </a:t>
            </a:r>
            <a:r>
              <a:rPr lang="en-US" sz="1200" b="0" i="0" u="none" strike="noStrike" cap="none" dirty="0" err="1">
                <a:solidFill>
                  <a:srgbClr val="5A655F"/>
                </a:solidFill>
                <a:latin typeface="Arial"/>
                <a:ea typeface="Arial"/>
                <a:cs typeface="Arial"/>
                <a:sym typeface="Arial"/>
              </a:rPr>
              <a:t>Webpay</a:t>
            </a:r>
            <a:r>
              <a:rPr lang="en-US" sz="1200" b="0" i="0" u="none" strike="noStrike" cap="none" dirty="0">
                <a:solidFill>
                  <a:srgbClr val="5A655F"/>
                </a:solidFill>
                <a:latin typeface="Arial"/>
                <a:ea typeface="Arial"/>
                <a:cs typeface="Arial"/>
                <a:sym typeface="Arial"/>
              </a:rPr>
              <a:t> y </a:t>
            </a:r>
            <a:r>
              <a:rPr lang="en-US" sz="1200" b="0" i="0" u="none" strike="noStrike" cap="none" dirty="0" err="1">
                <a:solidFill>
                  <a:srgbClr val="5A655F"/>
                </a:solidFill>
                <a:latin typeface="Arial"/>
                <a:ea typeface="Arial"/>
                <a:cs typeface="Arial"/>
                <a:sym typeface="Arial"/>
              </a:rPr>
              <a:t>su</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efecto</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en</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pedidos</a:t>
            </a:r>
            <a:r>
              <a:rPr lang="en-US" sz="1200" b="0" i="0" u="none" strike="noStrike" cap="none" dirty="0">
                <a:solidFill>
                  <a:srgbClr val="5A655F"/>
                </a:solidFill>
                <a:latin typeface="Arial"/>
                <a:ea typeface="Arial"/>
                <a:cs typeface="Arial"/>
                <a:sym typeface="Arial"/>
              </a:rPr>
              <a:t> y </a:t>
            </a:r>
            <a:r>
              <a:rPr lang="en-US" sz="1200" b="0" i="0" u="none" strike="noStrike" cap="none" dirty="0" err="1">
                <a:solidFill>
                  <a:srgbClr val="5A655F"/>
                </a:solidFill>
                <a:latin typeface="Arial"/>
                <a:ea typeface="Arial"/>
                <a:cs typeface="Arial"/>
                <a:sym typeface="Arial"/>
              </a:rPr>
              <a:t>reservas</a:t>
            </a:r>
            <a:endParaRPr dirty="0"/>
          </a:p>
        </p:txBody>
      </p:sp>
      <p:sp>
        <p:nvSpPr>
          <p:cNvPr id="354" name="Google Shape;354;p10"/>
          <p:cNvSpPr/>
          <p:nvPr/>
        </p:nvSpPr>
        <p:spPr>
          <a:xfrm>
            <a:off x="3520440" y="1837943"/>
            <a:ext cx="2615184" cy="566928"/>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5" name="Google Shape;355;p10"/>
          <p:cNvSpPr txBox="1"/>
          <p:nvPr/>
        </p:nvSpPr>
        <p:spPr>
          <a:xfrm>
            <a:off x="3657600" y="1975104"/>
            <a:ext cx="2331720" cy="27432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S17–S18</a:t>
            </a:r>
            <a:endParaRPr/>
          </a:p>
        </p:txBody>
      </p:sp>
      <p:sp>
        <p:nvSpPr>
          <p:cNvPr id="356" name="Google Shape;356;p10"/>
          <p:cNvSpPr/>
          <p:nvPr/>
        </p:nvSpPr>
        <p:spPr>
          <a:xfrm>
            <a:off x="4599432" y="2633472"/>
            <a:ext cx="393192" cy="393192"/>
          </a:xfrm>
          <a:prstGeom prst="roundRect">
            <a:avLst>
              <a:gd name="adj" fmla="val 13000"/>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7" name="Google Shape;357;p10"/>
          <p:cNvSpPr txBox="1"/>
          <p:nvPr/>
        </p:nvSpPr>
        <p:spPr>
          <a:xfrm>
            <a:off x="4645152" y="2734056"/>
            <a:ext cx="301752" cy="15544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FFFFFF"/>
                </a:solidFill>
                <a:latin typeface="Arial"/>
                <a:ea typeface="Arial"/>
                <a:cs typeface="Arial"/>
                <a:sym typeface="Arial"/>
              </a:rPr>
              <a:t>02</a:t>
            </a:r>
            <a:endParaRPr/>
          </a:p>
        </p:txBody>
      </p:sp>
      <p:sp>
        <p:nvSpPr>
          <p:cNvPr id="358" name="Google Shape;358;p10"/>
          <p:cNvSpPr/>
          <p:nvPr/>
        </p:nvSpPr>
        <p:spPr>
          <a:xfrm>
            <a:off x="3520440" y="3300984"/>
            <a:ext cx="2615184" cy="1993392"/>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9" name="Google Shape;359;p10"/>
          <p:cNvSpPr txBox="1"/>
          <p:nvPr/>
        </p:nvSpPr>
        <p:spPr>
          <a:xfrm>
            <a:off x="3694176" y="3557016"/>
            <a:ext cx="2286000" cy="5577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Probar y corregir</a:t>
            </a:r>
            <a:endParaRPr/>
          </a:p>
        </p:txBody>
      </p:sp>
      <p:sp>
        <p:nvSpPr>
          <p:cNvPr id="360" name="Google Shape;360;p10"/>
          <p:cNvSpPr txBox="1"/>
          <p:nvPr/>
        </p:nvSpPr>
        <p:spPr>
          <a:xfrm>
            <a:off x="3694176" y="4288536"/>
            <a:ext cx="2267712"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dirty="0" err="1">
                <a:solidFill>
                  <a:srgbClr val="5A655F"/>
                </a:solidFill>
                <a:latin typeface="Arial"/>
                <a:ea typeface="Arial"/>
                <a:cs typeface="Arial"/>
                <a:sym typeface="Arial"/>
              </a:rPr>
              <a:t>Ejecutar</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pruebas</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corregir</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errores</a:t>
            </a:r>
            <a:r>
              <a:rPr lang="en-US" sz="1200" b="0" i="0" u="none" strike="noStrike" cap="none" dirty="0">
                <a:solidFill>
                  <a:srgbClr val="5A655F"/>
                </a:solidFill>
                <a:latin typeface="Arial"/>
                <a:ea typeface="Arial"/>
                <a:cs typeface="Arial"/>
                <a:sym typeface="Arial"/>
              </a:rPr>
              <a:t> y </a:t>
            </a:r>
            <a:r>
              <a:rPr lang="en-US" sz="1200" b="0" i="0" u="none" strike="noStrike" cap="none" dirty="0" err="1">
                <a:solidFill>
                  <a:srgbClr val="5A655F"/>
                </a:solidFill>
                <a:latin typeface="Arial"/>
                <a:ea typeface="Arial"/>
                <a:cs typeface="Arial"/>
                <a:sym typeface="Arial"/>
              </a:rPr>
              <a:t>repetir</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los</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casos</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fallidos</a:t>
            </a:r>
            <a:endParaRPr dirty="0"/>
          </a:p>
        </p:txBody>
      </p:sp>
      <p:sp>
        <p:nvSpPr>
          <p:cNvPr id="361" name="Google Shape;361;p10"/>
          <p:cNvSpPr/>
          <p:nvPr/>
        </p:nvSpPr>
        <p:spPr>
          <a:xfrm>
            <a:off x="6391656" y="1837943"/>
            <a:ext cx="2615184" cy="566928"/>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2" name="Google Shape;362;p10"/>
          <p:cNvSpPr txBox="1"/>
          <p:nvPr/>
        </p:nvSpPr>
        <p:spPr>
          <a:xfrm>
            <a:off x="6528816" y="1975104"/>
            <a:ext cx="2331720" cy="27432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S18–S19</a:t>
            </a:r>
            <a:endParaRPr/>
          </a:p>
        </p:txBody>
      </p:sp>
      <p:sp>
        <p:nvSpPr>
          <p:cNvPr id="363" name="Google Shape;363;p10"/>
          <p:cNvSpPr/>
          <p:nvPr/>
        </p:nvSpPr>
        <p:spPr>
          <a:xfrm>
            <a:off x="7470648" y="2633472"/>
            <a:ext cx="393192" cy="393192"/>
          </a:xfrm>
          <a:prstGeom prst="roundRect">
            <a:avLst>
              <a:gd name="adj" fmla="val 13000"/>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4" name="Google Shape;364;p10"/>
          <p:cNvSpPr txBox="1"/>
          <p:nvPr/>
        </p:nvSpPr>
        <p:spPr>
          <a:xfrm>
            <a:off x="7516368" y="2734056"/>
            <a:ext cx="301752" cy="15544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FFFFFF"/>
                </a:solidFill>
                <a:latin typeface="Arial"/>
                <a:ea typeface="Arial"/>
                <a:cs typeface="Arial"/>
                <a:sym typeface="Arial"/>
              </a:rPr>
              <a:t>03</a:t>
            </a:r>
            <a:endParaRPr/>
          </a:p>
        </p:txBody>
      </p:sp>
      <p:sp>
        <p:nvSpPr>
          <p:cNvPr id="365" name="Google Shape;365;p10"/>
          <p:cNvSpPr/>
          <p:nvPr/>
        </p:nvSpPr>
        <p:spPr>
          <a:xfrm>
            <a:off x="6391656" y="3300984"/>
            <a:ext cx="2615184" cy="1993392"/>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6" name="Google Shape;366;p10"/>
          <p:cNvSpPr txBox="1"/>
          <p:nvPr/>
        </p:nvSpPr>
        <p:spPr>
          <a:xfrm>
            <a:off x="6565392" y="3557016"/>
            <a:ext cx="2286000" cy="5577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Revisar la instalación</a:t>
            </a:r>
            <a:endParaRPr/>
          </a:p>
        </p:txBody>
      </p:sp>
      <p:sp>
        <p:nvSpPr>
          <p:cNvPr id="367" name="Google Shape;367;p10"/>
          <p:cNvSpPr txBox="1"/>
          <p:nvPr/>
        </p:nvSpPr>
        <p:spPr>
          <a:xfrm>
            <a:off x="6565392" y="4288536"/>
            <a:ext cx="2267712"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dirty="0">
                <a:solidFill>
                  <a:srgbClr val="5A655F"/>
                </a:solidFill>
                <a:latin typeface="Arial"/>
                <a:ea typeface="Arial"/>
                <a:cs typeface="Arial"/>
                <a:sym typeface="Arial"/>
              </a:rPr>
              <a:t>Validar web, </a:t>
            </a:r>
            <a:r>
              <a:rPr lang="en-US" sz="1200" b="0" i="0" u="none" strike="noStrike" cap="none" dirty="0" err="1">
                <a:solidFill>
                  <a:srgbClr val="5A655F"/>
                </a:solidFill>
                <a:latin typeface="Arial"/>
                <a:ea typeface="Arial"/>
                <a:cs typeface="Arial"/>
                <a:sym typeface="Arial"/>
              </a:rPr>
              <a:t>servidor</a:t>
            </a:r>
            <a:r>
              <a:rPr lang="en-US" sz="1200" b="0" i="0" u="none" strike="noStrike" cap="none" dirty="0">
                <a:solidFill>
                  <a:srgbClr val="5A655F"/>
                </a:solidFill>
                <a:latin typeface="Arial"/>
                <a:ea typeface="Arial"/>
                <a:cs typeface="Arial"/>
                <a:sym typeface="Arial"/>
              </a:rPr>
              <a:t>, datos e </a:t>
            </a:r>
            <a:r>
              <a:rPr lang="en-US" sz="1200" b="0" i="0" u="none" strike="noStrike" cap="none" dirty="0" err="1">
                <a:solidFill>
                  <a:srgbClr val="5A655F"/>
                </a:solidFill>
                <a:latin typeface="Arial"/>
                <a:ea typeface="Arial"/>
                <a:cs typeface="Arial"/>
                <a:sym typeface="Arial"/>
              </a:rPr>
              <a:t>instalación</a:t>
            </a:r>
            <a:r>
              <a:rPr lang="en-US" sz="1200" b="0" i="0" u="none" strike="noStrike" cap="none" dirty="0">
                <a:solidFill>
                  <a:srgbClr val="5A655F"/>
                </a:solidFill>
                <a:latin typeface="Arial"/>
                <a:ea typeface="Arial"/>
                <a:cs typeface="Arial"/>
                <a:sym typeface="Arial"/>
              </a:rPr>
              <a:t> de la app Android</a:t>
            </a:r>
            <a:endParaRPr dirty="0"/>
          </a:p>
        </p:txBody>
      </p:sp>
      <p:sp>
        <p:nvSpPr>
          <p:cNvPr id="368" name="Google Shape;368;p10"/>
          <p:cNvSpPr/>
          <p:nvPr/>
        </p:nvSpPr>
        <p:spPr>
          <a:xfrm>
            <a:off x="9262872" y="1837943"/>
            <a:ext cx="2615184" cy="566928"/>
          </a:xfrm>
          <a:prstGeom prst="roundRect">
            <a:avLst>
              <a:gd name="adj" fmla="val 13000"/>
            </a:avLst>
          </a:prstGeom>
          <a:solidFill>
            <a:srgbClr val="263B3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9" name="Google Shape;369;p10"/>
          <p:cNvSpPr txBox="1"/>
          <p:nvPr/>
        </p:nvSpPr>
        <p:spPr>
          <a:xfrm>
            <a:off x="9400032" y="1975104"/>
            <a:ext cx="2331720" cy="27432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S18–S19</a:t>
            </a:r>
            <a:endParaRPr/>
          </a:p>
        </p:txBody>
      </p:sp>
      <p:sp>
        <p:nvSpPr>
          <p:cNvPr id="370" name="Google Shape;370;p10"/>
          <p:cNvSpPr/>
          <p:nvPr/>
        </p:nvSpPr>
        <p:spPr>
          <a:xfrm>
            <a:off x="10341863" y="2633472"/>
            <a:ext cx="393192" cy="393192"/>
          </a:xfrm>
          <a:prstGeom prst="roundRect">
            <a:avLst>
              <a:gd name="adj" fmla="val 13000"/>
            </a:avLst>
          </a:prstGeom>
          <a:solidFill>
            <a:srgbClr val="B49A7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1" name="Google Shape;371;p10"/>
          <p:cNvSpPr txBox="1"/>
          <p:nvPr/>
        </p:nvSpPr>
        <p:spPr>
          <a:xfrm>
            <a:off x="10387584" y="2734056"/>
            <a:ext cx="301752" cy="15544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FFFFFF"/>
                </a:solidFill>
                <a:latin typeface="Arial"/>
                <a:ea typeface="Arial"/>
                <a:cs typeface="Arial"/>
                <a:sym typeface="Arial"/>
              </a:rPr>
              <a:t>04</a:t>
            </a:r>
            <a:endParaRPr/>
          </a:p>
        </p:txBody>
      </p:sp>
      <p:sp>
        <p:nvSpPr>
          <p:cNvPr id="372" name="Google Shape;372;p10"/>
          <p:cNvSpPr/>
          <p:nvPr/>
        </p:nvSpPr>
        <p:spPr>
          <a:xfrm>
            <a:off x="9262872" y="3300984"/>
            <a:ext cx="2615184" cy="1993392"/>
          </a:xfrm>
          <a:prstGeom prst="roundRect">
            <a:avLst>
              <a:gd name="adj" fmla="val 13000"/>
            </a:avLst>
          </a:prstGeom>
          <a:solidFill>
            <a:srgbClr val="FFFFFF"/>
          </a:solidFill>
          <a:ln w="11425" cap="flat" cmpd="sng">
            <a:solidFill>
              <a:srgbClr val="E0E1D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3" name="Google Shape;373;p10"/>
          <p:cNvSpPr txBox="1"/>
          <p:nvPr/>
        </p:nvSpPr>
        <p:spPr>
          <a:xfrm>
            <a:off x="9436607" y="3557016"/>
            <a:ext cx="2286000" cy="5577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263B33"/>
                </a:solidFill>
                <a:latin typeface="Arial"/>
                <a:ea typeface="Arial"/>
                <a:cs typeface="Arial"/>
                <a:sym typeface="Arial"/>
              </a:rPr>
              <a:t>Preparar la entrega</a:t>
            </a:r>
            <a:endParaRPr/>
          </a:p>
        </p:txBody>
      </p:sp>
      <p:sp>
        <p:nvSpPr>
          <p:cNvPr id="374" name="Google Shape;374;p10"/>
          <p:cNvSpPr txBox="1"/>
          <p:nvPr/>
        </p:nvSpPr>
        <p:spPr>
          <a:xfrm>
            <a:off x="9436607" y="4288536"/>
            <a:ext cx="2267712"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dirty="0" err="1">
                <a:solidFill>
                  <a:srgbClr val="5A655F"/>
                </a:solidFill>
                <a:latin typeface="Arial"/>
                <a:ea typeface="Arial"/>
                <a:cs typeface="Arial"/>
                <a:sym typeface="Arial"/>
              </a:rPr>
              <a:t>Vincular</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requisitos</a:t>
            </a:r>
            <a:r>
              <a:rPr lang="en-US" sz="1200" b="0" i="0" u="none" strike="noStrike" cap="none" dirty="0">
                <a:solidFill>
                  <a:srgbClr val="5A655F"/>
                </a:solidFill>
                <a:latin typeface="Arial"/>
                <a:ea typeface="Arial"/>
                <a:cs typeface="Arial"/>
                <a:sym typeface="Arial"/>
              </a:rPr>
              <a:t> y </a:t>
            </a:r>
            <a:r>
              <a:rPr lang="en-US" sz="1200" b="0" i="0" u="none" strike="noStrike" cap="none" dirty="0" err="1">
                <a:solidFill>
                  <a:srgbClr val="5A655F"/>
                </a:solidFill>
                <a:latin typeface="Arial"/>
                <a:ea typeface="Arial"/>
                <a:cs typeface="Arial"/>
                <a:sym typeface="Arial"/>
              </a:rPr>
              <a:t>pruebas</a:t>
            </a:r>
            <a:r>
              <a:rPr lang="en-US" sz="1200" dirty="0">
                <a:solidFill>
                  <a:srgbClr val="5A655F"/>
                </a:solidFill>
              </a:rPr>
              <a:t>:</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completar</a:t>
            </a:r>
            <a:r>
              <a:rPr lang="en-US" sz="1200" b="0" i="0" u="none" strike="noStrike" cap="none" dirty="0">
                <a:solidFill>
                  <a:srgbClr val="5A655F"/>
                </a:solidFill>
                <a:latin typeface="Arial"/>
                <a:ea typeface="Arial"/>
                <a:cs typeface="Arial"/>
                <a:sym typeface="Arial"/>
              </a:rPr>
              <a:t> </a:t>
            </a:r>
            <a:r>
              <a:rPr lang="en-US" sz="1200" b="0" i="0" u="none" strike="noStrike" cap="none" dirty="0" err="1">
                <a:solidFill>
                  <a:srgbClr val="5A655F"/>
                </a:solidFill>
                <a:latin typeface="Arial"/>
                <a:ea typeface="Arial"/>
                <a:cs typeface="Arial"/>
                <a:sym typeface="Arial"/>
              </a:rPr>
              <a:t>evidencias</a:t>
            </a:r>
            <a:r>
              <a:rPr lang="en-US" sz="1200" b="0" i="0" u="none" strike="noStrike" cap="none" dirty="0">
                <a:solidFill>
                  <a:srgbClr val="5A655F"/>
                </a:solidFill>
                <a:latin typeface="Arial"/>
                <a:ea typeface="Arial"/>
                <a:cs typeface="Arial"/>
                <a:sym typeface="Arial"/>
              </a:rPr>
              <a:t> y </a:t>
            </a:r>
            <a:r>
              <a:rPr lang="en-US" sz="1200" b="0" i="0" u="none" strike="noStrike" cap="none" dirty="0" err="1">
                <a:solidFill>
                  <a:srgbClr val="5A655F"/>
                </a:solidFill>
                <a:latin typeface="Arial"/>
                <a:ea typeface="Arial"/>
                <a:cs typeface="Arial"/>
                <a:sym typeface="Arial"/>
              </a:rPr>
              <a:t>manuales</a:t>
            </a:r>
            <a:endParaRPr dirty="0"/>
          </a:p>
        </p:txBody>
      </p:sp>
      <p:sp>
        <p:nvSpPr>
          <p:cNvPr id="375" name="Google Shape;375;p10"/>
          <p:cNvSpPr/>
          <p:nvPr/>
        </p:nvSpPr>
        <p:spPr>
          <a:xfrm>
            <a:off x="621792" y="6245352"/>
            <a:ext cx="10936224" cy="13716"/>
          </a:xfrm>
          <a:prstGeom prst="rect">
            <a:avLst/>
          </a:prstGeom>
          <a:solidFill>
            <a:srgbClr val="E0E1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93B35"/>
        </a:solidFill>
        <a:effectLst/>
      </p:bgPr>
    </p:bg>
    <p:spTree>
      <p:nvGrpSpPr>
        <p:cNvPr id="1" name="Shape 380"/>
        <p:cNvGrpSpPr/>
        <p:nvPr/>
      </p:nvGrpSpPr>
      <p:grpSpPr>
        <a:xfrm>
          <a:off x="0" y="0"/>
          <a:ext cx="0" cy="0"/>
          <a:chOff x="0" y="0"/>
          <a:chExt cx="0" cy="0"/>
        </a:xfrm>
      </p:grpSpPr>
      <p:sp>
        <p:nvSpPr>
          <p:cNvPr id="381" name="Google Shape;381;p11"/>
          <p:cNvSpPr/>
          <p:nvPr/>
        </p:nvSpPr>
        <p:spPr>
          <a:xfrm>
            <a:off x="381000" y="381000"/>
            <a:ext cx="11430000" cy="6096000"/>
          </a:xfrm>
          <a:prstGeom prst="rect">
            <a:avLst/>
          </a:prstGeom>
          <a:noFill/>
          <a:ln w="11425" cap="flat" cmpd="sng">
            <a:solidFill>
              <a:srgbClr val="BBA58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382" name="Google Shape;382;p11"/>
          <p:cNvSpPr/>
          <p:nvPr/>
        </p:nvSpPr>
        <p:spPr>
          <a:xfrm>
            <a:off x="723900" y="809625"/>
            <a:ext cx="5238750" cy="4762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1B58A"/>
              </a:buClr>
              <a:buSzPts val="2100"/>
              <a:buFont typeface="Arial"/>
              <a:buNone/>
            </a:pPr>
            <a:r>
              <a:rPr lang="en-US" sz="2100" b="1" i="0" u="none" strike="noStrike" cap="none">
                <a:solidFill>
                  <a:srgbClr val="D1B58A"/>
                </a:solidFill>
                <a:latin typeface="Arial"/>
                <a:ea typeface="Arial"/>
                <a:cs typeface="Arial"/>
                <a:sym typeface="Arial"/>
              </a:rPr>
              <a:t>RollerApp</a:t>
            </a:r>
            <a:endParaRPr sz="1400" b="0" i="0" u="none" strike="noStrike" cap="none">
              <a:solidFill>
                <a:srgbClr val="000000"/>
              </a:solidFill>
              <a:latin typeface="Arial"/>
              <a:ea typeface="Arial"/>
              <a:cs typeface="Arial"/>
              <a:sym typeface="Arial"/>
            </a:endParaRPr>
          </a:p>
        </p:txBody>
      </p:sp>
      <p:sp>
        <p:nvSpPr>
          <p:cNvPr id="383" name="Google Shape;383;p11"/>
          <p:cNvSpPr/>
          <p:nvPr/>
        </p:nvSpPr>
        <p:spPr>
          <a:xfrm>
            <a:off x="723900" y="1343025"/>
            <a:ext cx="552450" cy="28575"/>
          </a:xfrm>
          <a:prstGeom prst="rect">
            <a:avLst/>
          </a:prstGeom>
          <a:solidFill>
            <a:srgbClr val="BBA58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384" name="Google Shape;384;p11"/>
          <p:cNvSpPr/>
          <p:nvPr/>
        </p:nvSpPr>
        <p:spPr>
          <a:xfrm>
            <a:off x="723900" y="1743075"/>
            <a:ext cx="5334000" cy="18097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7F6F2"/>
              </a:buClr>
              <a:buSzPts val="5850"/>
              <a:buFont typeface="Arial"/>
              <a:buNone/>
            </a:pPr>
            <a:r>
              <a:rPr lang="en-US" sz="4200" b="1" i="0" u="none" strike="noStrike" cap="none">
                <a:solidFill>
                  <a:srgbClr val="F7F6F2"/>
                </a:solidFill>
                <a:latin typeface="Arial"/>
                <a:ea typeface="Arial"/>
                <a:cs typeface="Arial"/>
                <a:sym typeface="Arial"/>
              </a:rPr>
              <a:t>Conclusiones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7F6F2"/>
              </a:buClr>
              <a:buSzPts val="5850"/>
              <a:buFont typeface="Arial"/>
              <a:buNone/>
            </a:pPr>
            <a:r>
              <a:rPr lang="en-US" sz="4200" b="1" i="0" u="none" strike="noStrike" cap="none">
                <a:solidFill>
                  <a:srgbClr val="F7F6F2"/>
                </a:solidFill>
                <a:latin typeface="Arial"/>
                <a:ea typeface="Arial"/>
                <a:cs typeface="Arial"/>
                <a:sym typeface="Arial"/>
              </a:rPr>
              <a:t>de Fase 2</a:t>
            </a:r>
            <a:endParaRPr sz="1400" b="0" i="0" u="none" strike="noStrike" cap="none">
              <a:solidFill>
                <a:srgbClr val="000000"/>
              </a:solidFill>
              <a:latin typeface="Arial"/>
              <a:ea typeface="Arial"/>
              <a:cs typeface="Arial"/>
              <a:sym typeface="Arial"/>
            </a:endParaRPr>
          </a:p>
        </p:txBody>
      </p:sp>
      <p:sp>
        <p:nvSpPr>
          <p:cNvPr id="386" name="Google Shape;386;p11"/>
          <p:cNvSpPr/>
          <p:nvPr/>
        </p:nvSpPr>
        <p:spPr>
          <a:xfrm>
            <a:off x="6819900" y="1257300"/>
            <a:ext cx="4629150" cy="4381500"/>
          </a:xfrm>
          <a:prstGeom prst="roundRect">
            <a:avLst>
              <a:gd name="adj" fmla="val 3913"/>
            </a:avLst>
          </a:prstGeom>
          <a:solidFill>
            <a:srgbClr val="F7F6F2"/>
          </a:solidFill>
          <a:ln w="11425" cap="flat" cmpd="sng">
            <a:solidFill>
              <a:srgbClr val="C4AF8C"/>
            </a:solidFill>
            <a:prstDash val="solid"/>
            <a:round/>
            <a:headEnd type="none" w="sm" len="sm"/>
            <a:tailEnd type="none" w="sm" len="sm"/>
          </a:ln>
          <a:effectLst>
            <a:outerShdw blurRad="266700" dist="95250" dir="5400000">
              <a:srgbClr val="000000">
                <a:alpha val="23922"/>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387" name="Google Shape;387;p11"/>
          <p:cNvSpPr/>
          <p:nvPr/>
        </p:nvSpPr>
        <p:spPr>
          <a:xfrm>
            <a:off x="7067550" y="1543050"/>
            <a:ext cx="413385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93B35"/>
              </a:buClr>
              <a:buSzPts val="1950"/>
              <a:buFont typeface="Arial"/>
              <a:buNone/>
            </a:pPr>
            <a:r>
              <a:rPr lang="en-US" sz="1950" b="1" i="0" u="none" strike="noStrike" cap="none">
                <a:solidFill>
                  <a:srgbClr val="293B35"/>
                </a:solidFill>
                <a:latin typeface="Arial"/>
                <a:ea typeface="Arial"/>
                <a:cs typeface="Arial"/>
                <a:sym typeface="Arial"/>
              </a:rPr>
              <a:t>Demostración de RollerApp</a:t>
            </a:r>
            <a:endParaRPr sz="1950" b="1" i="0" u="none" strike="noStrike" cap="none">
              <a:solidFill>
                <a:srgbClr val="293B35"/>
              </a:solidFill>
              <a:latin typeface="Arial"/>
              <a:ea typeface="Arial"/>
              <a:cs typeface="Arial"/>
              <a:sym typeface="Arial"/>
            </a:endParaRPr>
          </a:p>
        </p:txBody>
      </p:sp>
      <p:sp>
        <p:nvSpPr>
          <p:cNvPr id="388" name="Google Shape;388;p11"/>
          <p:cNvSpPr/>
          <p:nvPr/>
        </p:nvSpPr>
        <p:spPr>
          <a:xfrm>
            <a:off x="7283577" y="3143250"/>
            <a:ext cx="3701796" cy="2857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1B58A"/>
              </a:buClr>
              <a:buSzPts val="1425"/>
              <a:buFont typeface="Arial"/>
              <a:buNone/>
            </a:pPr>
            <a:r>
              <a:rPr lang="en-US" sz="1425" b="0" i="0" u="sng" strike="noStrike" cap="none" dirty="0">
                <a:solidFill>
                  <a:srgbClr val="D1B58A"/>
                </a:solidFill>
                <a:latin typeface="Arial"/>
                <a:ea typeface="Arial"/>
                <a:cs typeface="Arial"/>
                <a:sym typeface="Arial"/>
                <a:hlinkClick r:id="rId3">
                  <a:extLst>
                    <a:ext uri="{A12FA001-AC4F-418D-AE19-62706E023703}">
                      <ahyp:hlinkClr xmlns:ahyp="http://schemas.microsoft.com/office/drawing/2018/hyperlinkcolor" val="tx"/>
                    </a:ext>
                  </a:extLst>
                </a:hlinkClick>
              </a:rPr>
              <a:t>https://roller-app-8olh.vercel.app/catalogo</a:t>
            </a:r>
            <a:endParaRPr sz="1400" b="0" i="0" u="none" strike="noStrike" cap="none" dirty="0">
              <a:solidFill>
                <a:srgbClr val="000000"/>
              </a:solidFill>
              <a:latin typeface="Arial"/>
              <a:ea typeface="Arial"/>
              <a:cs typeface="Arial"/>
              <a:sym typeface="Arial"/>
            </a:endParaRPr>
          </a:p>
        </p:txBody>
      </p:sp>
      <p:sp>
        <p:nvSpPr>
          <p:cNvPr id="389" name="Google Shape;389;p11"/>
          <p:cNvSpPr/>
          <p:nvPr/>
        </p:nvSpPr>
        <p:spPr>
          <a:xfrm>
            <a:off x="11210925" y="6191250"/>
            <a:ext cx="381000" cy="238125"/>
          </a:xfrm>
          <a:prstGeom prst="rect">
            <a:avLst/>
          </a:prstGeom>
          <a:noFill/>
          <a:ln>
            <a:noFill/>
          </a:ln>
        </p:spPr>
        <p:txBody>
          <a:bodyPr spcFirstLastPara="1" wrap="square" lIns="0" tIns="0" rIns="0" bIns="0" anchor="t" anchorCtr="0">
            <a:noAutofit/>
          </a:bodyPr>
          <a:lstStyle/>
          <a:p>
            <a:r>
              <a:t>12</a:t>
            </a:r>
          </a:p>
        </p:txBody>
      </p:sp>
      <p:sp>
        <p:nvSpPr>
          <p:cNvPr id="390" name="TextBox 389"/>
          <p:cNvSpPr txBox="1"/>
          <p:nvPr/>
        </p:nvSpPr>
        <p:spPr>
          <a:xfrm>
            <a:off x="758952" y="3858768"/>
            <a:ext cx="5029200" cy="1256754"/>
          </a:xfrm>
          <a:prstGeom prst="rect">
            <a:avLst/>
          </a:prstGeom>
          <a:noFill/>
        </p:spPr>
        <p:txBody>
          <a:bodyPr wrap="square">
            <a:spAutoFit/>
          </a:bodyPr>
          <a:lstStyle/>
          <a:p>
            <a:pPr>
              <a:spcAft>
                <a:spcPts val="1300"/>
              </a:spcAft>
            </a:pPr>
            <a:r>
              <a:rPr sz="1800" dirty="0" err="1">
                <a:solidFill>
                  <a:srgbClr val="F5F5EE"/>
                </a:solidFill>
                <a:latin typeface="Aptos"/>
              </a:rPr>
              <a:t>Avanzamos</a:t>
            </a:r>
            <a:r>
              <a:rPr sz="1800" dirty="0">
                <a:solidFill>
                  <a:srgbClr val="F5F5EE"/>
                </a:solidFill>
                <a:latin typeface="Aptos"/>
              </a:rPr>
              <a:t> </a:t>
            </a:r>
            <a:r>
              <a:rPr sz="1800" dirty="0" err="1">
                <a:solidFill>
                  <a:srgbClr val="F5F5EE"/>
                </a:solidFill>
                <a:latin typeface="Aptos"/>
              </a:rPr>
              <a:t>en</a:t>
            </a:r>
            <a:r>
              <a:rPr sz="1800" dirty="0">
                <a:solidFill>
                  <a:srgbClr val="F5F5EE"/>
                </a:solidFill>
                <a:latin typeface="Aptos"/>
              </a:rPr>
              <a:t> las </a:t>
            </a:r>
            <a:r>
              <a:rPr sz="1800" dirty="0" err="1">
                <a:solidFill>
                  <a:srgbClr val="F5F5EE"/>
                </a:solidFill>
                <a:latin typeface="Aptos"/>
              </a:rPr>
              <a:t>funciones</a:t>
            </a:r>
            <a:r>
              <a:rPr sz="1800" dirty="0">
                <a:solidFill>
                  <a:srgbClr val="F5F5EE"/>
                </a:solidFill>
                <a:latin typeface="Aptos"/>
              </a:rPr>
              <a:t> </a:t>
            </a:r>
            <a:r>
              <a:rPr sz="1800" dirty="0" err="1">
                <a:solidFill>
                  <a:srgbClr val="F5F5EE"/>
                </a:solidFill>
                <a:latin typeface="Aptos"/>
              </a:rPr>
              <a:t>principales</a:t>
            </a:r>
            <a:endParaRPr sz="1800" dirty="0">
              <a:solidFill>
                <a:srgbClr val="F5F5EE"/>
              </a:solidFill>
              <a:latin typeface="Aptos"/>
            </a:endParaRPr>
          </a:p>
          <a:p>
            <a:pPr>
              <a:spcAft>
                <a:spcPts val="1300"/>
              </a:spcAft>
            </a:pPr>
            <a:r>
              <a:rPr sz="1800" dirty="0">
                <a:solidFill>
                  <a:srgbClr val="F5F5EE"/>
                </a:solidFill>
                <a:latin typeface="Aptos"/>
              </a:rPr>
              <a:t>Falta </a:t>
            </a:r>
            <a:r>
              <a:rPr sz="1800" dirty="0" err="1">
                <a:solidFill>
                  <a:srgbClr val="F5F5EE"/>
                </a:solidFill>
                <a:latin typeface="Aptos"/>
              </a:rPr>
              <a:t>validar</a:t>
            </a:r>
            <a:r>
              <a:rPr sz="1800" dirty="0">
                <a:solidFill>
                  <a:srgbClr val="F5F5EE"/>
                </a:solidFill>
                <a:latin typeface="Aptos"/>
              </a:rPr>
              <a:t> </a:t>
            </a:r>
            <a:r>
              <a:rPr sz="1800" dirty="0" err="1">
                <a:solidFill>
                  <a:srgbClr val="F5F5EE"/>
                </a:solidFill>
                <a:latin typeface="Aptos"/>
              </a:rPr>
              <a:t>pagos</a:t>
            </a:r>
            <a:r>
              <a:rPr sz="1800" dirty="0">
                <a:solidFill>
                  <a:srgbClr val="F5F5EE"/>
                </a:solidFill>
                <a:latin typeface="Aptos"/>
              </a:rPr>
              <a:t>, </a:t>
            </a:r>
            <a:r>
              <a:rPr sz="1800" dirty="0" err="1">
                <a:solidFill>
                  <a:srgbClr val="F5F5EE"/>
                </a:solidFill>
                <a:latin typeface="Aptos"/>
              </a:rPr>
              <a:t>reservas</a:t>
            </a:r>
            <a:r>
              <a:rPr sz="1800" dirty="0">
                <a:solidFill>
                  <a:srgbClr val="F5F5EE"/>
                </a:solidFill>
                <a:latin typeface="Aptos"/>
              </a:rPr>
              <a:t> y </a:t>
            </a:r>
            <a:r>
              <a:rPr sz="1800" dirty="0" err="1">
                <a:solidFill>
                  <a:srgbClr val="F5F5EE"/>
                </a:solidFill>
                <a:latin typeface="Aptos"/>
              </a:rPr>
              <a:t>seguridad</a:t>
            </a:r>
            <a:endParaRPr sz="1800" dirty="0">
              <a:solidFill>
                <a:srgbClr val="F5F5EE"/>
              </a:solidFill>
              <a:latin typeface="Aptos"/>
            </a:endParaRPr>
          </a:p>
          <a:p>
            <a:pPr>
              <a:spcAft>
                <a:spcPts val="1300"/>
              </a:spcAft>
            </a:pPr>
            <a:r>
              <a:rPr sz="1800" dirty="0">
                <a:solidFill>
                  <a:srgbClr val="F5F5EE"/>
                </a:solidFill>
                <a:latin typeface="Aptos"/>
              </a:rPr>
              <a:t>La </a:t>
            </a:r>
            <a:r>
              <a:rPr sz="1800" dirty="0" err="1">
                <a:solidFill>
                  <a:srgbClr val="F5F5EE"/>
                </a:solidFill>
                <a:latin typeface="Aptos"/>
              </a:rPr>
              <a:t>fase</a:t>
            </a:r>
            <a:r>
              <a:rPr sz="1800" dirty="0">
                <a:solidFill>
                  <a:srgbClr val="F5F5EE"/>
                </a:solidFill>
                <a:latin typeface="Aptos"/>
              </a:rPr>
              <a:t> 3 se </a:t>
            </a:r>
            <a:r>
              <a:rPr sz="1800" dirty="0" err="1">
                <a:solidFill>
                  <a:srgbClr val="F5F5EE"/>
                </a:solidFill>
                <a:latin typeface="Aptos"/>
              </a:rPr>
              <a:t>enfocará</a:t>
            </a:r>
            <a:r>
              <a:rPr sz="1800" dirty="0">
                <a:solidFill>
                  <a:srgbClr val="F5F5EE"/>
                </a:solidFill>
                <a:latin typeface="Aptos"/>
              </a:rPr>
              <a:t> </a:t>
            </a:r>
            <a:r>
              <a:rPr sz="1800" dirty="0" err="1">
                <a:solidFill>
                  <a:srgbClr val="F5F5EE"/>
                </a:solidFill>
                <a:latin typeface="Aptos"/>
              </a:rPr>
              <a:t>en</a:t>
            </a:r>
            <a:r>
              <a:rPr sz="1800" dirty="0">
                <a:solidFill>
                  <a:srgbClr val="F5F5EE"/>
                </a:solidFill>
                <a:latin typeface="Aptos"/>
              </a:rPr>
              <a:t> </a:t>
            </a:r>
            <a:r>
              <a:rPr sz="1800" dirty="0" err="1">
                <a:solidFill>
                  <a:srgbClr val="F5F5EE"/>
                </a:solidFill>
                <a:latin typeface="Aptos"/>
              </a:rPr>
              <a:t>pruebas</a:t>
            </a:r>
            <a:r>
              <a:rPr sz="1800" dirty="0">
                <a:solidFill>
                  <a:srgbClr val="F5F5EE"/>
                </a:solidFill>
                <a:latin typeface="Aptos"/>
              </a:rPr>
              <a:t> y </a:t>
            </a:r>
            <a:r>
              <a:rPr sz="1800" dirty="0" err="1">
                <a:solidFill>
                  <a:srgbClr val="F5F5EE"/>
                </a:solidFill>
                <a:latin typeface="Aptos"/>
              </a:rPr>
              <a:t>entrega</a:t>
            </a:r>
            <a:endParaRPr sz="1800" dirty="0">
              <a:solidFill>
                <a:srgbClr val="F5F5EE"/>
              </a:solidFill>
              <a:latin typeface="Aptos"/>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1962</Words>
  <Application>Microsoft Office PowerPoint</Application>
  <PresentationFormat>Panorámica</PresentationFormat>
  <Paragraphs>217</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6</vt:i4>
      </vt:variant>
      <vt:variant>
        <vt:lpstr>Títulos de diapositiva</vt:lpstr>
      </vt:variant>
      <vt:variant>
        <vt:i4>12</vt:i4>
      </vt:variant>
    </vt:vector>
  </HeadingPairs>
  <TitlesOfParts>
    <vt:vector size="20" baseType="lpstr">
      <vt:lpstr>Aptos</vt:lpstr>
      <vt:lpstr>Arial</vt:lpstr>
      <vt:lpstr>ChatGPT</vt:lpstr>
      <vt:lpstr>Tema de Office</vt:lpstr>
      <vt:lpstr>Tema de Office</vt:lpstr>
      <vt:lpstr>Tema de Office</vt:lpstr>
      <vt:lpstr>Tema de Office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LUCAS ALONSO OLEA CORNEJO</cp:lastModifiedBy>
  <cp:revision>4</cp:revision>
  <dcterms:modified xsi:type="dcterms:W3CDTF">2026-10-13T01:11:44Z</dcterms:modified>
</cp:coreProperties>
</file>