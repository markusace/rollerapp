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us Jakarta Sans"/>
      <p:regular r:id="rId15"/>
      <p:bold r:id="rId16"/>
      <p:italic r:id="rId17"/>
      <p:boldItalic r:id="rId18"/>
    </p:embeddedFont>
    <p:embeddedFont>
      <p:font typeface="Plus Jakarta Sans SemiBold"/>
      <p:regular r:id="rId19"/>
      <p:bold r:id="rId20"/>
      <p:italic r:id="rId21"/>
      <p:boldItalic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pbDakw/MOHJDm7rUg2eXkHicq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SemiBold-bold.fntdata"/><Relationship Id="rId22" Type="http://schemas.openxmlformats.org/officeDocument/2006/relationships/font" Target="fonts/PlusJakartaSansSemiBold-boldItalic.fntdata"/><Relationship Id="rId21" Type="http://schemas.openxmlformats.org/officeDocument/2006/relationships/font" Target="fonts/PlusJakartaSansSemiBold-italic.fntdata"/><Relationship Id="rId24" Type="http://schemas.openxmlformats.org/officeDocument/2006/relationships/font" Target="fonts/SpaceGrotesk-bold.fntdata"/><Relationship Id="rId23" Type="http://schemas.openxmlformats.org/officeDocument/2006/relationships/font" Target="fonts/SpaceGrotes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lusJakartaSans-regular.fntdata"/><Relationship Id="rId14" Type="http://schemas.openxmlformats.org/officeDocument/2006/relationships/slide" Target="slides/slide9.xml"/><Relationship Id="rId17" Type="http://schemas.openxmlformats.org/officeDocument/2006/relationships/font" Target="fonts/PlusJakartaSans-italic.fntdata"/><Relationship Id="rId16" Type="http://schemas.openxmlformats.org/officeDocument/2006/relationships/font" Target="fonts/PlusJakartaSans-bold.fntdata"/><Relationship Id="rId19" Type="http://schemas.openxmlformats.org/officeDocument/2006/relationships/font" Target="fonts/PlusJakartaSansSemiBold-regular.fntdata"/><Relationship Id="rId18" Type="http://schemas.openxmlformats.org/officeDocument/2006/relationships/font" Target="fonts/PlusJakarta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9c6b228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f9c6b228e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11" Type="http://schemas.openxmlformats.org/officeDocument/2006/relationships/image" Target="../media/image10.png"/><Relationship Id="rId10" Type="http://schemas.openxmlformats.org/officeDocument/2006/relationships/image" Target="../media/image8.png"/><Relationship Id="rId12" Type="http://schemas.openxmlformats.org/officeDocument/2006/relationships/image" Target="../media/image11.png"/><Relationship Id="rId9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510801" y="963267"/>
            <a:ext cx="31704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i="0" lang="en-US" sz="5400" u="none" cap="none" strike="noStrike">
                <a:solidFill>
                  <a:srgbClr val="0F172A"/>
                </a:solidFill>
              </a:rPr>
              <a:t>Roller </a:t>
            </a:r>
            <a:r>
              <a:rPr i="0" lang="en-US" sz="5400" u="none" cap="none" strike="noStrike">
                <a:solidFill>
                  <a:srgbClr val="D97706"/>
                </a:solidFill>
              </a:rPr>
              <a:t>App</a:t>
            </a:r>
            <a:endParaRPr i="0" sz="1700" u="none" cap="none" strike="noStrike">
              <a:solidFill>
                <a:srgbClr val="000000"/>
              </a:solidFill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609900" y="3070583"/>
            <a:ext cx="4972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Definición de Producto y Planificación Estratégica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4625" y="1259392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06750" y="5707908"/>
            <a:ext cx="4972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Integrantes: Lucas Olea, Rodrigo Riquelme, Marco Robles, Rodrigo Soto</a:t>
            </a:r>
            <a:endParaRPr sz="11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Seccion: 004-D</a:t>
            </a:r>
            <a:endParaRPr sz="11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Docente: Osnellys Eugenia Andrade Diaz</a:t>
            </a:r>
            <a:endParaRPr sz="11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624001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571500" y="647700"/>
            <a:ext cx="555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i="0" lang="en-US" sz="2550" u="none" cap="none" strike="noStrike">
                <a:solidFill>
                  <a:srgbClr val="0F172A"/>
                </a:solidFill>
              </a:rPr>
              <a:t>Análisis Preliminar del Caso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image.png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571500" y="1514475"/>
            <a:ext cx="5286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Oportunidades clave en el modelo actual: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71500" y="2166112"/>
            <a:ext cx="5286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Procesos manuales: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Fricción constante en la captura de datos e interacción diaria</a:t>
            </a:r>
            <a:endParaRPr b="0" i="0" sz="1275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71500" y="3183762"/>
            <a:ext cx="5286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Falta de visibilidad: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Información dispersa que dificulta decisiones inmediatas</a:t>
            </a:r>
            <a:endParaRPr b="0" i="0" sz="1275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71500" y="4201412"/>
            <a:ext cx="5286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Oportunidad: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Digitalización inteligente centrada en la agilidad del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624001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74131"/>
            <a:ext cx="3530649" cy="2386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749" y="2574131"/>
            <a:ext cx="3530649" cy="2386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999" y="2574131"/>
            <a:ext cx="3530649" cy="2386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28503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847725" y="3498056"/>
            <a:ext cx="31271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Entendimiento del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847725" y="3860006"/>
            <a:ext cx="29781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Investigación directa para identificar puntos de dolor y comportamiento del usuario objetivo.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0" name="Google Shape;11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06974" y="28503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4606974" y="3498056"/>
            <a:ext cx="31271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Propuesta de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4606974" y="3860006"/>
            <a:ext cx="2978199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Experiencia ágil, intuitiva y conectada que simplifica cada interacción diaria en Roller App.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3" name="Google Shape;11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66224" y="28503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8366224" y="3498056"/>
            <a:ext cx="312710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Enfoque del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8366224" y="3860006"/>
            <a:ext cx="2978199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Simplicidad visual, carga ultra rápida y arquitectura modular orientada al crecimiento.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6" name="Google Shape;116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2975" y="2974181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54612" y="2974181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90049" y="297418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571500" y="779525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i="0" lang="en-US" sz="2550" u="none" cap="none" strike="noStrike">
                <a:solidFill>
                  <a:srgbClr val="0F172A"/>
                </a:solidFill>
              </a:rPr>
              <a:t>Descubrimiento del Producto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20" name="Google Shape;120;p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0" y="0"/>
            <a:ext cx="1624001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450" y="2100262"/>
            <a:ext cx="53530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571500" y="2100262"/>
            <a:ext cx="56207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Alineación Estratégica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571500" y="2462212"/>
            <a:ext cx="53530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Posicionar a Roller App como una herramienta indispensable en su categoría.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571425" y="3333750"/>
            <a:ext cx="5353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Experiencia fluida: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Interfaz limpia sin pasos innecesarios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571500" y="3915700"/>
            <a:ext cx="53532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Escalabilidad: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Preparada para integrar nuevas funciones gradualmente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571425" y="4886300"/>
            <a:ext cx="53532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Valor diferenciador: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Respuestas inmediatas y control al alcance de la mano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6975" y="2109787"/>
            <a:ext cx="53340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571500" y="7795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i="0" lang="en-US" sz="2550" u="none" cap="none" strike="noStrike">
                <a:solidFill>
                  <a:srgbClr val="0F172A"/>
                </a:solidFill>
              </a:rPr>
              <a:t>Visión del Producto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34" name="Google Shape;134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1624001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3200"/>
            <a:ext cx="5353050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952500" y="3124200"/>
            <a:ext cx="45910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FBBF24"/>
                </a:solidFill>
                <a:latin typeface="Space Grotesk"/>
                <a:ea typeface="Space Grotesk"/>
                <a:cs typeface="Space Grotesk"/>
                <a:sym typeface="Space Grotesk"/>
              </a:rPr>
              <a:t>45%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952500" y="4191000"/>
            <a:ext cx="45910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Optimización del Tiempo Operativo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6267450" y="2743200"/>
            <a:ext cx="562070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Objetivos Principales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6267450" y="3105150"/>
            <a:ext cx="53530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propuesta de Roller App se mide mediante tres indicadores clave: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6267450" y="3443287"/>
            <a:ext cx="53530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Eficiencia: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Reducción significativa de pasos en flujos habituales.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6267450" y="3781425"/>
            <a:ext cx="53530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Confiabilidad: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Disponibilidad continua y rendimiento estable.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6267450" y="4119562"/>
            <a:ext cx="53530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Retención: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Alta adopción gracias a una experiencia accesible e intuitiva.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571500" y="896925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i="0" lang="en-US" sz="2550" u="none" cap="none" strike="noStrike">
                <a:solidFill>
                  <a:srgbClr val="0F172A"/>
                </a:solidFill>
              </a:rPr>
              <a:t>Definición y Métricas Clave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49" name="Google Shape;149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624001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571500" y="2366962"/>
            <a:ext cx="11049000" cy="566737"/>
          </a:xfrm>
          <a:prstGeom prst="roundRect">
            <a:avLst>
              <a:gd fmla="val 134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1104900" y="2519362"/>
            <a:ext cx="103251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Perfiles &amp; Acceso: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Experiencia personal e ingreso seguro.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71500" y="3067050"/>
            <a:ext cx="11049000" cy="566737"/>
          </a:xfrm>
          <a:prstGeom prst="roundRect">
            <a:avLst>
              <a:gd fmla="val 134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1104900" y="3219450"/>
            <a:ext cx="103251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Panel Principal: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Control centralizado con estado y actividad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71500" y="3767137"/>
            <a:ext cx="11049000" cy="566737"/>
          </a:xfrm>
          <a:prstGeom prst="roundRect">
            <a:avLst>
              <a:gd fmla="val 134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1104900" y="3919537"/>
            <a:ext cx="103251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 de Operaciones: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Automatización de solicitudes y respuestas dinámicas.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71500" y="4467225"/>
            <a:ext cx="11049000" cy="566737"/>
          </a:xfrm>
          <a:prstGeom prst="roundRect">
            <a:avLst>
              <a:gd fmla="val 1344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1104900" y="4619625"/>
            <a:ext cx="1032510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Conectividad &amp; APIs: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Integración transparente con plataformas complementarias.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71500" y="29241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71500" y="36242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71500" y="43243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71500" y="50244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7" name="Google Shape;1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43175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2432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9433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643437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 txBox="1"/>
          <p:nvPr/>
        </p:nvSpPr>
        <p:spPr>
          <a:xfrm>
            <a:off x="571500" y="91440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i="0" lang="en-US" sz="2550" u="none" cap="none" strike="noStrike">
                <a:solidFill>
                  <a:srgbClr val="0F172A"/>
                </a:solidFill>
              </a:rPr>
              <a:t>Módulos Core de Roller App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72" name="Google Shape;172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0"/>
            <a:ext cx="1624001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675" y="1988649"/>
            <a:ext cx="2541250" cy="116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05214" y="1988650"/>
            <a:ext cx="2541250" cy="116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0925" y="1988650"/>
            <a:ext cx="2541200" cy="116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 txBox="1"/>
          <p:nvPr/>
        </p:nvSpPr>
        <p:spPr>
          <a:xfrm>
            <a:off x="940167" y="2169637"/>
            <a:ext cx="228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Fase 1: </a:t>
            </a: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994650" y="2585126"/>
            <a:ext cx="2179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y Arquitectura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4731589" y="2092222"/>
            <a:ext cx="228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Fase 2: </a:t>
            </a: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Sprints 1 al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4786189" y="2565350"/>
            <a:ext cx="2179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Incremental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8527395" y="2169637"/>
            <a:ext cx="228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Fase 3: </a:t>
            </a: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Sprints finales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8581900" y="2629575"/>
            <a:ext cx="2179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QA y Despliegue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571500" y="916475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i="0" lang="en-US" sz="2550" u="none" cap="none" strike="noStrike">
                <a:solidFill>
                  <a:srgbClr val="0F172A"/>
                </a:solidFill>
              </a:rPr>
              <a:t>Planificación del Proyecto y Ro</a:t>
            </a:r>
            <a:r>
              <a:rPr lang="en-US" sz="2550">
                <a:solidFill>
                  <a:srgbClr val="0F172A"/>
                </a:solidFill>
              </a:rPr>
              <a:t>les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188" name="Google Shape;188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1624001" cy="39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779" y="3822691"/>
            <a:ext cx="2541250" cy="20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 txBox="1"/>
          <p:nvPr/>
        </p:nvSpPr>
        <p:spPr>
          <a:xfrm>
            <a:off x="444271" y="4068559"/>
            <a:ext cx="228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Lucas Olea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498804" y="4372159"/>
            <a:ext cx="21792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 Owner / Desarrollador Full Stack</a:t>
            </a:r>
            <a:endParaRPr b="1"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Criterios de aceptación y desarrollo Web/Mobile/Integración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192" name="Google Shape;1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229" y="3822691"/>
            <a:ext cx="2541250" cy="20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 txBox="1"/>
          <p:nvPr/>
        </p:nvSpPr>
        <p:spPr>
          <a:xfrm>
            <a:off x="3436721" y="4068559"/>
            <a:ext cx="228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Marco Robles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3491254" y="4372159"/>
            <a:ext cx="21792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Scrum Master</a:t>
            </a:r>
            <a:r>
              <a:rPr b="1"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 Gestión de Base de Datos</a:t>
            </a:r>
            <a:endParaRPr b="1"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Facilitación de ceremonias Scrum y diseño administración BD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195" name="Google Shape;19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2679" y="3822691"/>
            <a:ext cx="2541250" cy="20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 txBox="1"/>
          <p:nvPr/>
        </p:nvSpPr>
        <p:spPr>
          <a:xfrm>
            <a:off x="6429171" y="4068559"/>
            <a:ext cx="228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Rodrigo Riquelme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6483704" y="4372159"/>
            <a:ext cx="21792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Responsable de QA y pruebas</a:t>
            </a:r>
            <a:endParaRPr b="1"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y ejecución del plan de pruebas y validación de endpoints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198" name="Google Shape;1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4173" y="3828550"/>
            <a:ext cx="2541250" cy="20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 txBox="1"/>
          <p:nvPr/>
        </p:nvSpPr>
        <p:spPr>
          <a:xfrm>
            <a:off x="9410665" y="4074418"/>
            <a:ext cx="228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Rodrigo Soto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9465198" y="4378018"/>
            <a:ext cx="21792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y Diseño UX/UI</a:t>
            </a:r>
            <a:endParaRPr b="1"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Definición de arquitectura de software y prototipado en Figma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g3f9c6b228e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f9c6b228e4_0_0"/>
          <p:cNvSpPr txBox="1"/>
          <p:nvPr/>
        </p:nvSpPr>
        <p:spPr>
          <a:xfrm>
            <a:off x="571500" y="916475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lang="en-US" sz="2550">
                <a:solidFill>
                  <a:srgbClr val="0F172A"/>
                </a:solidFill>
              </a:rPr>
              <a:t>Carta Gantt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pic>
        <p:nvPicPr>
          <p:cNvPr id="207" name="Google Shape;207;g3f9c6b228e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624001" cy="39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g3f9c6b228e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275" y="1683969"/>
            <a:ext cx="3329000" cy="40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f9c6b228e4_0_0"/>
          <p:cNvSpPr txBox="1"/>
          <p:nvPr/>
        </p:nvSpPr>
        <p:spPr>
          <a:xfrm>
            <a:off x="691575" y="1864944"/>
            <a:ext cx="2861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Fase </a:t>
            </a: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1: Levantamiento, Arquitectura y Diseño</a:t>
            </a:r>
            <a:endParaRPr b="1" sz="1350">
              <a:solidFill>
                <a:srgbClr val="D9770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Semanas 1 - 4</a:t>
            </a:r>
            <a:endParaRPr b="1" sz="1350">
              <a:solidFill>
                <a:srgbClr val="D9770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0" name="Google Shape;210;g3f9c6b228e4_0_0"/>
          <p:cNvSpPr txBox="1"/>
          <p:nvPr/>
        </p:nvSpPr>
        <p:spPr>
          <a:xfrm>
            <a:off x="585375" y="2611869"/>
            <a:ext cx="2967900" cy="22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Levantamiento de requerimientos y definición de alcance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9563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Plus Jakarta Sans"/>
              <a:buChar char="●"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del modelo de base de datos relacional y arquitectura de la API REST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9563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Plus Jakarta Sans"/>
              <a:buChar char="●"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Prototipado interactivo UX/UI en Figma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211" name="Google Shape;211;g3f9c6b228e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4775" y="1683969"/>
            <a:ext cx="3329000" cy="40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f9c6b228e4_0_0"/>
          <p:cNvSpPr txBox="1"/>
          <p:nvPr/>
        </p:nvSpPr>
        <p:spPr>
          <a:xfrm>
            <a:off x="4642587" y="1864944"/>
            <a:ext cx="2911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Fase </a:t>
            </a: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: Desarrollo, Construcción e Integración</a:t>
            </a:r>
            <a:endParaRPr b="1" sz="1350">
              <a:solidFill>
                <a:srgbClr val="D9770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Semanas 5 - 16</a:t>
            </a:r>
            <a:endParaRPr b="1" sz="1350">
              <a:solidFill>
                <a:srgbClr val="D9770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g3f9c6b228e4_0_0"/>
          <p:cNvSpPr txBox="1"/>
          <p:nvPr/>
        </p:nvSpPr>
        <p:spPr>
          <a:xfrm>
            <a:off x="4585875" y="2611869"/>
            <a:ext cx="2967900" cy="28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Construcción del Backend y base de datos centralizada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9563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Plus Jakarta Sans"/>
              <a:buChar char="●"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del Portal Web responsivo y la Aplicación Móvil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9563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Plus Jakarta Sans"/>
              <a:buChar char="●"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Implementación del Cotizador dinámico y Agenda interactiva de visitas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9563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Plus Jakarta Sans"/>
              <a:buChar char="●"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Integración de pasarela de pago Webpay Plus y Panel Administrativo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214" name="Google Shape;214;g3f9c6b228e4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725" y="1683969"/>
            <a:ext cx="3329000" cy="40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f9c6b228e4_0_0"/>
          <p:cNvSpPr txBox="1"/>
          <p:nvPr/>
        </p:nvSpPr>
        <p:spPr>
          <a:xfrm>
            <a:off x="8634725" y="1864944"/>
            <a:ext cx="2861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Fase </a:t>
            </a: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: Pruebas, Despliegue y cierre</a:t>
            </a:r>
            <a:endParaRPr b="1" sz="1350">
              <a:solidFill>
                <a:srgbClr val="D9770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Semanas 17 - 19</a:t>
            </a:r>
            <a:endParaRPr b="1" sz="1350">
              <a:solidFill>
                <a:srgbClr val="D9770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6" name="Google Shape;216;g3f9c6b228e4_0_0"/>
          <p:cNvSpPr txBox="1"/>
          <p:nvPr/>
        </p:nvSpPr>
        <p:spPr>
          <a:xfrm>
            <a:off x="8639825" y="2611869"/>
            <a:ext cx="2967900" cy="25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9563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Plus Jakarta Sans"/>
              <a:buChar char="●"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Ejecución de pruebas funcionales, de integración y corrección de defectos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9563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Plus Jakarta Sans"/>
              <a:buChar char="●"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Despliegue de la plataforma en la nube y generación de APK móvil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9563" lvl="0" marL="45720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75"/>
              <a:buFont typeface="Plus Jakarta Sans"/>
              <a:buChar char="●"/>
            </a:pP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Elaboración de manuales operativos, documentación y </a:t>
            </a: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validación</a:t>
            </a:r>
            <a:r>
              <a:rPr lang="en-US" sz="1275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final</a:t>
            </a:r>
            <a:endParaRPr sz="1275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/>
        </p:nvSpPr>
        <p:spPr>
          <a:xfrm>
            <a:off x="295275" y="1738275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Roller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571500" y="2566950"/>
            <a:ext cx="11049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 o Comentarios?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3" name="Google Shape;2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300" y="21715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624001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